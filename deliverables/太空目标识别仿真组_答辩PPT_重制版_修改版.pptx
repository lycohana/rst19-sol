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09728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8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基于局部噪声与 PSF 证据链的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9728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8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天基星图识别与多帧目标分析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09728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B02 仿真技术赛道 · 太空目标识别仿真组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97280" y="3931920"/>
            <a:ext cx="2286000" cy="254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0972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数据来源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256032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开运一号卫星 · 15帧 4096×4096 · 16bit · 1500ms 曝光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097280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项目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256032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rst19-sol · 纯 Python 可离线复核方案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09728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赛事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5603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第十九届先进机器人及仿真技术大赛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051560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6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🚀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48640" y="1417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143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数据边界与系统架构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1430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FITS 格式 · 辅助数据 · 姿态先验 · 四层证据体系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217920" y="1417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217920" y="1435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8122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星点识别：宽筛—细筛—确认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81228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局部背景归一化 · 匹配滤波 · PSF/BIC 细筛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48640" y="22860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114300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星点识别：近邻去混叠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143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ΔBIC 检验 · 经验 PSF · 截图双源复核</a:t>
            </a: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217920" y="22860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217920" y="2304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81228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星点识别：首帧检测结果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81228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八类候选分流 · feature_class 统计</a:t>
            </a: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548640" y="315468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11430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星等识别与标定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11430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三层星等 · Gaia DR3 · 颜色模型敏感性</a:t>
            </a: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6217920" y="315468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6217920" y="3172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6812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运动目标识别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68122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平移配准 · Hungarian 关联 · 线状候选分层</a:t>
            </a: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548640" y="402336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48640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11430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创新分析：多维证据导出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114300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可探测性 · 光度 · 持久性 · 遥测</a:t>
            </a: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6217920" y="402336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6217920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681228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创新分析：注入回收实验</a:t>
            </a: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681228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四种注入口径 · 合成正负控制 · 关键发现</a:t>
            </a: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548640" y="489204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11430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创新分析：合成大图与工具集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114300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注册合成 · 证据导出 · 研究工具集</a:t>
            </a: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6217920" y="489204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6217920" y="4910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68122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关键消融实验与核心发现</a:t>
            </a: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681228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提案模式 · min_distance · 跨帧持续性</a:t>
            </a: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548640" y="57607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548640" y="5779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114300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工程实现与性能优化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1143000" y="6080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技术栈 · 性能优化 · 缓存与进度系统</a:t>
            </a: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6217920" y="57607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6217920" y="5779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681228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总结与核心贡献</a:t>
            </a: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6812280" y="6080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六项核心贡献 · 评分对标</a:t>
            </a: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数据边界与系统架构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4864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3152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4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15帧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连续时间序列，间隔~1.5s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338328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56616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4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4096×4096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35661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像素 · BITPIX=16</a:t>
            </a: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21792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40080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4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1500 ms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640080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曝光时间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05256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23544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400" b="1">
                <a:solidFill>
                  <a:srgbClr val="FF9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≈8.44″/px*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923544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几何尺度先验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4864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四层证据体系（不能相互替代）</a:t>
            </a: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548640" y="32004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8580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逐帧独立检测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85800" y="3611880"/>
            <a:ext cx="2286000" cy="25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宽筛候选数（按帧）</a:t>
            </a: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68580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哪里可能有局部响应</a:t>
            </a: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3383280" y="32004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352044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结果按帧保存</a:t>
            </a: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520440" y="3611880"/>
            <a:ext cx="2286000" cy="25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质量源数（按帧）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352044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是否满足点源质量规则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6217920" y="32004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635508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N_temporal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35508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稳定/运动候选</a:t>
            </a: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635508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时间上如何变化</a:t>
            </a: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9052560" y="32004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91897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FF9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N_catalog</a:t>
            </a: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918972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星表匹配数</a:t>
            </a: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918972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是否有外部天球身份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54864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辅助数据与姿态先验</a:t>
            </a: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548640" y="5349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每帧 26 个辅助字段（8 字节 double）：光轴 RA/Dec、四元数、J2000/WGS84 位置速度、姿态角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四元数模长偏差 &lt; 2.3×10⁻¹⁶，推导光轴与辅助 RA/Dec 残差约 1.1×10⁻¹⁰ 角秒 → 字段内部自洽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姿态先验可缩小星表搜索区域，但缺少像元尺度和畸变参数 → 不是完整 WCS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位置差分与辅助速度相对误差约万分之几，支持按 m/s 解读；单位仍待主办方确认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* 由像元尺寸和焦距计算；最终尺度以 Gaia/WCS 拟合为准</a:t>
            </a: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8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技术路线总览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核心方法论：宽筛—细筛—时序确认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365760" y="1371600"/>
            <a:ext cx="1737360" cy="16459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11480" y="1417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①</a:t>
            </a: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1783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FITS 读取  辅助数据解码  数据校验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210312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286000" y="1371600"/>
            <a:ext cx="1737360" cy="16459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2331720" y="1417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②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2377440" y="1783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局部背景/RMS  Gaussian + DoG  hybrid 宽筛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02336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206240" y="1371600"/>
            <a:ext cx="1737360" cy="16459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4251960" y="1417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③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4297680" y="1783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孔径测光  PSF/BIC 细筛  质量确认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594360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126480" y="1371600"/>
            <a:ext cx="1737360" cy="16459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172200" y="1417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FF9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④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217920" y="1783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平移配准  Hungarian 关联  时序分类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786384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8046720" y="1371600"/>
            <a:ext cx="1737360" cy="16459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8092440" y="1417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⑤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138160" y="1783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星表匹配  WCS 标定  星等计算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978408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9966960" y="1371600"/>
            <a:ext cx="1737360" cy="16459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0012680" y="1417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⑥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0058400" y="1783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创新分析  证据导出  审计报告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核心方法论</a:t>
            </a: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548640" y="38404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48640" y="38496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1005840" y="38221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多尺度候选提案</a:t>
            </a: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3657600" y="3822192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Gaussian + 双尺度 DoG 并集，覆盖不同空间尺度，候选阈值 4σ 是提案门槛而非恒星概率</a:t>
            </a: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548640" y="4407408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548640" y="44165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10058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回到原图的点源细筛</a:t>
            </a: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3657600" y="43891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三种 SNR（峰值/通量/滤波）分离测量；PSF 支持、形态、掩膜、数据范围多维门控</a:t>
            </a: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548640" y="4974336"/>
            <a:ext cx="320040" cy="320040"/>
          </a:xfrm>
          <a:prstGeom prst="roundRect">
            <a:avLst>
              <a:gd name="adj" fmla="val 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548640" y="4983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1005840" y="4956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近邻去混叠</a:t>
            </a: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3657600" y="495604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单/双 PSF 的 ΔBIC 检验，不按距离一刀切；支持 Gaussian 和经验 PSF 两种模板</a:t>
            </a: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548640" y="5541264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548640" y="55504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005840" y="5522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15帧时序确认</a:t>
            </a: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3657600" y="5522976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高质量静态源平移配准 → Hungarian 全局一对一关联 → 静态/瞬态/运动三层分离</a:t>
            </a: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548640" y="610819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548640" y="61173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1005840" y="60899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星表标定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3657600" y="6089904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Gaia DR3 公共星表接入，多参考星零点+颜色项标定，三层星等体系（m_inst / m_cal / M_G）</a:t>
            </a: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星点识别：局部背景与匹配滤波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基础赛项 · 星图识别 · 科学性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2296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候选提案：局部背景归一化 + 匹配滤波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822960" y="1874519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背景估计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对原图 I(x,y) 在局部网格内用 sigma-clipping 估计背景 B(x,y) 和噪声 RMS（均方根）R(x,y)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D(x,y) = I(x,y) - B(x,y)（背景扣除后的残差图）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匹配滤波响应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S = (Tᵀ C⁻¹ D) / √(Tᵀ C⁻¹ T)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T = Gaussian（高斯点扩散）模板，C = 噪声协方差（局部 RMS 近似）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混合宽筛并集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Gaussian 匹配滤波：寻找标准点源响应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DoG（高斯差分）：覆盖不同空间尺度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à trous / Starlet（小波多尺度分解）：实验对照模式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并集合并，4σ 只是候选提案门槛，不是恒星概率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文献依据：WAVDETECT 用多尺度小波做候选提案；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匹配滤波只有在信号形状和噪声假设成立时才有最大似然解释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217920" y="137160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49224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质量细筛：回到原图的多维门控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492240" y="1874519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三种 SNR（信噪比）分离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峰值 SNR：局部峰值显著性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通量 SNR：半径 4px 孔径测光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滤波 SNR：匹配滤波响应值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三者不混为一个“可信度”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孔径通量误差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σ_F² = N_ap·σ_b² + (N_ap²/N_bg)·σ_b² + σ_source² + σ_read²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flux_SNR = F / σ_F（通量信噪比）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250"/>
              </a:spcAft>
              <a:buNone/>
              <a:defRPr sz="10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质量层门控条件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FWHM（半高全宽）/ 椭圆率 / sharpness（尖锐度）在合理范围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3×3 核心至少 3 像素超过 max(2σ, 0.1×peak_excess)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有效孔径比例、边界、数据范围审计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▸ flux_SNR ≥ 5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弱源如果只有单个高像素、没有小型核心支持，</a:t>
            </a:r>
          </a:p>
          <a:p>
            <a:pPr>
              <a:spcAft>
                <a:spcPts val="25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保留为候选但不进入质量层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星点识别：近邻去混叠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基础赛项 · 星图识别 · 创新性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ΔBIC 双源检验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82296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ΔBIC（贝叶斯信息准则差值）= BIC（单 PSF）− BIC（双 PSF）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通过条件：ΔBIC ≥ 10 且新增分量 SNR（信噪比）≥ 5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min_distance 只抑制候选峰，不等于物理去混叠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不按距离一刀切删除，保留审计证据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支持 Gaussian（高斯）PSF 和经验 PSF 两种模板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21792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4922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PSF 加权相关与可分性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49224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(T_pᵀ C⁻¹ T_s) / √((T_pᵀ C⁻¹ T_p)(T_sᵀ C⁻¹ T_s))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|ρ| 越大 → 两源参数越退化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5.4 px 不是脱离 PSF、方向、强弱比的普适分辨率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可分性取决于 PSF 形状和局部噪声条件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Astreaks（拖线源检测方法）：拖尾源可用 PSF 与运动线段的卷积建模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实验验证：截图双源复核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主响应 ID 70269：(1269,3465)  峰值 30,884 / flux_SNR 82.82  →  质量层保留</a:t>
            </a:r>
          </a:p>
          <a:p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副响应 ID 70320：(1274,3467)  峰值 3,991 / flux_SNR 10.85  →  极端负码污染，标 NEGATIVE_OVERFLOW</a:t>
            </a:r>
          </a:p>
          <a:p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间距 5.39 px，但副响应孔径含 31,586 正码 / −31,642 负码 / 固定 −1 像素块</a:t>
            </a:r>
          </a:p>
          <a:p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原始掩膜下 ΔBIC = −2.59，次分量 SNR = 1.55  →  未达双源线</a:t>
            </a:r>
          </a:p>
          <a:p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经验 PSF 模板：ΔBIC = −3.13，次分量 SNR = 1.36  →  同样未达</a:t>
            </a:r>
          </a:p>
          <a:p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15帧逐帧复核：严格双命中仅 2/15 帧，同时质量通过 0/15 帧</a:t>
            </a:r>
          </a:p>
          <a:p>
            <a:pPr>
              <a:spcAft>
                <a:spcPts val="33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结论：异常值域污染的非高斯亮斑被拆成两个提案，不报告为第二颗确认恒星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星点识别：首帧检测结果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基础赛项 · 星图识别 · 科学性 | 检测参数：混合提案；FWHM（半高全宽）=2px；阈值4σ；候选峰最小间距4px；通量信噪比≥5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1417320"/>
            <a:ext cx="219456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6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逐帧输出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每帧宽筛候选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38328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3566160" y="1417320"/>
            <a:ext cx="219456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6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逐帧质量结果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356616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质量源（逐帧）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21792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6400800" y="1417320"/>
            <a:ext cx="219456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600" b="1">
                <a:solidFill>
                  <a:srgbClr val="FF9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逐帧审计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40080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负码/范围异常</a:t>
            </a: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9052560" y="1371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9235440" y="1417320"/>
            <a:ext cx="219456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6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不跨帧汇总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923544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质量比例按帧计算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54864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逐帧特征类别分布（互斥分类）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54864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类别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2926080" y="3154680"/>
            <a:ext cx="10972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输出口径</a:t>
            </a: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4114800" y="3154680"/>
            <a:ext cx="109728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质量层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5303520" y="3154680"/>
            <a:ext cx="73152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跨帧合计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126480" y="3154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说明</a:t>
            </a: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48640" y="338328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548640" y="3493008"/>
            <a:ext cx="11064240" cy="338328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640080" y="3529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紧凑质量候选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2926080" y="35295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4114800" y="35295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303520" y="35295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6126480" y="3529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当前点源规则通过，不是星表真值</a:t>
            </a: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548640" y="3849624"/>
            <a:ext cx="11064240" cy="3383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640080" y="3886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尖峰/PSF支持不足</a:t>
            </a: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2926080" y="3886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4114800" y="3886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5303520" y="388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612648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单像素或核心支持不足的响应</a:t>
            </a: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548640" y="4206240"/>
            <a:ext cx="11064240" cy="338328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640080" y="42428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弱通量/背景不确定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2926080" y="4242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4114800" y="4242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5303520" y="42428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6126480" y="4242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孔径通量 SNR 不足</a:t>
            </a:r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548640" y="4562856"/>
            <a:ext cx="11064240" cy="3383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640080" y="45994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边缘/掩膜</a:t>
            </a: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2926080" y="4599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4114800" y="4599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5303520" y="45994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6126480" y="4599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PARTIAL_MASKED 可按容错通过</a:t>
            </a:r>
          </a:p>
        </p:txBody>
      </p:sp>
      <p:sp>
        <p:nvSpPr>
          <p:cNvPr id="51" name="Rectangle 50"/>
          <p:cNvSpPr>
            <a:spLocks noGrp="1"/>
          </p:cNvSpPr>
          <p:nvPr/>
        </p:nvSpPr>
        <p:spPr>
          <a:xfrm>
            <a:off x="548640" y="4919472"/>
            <a:ext cx="11064240" cy="338328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640080" y="4956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拥挤/未分辨近邻</a:t>
            </a: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2926080" y="4956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4114800" y="4956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5303520" y="49560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6126480" y="4956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双源证据不足，不按距离判假</a:t>
            </a:r>
          </a:p>
        </p:txBody>
      </p:sp>
      <p:sp>
        <p:nvSpPr>
          <p:cNvPr id="57" name="Rectangle 56"/>
          <p:cNvSpPr>
            <a:spLocks noGrp="1"/>
          </p:cNvSpPr>
          <p:nvPr/>
        </p:nvSpPr>
        <p:spPr>
          <a:xfrm>
            <a:off x="548640" y="5276088"/>
            <a:ext cx="11064240" cy="3383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640080" y="5312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线状/拖影</a:t>
            </a: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2926080" y="5312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4114800" y="5312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线状层</a:t>
            </a: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5303520" y="53126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6126480" y="5312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独立线状候选层</a:t>
            </a:r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548640" y="5632704"/>
            <a:ext cx="11064240" cy="338328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40080" y="5669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数据有效性/范围异常</a:t>
            </a: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2926080" y="5669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4114800" y="5669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审计层</a:t>
            </a: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5303520" y="5669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612648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含重复码/极端负码审计</a:t>
            </a:r>
          </a:p>
        </p:txBody>
      </p:sp>
      <p:sp>
        <p:nvSpPr>
          <p:cNvPr id="69" name="Rectangle 68"/>
          <p:cNvSpPr>
            <a:spLocks noGrp="1"/>
          </p:cNvSpPr>
          <p:nvPr/>
        </p:nvSpPr>
        <p:spPr>
          <a:xfrm>
            <a:off x="548640" y="5989320"/>
            <a:ext cx="11064240" cy="3383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640080" y="60258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形状异常</a:t>
            </a:r>
          </a:p>
        </p:txBody>
      </p:sp>
      <p:sp>
        <p:nvSpPr>
          <p:cNvPr id="71" name="TextBox 70"/>
          <p:cNvSpPr>
            <a:spLocks noGrp="1"/>
          </p:cNvSpPr>
          <p:nvPr/>
        </p:nvSpPr>
        <p:spPr>
          <a:xfrm>
            <a:off x="2926080" y="6025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</a:t>
            </a: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4114800" y="6025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审计层</a:t>
            </a:r>
          </a:p>
        </p:txBody>
      </p:sp>
      <p:sp>
        <p:nvSpPr>
          <p:cNvPr id="73" name="TextBox 72"/>
          <p:cNvSpPr>
            <a:spLocks noGrp="1"/>
          </p:cNvSpPr>
          <p:nvPr/>
        </p:nvSpPr>
        <p:spPr>
          <a:xfrm>
            <a:off x="5303520" y="6025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6126480" y="6025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FWHM/椭圆率偏离当前规则</a:t>
            </a: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星等识别与标定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基础赛项 · 星图识别 · 科学性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三层星等体系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第一层：m_inst（仪器星等）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由图像通量计算，只能比较同一图像内的亮暗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未消除相机响应、增益和波段差异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第二层：m_cal（标定视星等）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用 Gaia 参考星拟合零点和颜色项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只有匹配、测光和波段条件通过才输出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第三层：M（绝对星等）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还需要距离、消光和同波段转换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  不能由 m_inst 直接得到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Gaia G：Gaia G 波段的视星等，不是绝对星等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M_G：Gaia 模型或星表中的 G 波段绝对星等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当前相机波段转换仍需外部标定证据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34340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262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Gaia DR3 星表路线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52628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显式 TAP 公共星表接入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rst19-gaia-frame 生成参考子表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GUI 在线获取 Gaia DR3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参考星分层查询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亮星定标层：G ≈ 5–13.5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深星覆盖层：覆盖检测极限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rst19-gaia-merge 按 source_id 去重合并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WCS 标定路径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姿态先验 → 切平面 WCS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先验引导一对一匹配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匹配后局部仿射 WCS 校准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输出像元角尺度/旋转/parity/RMS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13816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颜色模型敏感性审计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32104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三种颜色模型对比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零阶：m_cal = m_inst + Z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一次：+ c₁·(BP−RP)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二次：+ c₁·(BP−RP) + c₂·(BP−RP)²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敏感性审计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model_spread_mag 量化模型间差异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最暗源排序一致率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未知相机响应下的创新分析方法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质量审计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rst19-photometric-report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避免仪器星等冒充绝对星等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消光波段/系统/来源完整保留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运动目标识别：总体方法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基础赛项 · 星图分析 · 科学性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365760" y="137160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57200" y="1463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457200" y="1463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Step 1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9728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平移配准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502920" y="19202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用高质量静态源估计</a:t>
            </a:r>
            <a:br/>
            <a:r>
              <a:t>相邻帧全局平移</a:t>
            </a:r>
            <a:br/>
            <a:r>
              <a:t>Δt = median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51460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697480" y="137160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2788920" y="1463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2788920" y="1463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Step 2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342900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轨迹关联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834640" y="19202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扣除累计平移后</a:t>
            </a:r>
            <a:br/>
            <a:r>
              <a:t>Hungarian 全局一对一</a:t>
            </a:r>
            <a:br/>
            <a:r>
              <a:t>禁止跨漏帧重连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84632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5029200" y="137160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5120640" y="1463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120640" y="1463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Step 3</a:t>
            </a: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576072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三层分类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5166360" y="19202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静态星场</a:t>
            </a:r>
            <a:br/>
            <a:r>
              <a:t>瞬态候选</a:t>
            </a:r>
            <a:br/>
            <a:r>
              <a:t>严格 moving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717804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360920" y="137160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7452360" y="1463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7452360" y="1463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Step 4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09244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高速点源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7498080" y="19202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宽筛候选峰 →</a:t>
            </a:r>
            <a:br/>
            <a:r>
              <a:t>三帧常速度种子 →</a:t>
            </a:r>
            <a:br/>
            <a:r>
              <a:t>15帧关联 → ADU细筛</a:t>
            </a: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950976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9692640" y="137160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9784080" y="1463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9784080" y="1463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Step 5</a:t>
            </a: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0424160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线状检测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9829800" y="19202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原图高残差连通域</a:t>
            </a:r>
            <a:br/>
            <a:r>
              <a:t>PCA 几何筛选</a:t>
            </a:r>
            <a:br/>
            <a:r>
              <a:t>跨帧直线拟合</a:t>
            </a: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5486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关键设计决策</a:t>
            </a: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548640" y="44348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点轨迹：拟合位移 + 禁止跨漏帧重连 → 避免虚假长轨迹</a:t>
            </a:r>
          </a:p>
          <a:p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线状候选：独立于点源层，单帧叫候选，跨帧才进入运动候选层</a:t>
            </a:r>
          </a:p>
          <a:p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运动叠加层：洋红色 moving 线状 + 橙色 candidate 线状 + 严格 moving 点轨迹，分层显示</a:t>
            </a:r>
          </a:p>
          <a:p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图像平面预测：最后两点匀速外推 +5 帧，标为 forecast，不宣称轨道预测</a:t>
            </a:r>
          </a:p>
          <a:p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速度不确定度：三点及以上 OLS 拟合，Student-t 95% 区间，delta method 传播误差</a:t>
            </a:r>
          </a:p>
          <a:p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注册中值差分基线：分块时间中值参考，减少帧间整体位移影响</a:t>
            </a:r>
          </a:p>
          <a:p>
            <a:pPr>
              <a:spcAft>
                <a:spcPts val="385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配准工作集：每帧前 6000 个 filter_snr 候选，全量 candidate_count 审计保留</a:t>
            </a: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运动目标：线状候选分层检测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基础赛项 · 星图分析 · 创新性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单帧长线检测 (rst19-trails)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残差图 → 有效像素掩膜 → 阈值连通域 → PCA 几何筛选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输出：长度、宽度、方向、残差信噪比、触边状态和包围盒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线状候选单独保留，不进入恒星质量源统计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单帧只能说明“具有线状或异常形态”，运动确认放到 15 帧关联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343400" y="137160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262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跨帧线状关联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52628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从原图高残差连通域建立独立线状候选池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面积/PCA 形状 + 连续跨帧关联，排除普通静态点与孤立噪声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注册坐标中拟合直线，RMS 合格标记 moving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轨迹图：洋红色实测线 + 青绿色虚线预测（末帧 +5 帧外推）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138160" y="1371600"/>
            <a:ext cx="3566160" cy="4572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逐帧线状筛选诊断漏斗 + 运动证据分层输出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32104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先做单帧线状候选，再做多帧确认：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线状候选表：记录长度、方向、宽度和质量标记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逐帧点记录：记录每一帧的坐标和亮度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运动轨迹表：给出持续帧数、位移、图像平面方向和速度</a:t>
            </a:r>
          </a:p>
          <a:p>
            <a:pPr>
              <a:spcAft>
                <a:spcPts val="4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这些是图像平面证据，不直接等同于真实轨道或天体身份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创新分析：多维证据导出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创新赛项 · 创新性 15分 · 实用性 10分 · 科学性 5分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条件化可探测性剖面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真实背景分层注入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731520" y="2148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低纹理/高局部噪声/边缘/拥挤/特殊值域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经验 PSF 覆盖 + 2×2 空间分区留出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已知注入分母的召回率 + Wilson 区间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候选回收与质量回收分开报告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明确标注为条件性结果，不宣称完备率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217920" y="13716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15帧相对光度标尺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400800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跨帧一致性审计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6400800" y="2148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逐源误差与状态报告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星等可观测性/false-valid 质量报告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rst19-photometric-report 工具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避免仪器星等冒充绝对星等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零阶/一次/二次颜色模型敏感性对比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48640" y="402336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特征持久性审计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73152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15帧时间序列分析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731520" y="48006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首帧锚点 12/15 帧出现率统计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类别条件跨帧转移矩阵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提议器来源交叉（Gaussian/DoG/Starlet）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紧凑质量子组 vs 非紧凑特征对照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区分'重复的检测器结构'和'质量层通过的点源'</a:t>
            </a: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217920" y="402336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FF9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辅助遥测分析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400800" y="4480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卫星姿态与轨道</a:t>
            </a: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6400800" y="48006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四元数光轴 RA/Dec 推导（亚纳角秒级一致）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J2000/WGS84 位置速度自洽审计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末帧常速度位置外推（+5 中位帧间隔）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m/s? 单位边界标注与待确认状态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图像 px/s 与载体 m/s? 分栏显示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创新分析：分层注入回收实验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创新赛项 · 科学性 + 实用性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四种注入口径（递进覆盖）</a:t>
            </a: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548640" y="17373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8580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① 简化 Gaussian 均匀背景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858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9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理想条件基线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383280" y="17373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352044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② 真实 FITS 相对空白背景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52044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9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实测噪声条件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217920" y="17373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35508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③ 真实 FITS 分层背景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35508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9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低纹理/高噪声/边缘/拥挤/特殊值域</a:t>
            </a: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9052560" y="17373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91897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FF9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④ 2×2 空间分区留出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91897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9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候选回收与质量回收分开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54864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合成正负控制结果（正样本 = 已知源回收，阴性 = 特征邻域泄漏）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4864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场景</a:t>
            </a: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3383280" y="3291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候选层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4572000" y="3291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质量层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5760720" y="32918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说明</a:t>
            </a: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48640" y="352044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64008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孤立 FWHM=2 源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3383280" y="3657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1/1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4572000" y="3657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1/1</a:t>
            </a: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760720" y="3657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标准紧凑源可回收</a:t>
            </a: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548640" y="3995928"/>
            <a:ext cx="11064240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640080" y="4041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弱源（峰值 28 ADU）</a:t>
            </a: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3383280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1/1</a:t>
            </a: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4572000" y="40416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0/1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5760720" y="40416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召回与质量门槛发生分离</a:t>
            </a: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548640" y="4379976"/>
            <a:ext cx="11064240" cy="3657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640080" y="4425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双源 3px / 6px</a:t>
            </a: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3383280" y="44256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1/2, 2/2</a:t>
            </a: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4572000" y="44256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1/2, 2/2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5760720" y="44256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3px 合并，6px 可分</a:t>
            </a: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548640" y="4764024"/>
            <a:ext cx="11064240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640080" y="4809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单像素尖峰阴性</a:t>
            </a: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3383280" y="48097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 泄漏</a:t>
            </a: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4572000" y="48097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 泄漏</a:t>
            </a: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5760720" y="48097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进入宽筛但被 PSF 支持拒绝</a:t>
            </a:r>
          </a:p>
        </p:txBody>
      </p:sp>
      <p:sp>
        <p:nvSpPr>
          <p:cNvPr id="47" name="Rectangle 46"/>
          <p:cNvSpPr>
            <a:spLocks noGrp="1"/>
          </p:cNvSpPr>
          <p:nvPr/>
        </p:nvSpPr>
        <p:spPr>
          <a:xfrm>
            <a:off x="548640" y="5148072"/>
            <a:ext cx="11064240" cy="365760"/>
          </a:xfrm>
          <a:prstGeom prst="rect">
            <a:avLst/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640080" y="5193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掩膜/边缘/饱和源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3383280" y="5193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 1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4572000" y="5193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 0</a:t>
            </a: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5760720" y="51937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保留审计候选，不进质量层</a:t>
            </a: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64008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长线阴性</a:t>
            </a: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3383280" y="5577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 泄漏</a:t>
            </a: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4572000" y="5577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 泄漏</a:t>
            </a: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5760720" y="5577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线状结构必须独立审计</a:t>
            </a: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💡 关键发现：边缘、拥挤和特殊值域以不同方式损失质量层回收，不能用一个全图阈值概括</a:t>
            </a: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等强双源控制：3px 间距 56/128 ADU 召回 0.5/0.5；5px、6px 在 128 ADU 下均为 1.0/1.0，三种提案模式结果一致</a:t>
            </a: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创新分析：合成大图与研究工具集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创新赛项 · 创新性 + 科学性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15帧注册合成大图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82296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先用稳定星场估计帧间平移，再做统一坐标下的稳健 ADU 融合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输出覆盖范围和离散度，保留真实观测值，不用生成式内容填充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15 张图可分别查看，也可导出 PNG / NPY / JSON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当前是平移注册，用于研究和复核，不宣称完整 WCS 镶嵌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21792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4922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完整证据导出体系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492240" y="1920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15帧关系/轨迹证据导出器 + 线状与点源运动分层证据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逐帧时间关系 CSV + 像素配准稳定性报告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辅助姿态摘要 + 稳健背景统计 + 运动轨迹证据图</a:t>
            </a:r>
          </a:p>
          <a:p>
            <a:pPr>
              <a:spcAft>
                <a:spcPts val="44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遥测轨迹可视化（J2000/WGS84 位置相对首帧投影）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研究工具集（可复核审计命令）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rst19-feature-sequence            真实15帧特征持久性审计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rst19-pair-audit                        固定坐标近邻双源审计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rst19-forced-stability                分层强制测光稳定性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rst19-feature-parameter-sensitivity   参数敏感性审计（阈值/SNR扫描）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rst19-feature-hard-negative       高 SNR 落选候选系统化审计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rst19-feature-gate-route            质量门路径逐行审计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rst19-feature-flag-interaction       旗标条件交互审计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rst19-feature-class-context        类别内经验分位审计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rst19-feature-gate-margin          质量门越界余量审计</a:t>
            </a:r>
          </a:p>
          <a:p>
            <a:pPr>
              <a:spcAft>
                <a:spcPts val="2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rst19-temporal-codes                 关注坐标逐帧原始值表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8B7D5"/>
          </a:solidFill>
          <a:ln w="0">
            <a:noFill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552450" y="361950"/>
            <a:ext cx="504825" cy="504825"/>
          </a:xfrm>
          <a:prstGeom prst="roundRect">
            <a:avLst>
              <a:gd name="adj" fmla="val 15094"/>
            </a:avLst>
          </a:prstGeom>
          <a:solidFill>
            <a:srgbClr val="08B7D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81000"/>
            <a:ext cx="504825" cy="5048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0710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710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1950" b="1">
              <a:solidFill>
                <a:srgbClr val="0710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342900"/>
            <a:ext cx="88582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F2F5F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F2F5F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真实结果：运动目标与合成大图</a:t>
            </a:r>
            <a:endParaRPr sz="2550" b="1">
              <a:solidFill>
                <a:srgbClr val="F2F5F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800100"/>
            <a:ext cx="9334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>
                <a:solidFill>
                  <a:srgbClr val="9CA8B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9CA8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不再只讲流程，直接展示 15 帧数据产生的图像证据</a:t>
            </a:r>
            <a:endParaRPr sz="1350">
              <a:solidFill>
                <a:srgbClr val="9CA8B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143000"/>
            <a:ext cx="11068050" cy="14288"/>
          </a:xfrm>
          <a:prstGeom prst="rect">
            <a:avLst/>
          </a:prstGeom>
          <a:solidFill>
            <a:srgbClr val="26374D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552450" y="1381125"/>
            <a:ext cx="6381750" cy="4857750"/>
          </a:xfrm>
          <a:prstGeom prst="roundRect">
            <a:avLst>
              <a:gd name="adj" fmla="val 1569"/>
            </a:avLst>
          </a:prstGeom>
          <a:solidFill>
            <a:srgbClr val="151E2F"/>
          </a:solidFill>
          <a:ln w="14288">
            <a:solidFill>
              <a:srgbClr val="08B7D5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524000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08C7E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8C7E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 帧配准大图（差分增强）</a:t>
            </a:r>
            <a:endParaRPr sz="1650" b="1">
              <a:solidFill>
                <a:srgbClr val="08C7E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025" y="1924050"/>
            <a:ext cx="4038600" cy="4038600"/>
          </a:xfrm>
          <a:prstGeom prst="rect">
            <a:avLst/>
          </a:prstGeom>
        </p:spPr>
      </p:pic>
      <p:sp>
        <p:nvSpPr>
          <p:cNvPr id="11" name="圆角矩形 10"/>
          <p:cNvSpPr>
            <a:spLocks noGrp="1"/>
          </p:cNvSpPr>
          <p:nvPr/>
        </p:nvSpPr>
        <p:spPr>
          <a:xfrm>
            <a:off x="7219950" y="1381125"/>
            <a:ext cx="4400550" cy="2667000"/>
          </a:xfrm>
          <a:prstGeom prst="roundRect">
            <a:avLst>
              <a:gd name="adj" fmla="val 2857"/>
            </a:avLst>
          </a:prstGeom>
          <a:solidFill>
            <a:srgbClr val="151E2F"/>
          </a:solidFill>
          <a:ln w="14288">
            <a:solidFill>
              <a:srgbClr val="8B5CF6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1524000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B69C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B69C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逐帧轨迹证据</a:t>
            </a:r>
            <a:endParaRPr sz="1650" b="1">
              <a:solidFill>
                <a:srgbClr val="B69C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725" y="1924050"/>
            <a:ext cx="2413000" cy="1809750"/>
          </a:xfrm>
          <a:prstGeom prst="rect">
            <a:avLst/>
          </a:prstGeom>
        </p:spPr>
      </p:pic>
      <p:sp>
        <p:nvSpPr>
          <p:cNvPr id="14" name="圆角矩形 13"/>
          <p:cNvSpPr>
            <a:spLocks noGrp="1"/>
          </p:cNvSpPr>
          <p:nvPr/>
        </p:nvSpPr>
        <p:spPr>
          <a:xfrm>
            <a:off x="7219950" y="4238625"/>
            <a:ext cx="4400550" cy="2000250"/>
          </a:xfrm>
          <a:prstGeom prst="roundRect">
            <a:avLst>
              <a:gd name="adj" fmla="val 3810"/>
            </a:avLst>
          </a:prstGeom>
          <a:solidFill>
            <a:srgbClr val="151E2F"/>
          </a:solidFill>
          <a:ln w="14288">
            <a:solidFill>
              <a:srgbClr val="00D89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43815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00D89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0D89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这页怎么读</a:t>
            </a:r>
            <a:endParaRPr sz="1575" b="1">
              <a:solidFill>
                <a:srgbClr val="00D89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4810125"/>
            <a:ext cx="394335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左图：15 帧先配准，再用差分增强显示异常线状结构</a:t>
            </a:r>
            <a:endParaRPr sz="1125">
              <a:solidFill>
                <a:srgbClr val="E7EDF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右上：同一目标在不同帧中的位置变化</a:t>
            </a:r>
            <a:endParaRPr sz="1125">
              <a:solidFill>
                <a:srgbClr val="E7EDF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运动方向和速度来自多帧关联，不由单帧亮线直接猜测</a:t>
            </a:r>
            <a:endParaRPr sz="1125">
              <a:solidFill>
                <a:srgbClr val="E7EDF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E7EDF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合成图用于空间分布和复核，不替代绝对测光或完整 WCS</a:t>
            </a:r>
            <a:endParaRPr sz="1125">
              <a:solidFill>
                <a:srgbClr val="E7EDF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430000" y="6448425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>
                <a:solidFill>
                  <a:srgbClr val="73809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>
                <a:solidFill>
                  <a:srgbClr val="73809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14/18</a:t>
            </a:r>
            <a:endParaRPr sz="1050">
              <a:solidFill>
                <a:srgbClr val="73809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关键消融实验与核心发现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基础赛项 · 创新性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提案模式消融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不同提案方式的比较重点不是“谁找得更多”，而是：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宽筛是否保留弱源和异常形态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细筛是否能排除噪声、负值编码和伪峰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近邻源是否需要双源模型复核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结论按每帧独立统计，不能把 15 帧星点数量简单相加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能被发现 ≠ 已确认是独立恒星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343400" y="137160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262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min_distance 消融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52628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4px: 主+副峰均保留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5px: 仍均保留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6px: 才只剩主峰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8px: 更强抑制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 NMS 参数不是物理分辨率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 调大只改变候选账本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138160" y="137160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跨帧持续性分析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321040" y="1920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多帧结果可以直接讨论运动证据：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是否连续出现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是否相对稳定星场发生位移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是否能拟合图像平面方向和速度</a:t>
            </a: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  <a:p>
            <a:pPr>
              <a:spcAft>
                <a:spcPts val="300"/>
              </a:spcAft>
              <a:buNone/>
              <a:defRPr sz="10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但“持续出现”仍不等于恒星身份；身份确认需要星表、WCS 或轨道数据支持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核心发现</a:t>
            </a: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48640" y="4572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48640" y="4709160"/>
            <a:ext cx="274320" cy="2286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548640" y="4709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960120" y="470916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源级 SNR 只表示当前噪声模型下的显著性，不能替代 PSF / 数据范围 / 跨帧 / 星表证据</a:t>
            </a: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548640" y="4983480"/>
            <a:ext cx="274320" cy="228600"/>
          </a:xfrm>
          <a:prstGeom prst="roundRect">
            <a:avLst>
              <a:gd name="adj" fmla="val 5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548640" y="4983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960120" y="498348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固定异常像素应进入序列级审计，不能盲目屏蔽所有负值</a:t>
            </a: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548640" y="5257800"/>
            <a:ext cx="274320" cy="228600"/>
          </a:xfrm>
          <a:prstGeom prst="roundRect">
            <a:avLst>
              <a:gd name="adj" fmla="val 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548640" y="5257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960120" y="525780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真实背景分层注入显示：边缘、拥挤和特殊值域以不同方式损失质量层回收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548640" y="5532120"/>
            <a:ext cx="274320" cy="228600"/>
          </a:xfrm>
          <a:prstGeom prst="roundRect">
            <a:avLst>
              <a:gd name="adj" fmla="val 5000"/>
            </a:avLst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548640" y="5532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960120" y="553212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"亮"、"重复出现"、"符合二维点扩散函数" 是三条不同证据，不能相互替代</a:t>
            </a: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548640" y="5806440"/>
            <a:ext cx="274320" cy="22860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48640" y="5806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960120" y="580644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高 SNR 不能替代线状结构审计；持续出现不能替代点源形状和值域证据</a:t>
            </a: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548640" y="6080760"/>
            <a:ext cx="274320" cy="228600"/>
          </a:xfrm>
          <a:prstGeom prst="roundRect">
            <a:avLst>
              <a:gd name="adj" fmla="val 5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548640" y="6080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960120" y="608076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局部模板可得率和留出残差比 '相关度变好' 更能揭示当前限制</a:t>
            </a: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548640" y="6355080"/>
            <a:ext cx="274320" cy="228600"/>
          </a:xfrm>
          <a:prstGeom prst="roundRect">
            <a:avLst>
              <a:gd name="adj" fmla="val 5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548640" y="63550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9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960120" y="635508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0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拥挤源的主要瓶颈是混合/去混叠，不是简单的距离阈值问题</a:t>
            </a: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工程实现与性能优化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创新赛项 · 实用性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4864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技术栈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纯 Python 实现，可离线复核，无外部服务依赖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CLI 入口 (rst19) + GUI 工作台 (rst19-gui) + Python API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本地 Tkinter 桌面界面：观测站实验台 / field notebook 风格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设计原则：3秒内看到当前帧、运行状态和证据边界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视觉冒险度 4/10、动效强度 3/10、信息密度 7/10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34340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262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性能优化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52628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序列快速路径：float32 中间阵列，减少内存带宽压力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15 帧可并行处理，worker 数量可调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当前本机同一组 15 帧测试：108s → 67s → 57s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上述时间用于比较优化前后，不代表精度指标；机器、缓存和参数需保持一致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配准使用有限工作集提速，但逐帧结果仍单独保存并审计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138160" y="1371600"/>
            <a:ext cx="3566160" cy="502920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缓存、进度与质量保证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32104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代际标记 + 写入锁：任务运行中清理也不会由旧任务重新生成已清除缓存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单图/序列缓存版本递增，旧结果不会冒充新口径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确定性进度条：底部状态栏 + 参数区进度条 + 右侧证据卡，三处同步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帧令牌校验：切帧后丢弃旧任务事件，避免覆盖当前状态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所有后台进度通过 Tk 主线程队列回填，避免线程安全问题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预检机制：长线预检先于全量星点精测，明显长轨迹立即可见</a:t>
            </a:r>
          </a:p>
          <a:p>
            <a:pPr>
              <a:spcAft>
                <a:spcPts val="550"/>
              </a:spcAft>
              <a:buNone/>
              <a:defRPr sz="11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▸ 缓存清理使用代际标记，不会误删正在使用的数据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48640" y="3657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800" b="1">
                <a:solidFill>
                  <a:srgbClr val="0D11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234440" y="34747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6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总结与核心贡献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🏗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28016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完整的三阶段流水线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宽筛—细筛—时序确认</a:t>
            </a:r>
            <a:br/>
            <a:r>
              <a:t>每层独立证据，不相互替代</a:t>
            </a:r>
            <a:br/>
            <a:r>
              <a:t>候选 ≠ 真值，分层输出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343400" y="137160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26280" y="1508760"/>
            <a:ext cx="45720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latin typeface="方正仿宋_GBK" panose="02000000000000000000" charset="-122"/>
                <a:ea typeface="方正仿宋_GBK" panose="02000000000000000000" charset="-122"/>
                <a:cs typeface="方正仿宋_GBK" panose="02000000000000000000" charset="-122"/>
              </a:rPr>
              <a:t>🔍</a:t>
            </a:r>
            <a:endParaRPr>
              <a:latin typeface="方正仿宋_GBK" panose="02000000000000000000" charset="-122"/>
              <a:ea typeface="方正仿宋_GBK" panose="02000000000000000000" charset="-122"/>
              <a:cs typeface="方正仿宋_GBK" panose="02000000000000000000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507492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多尺度候选提案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452628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Gaussian + DoG hybrid 并集</a:t>
            </a:r>
            <a:br/>
            <a:r>
              <a:t>覆盖不同空间尺度</a:t>
            </a:r>
            <a:br/>
            <a:r>
              <a:t>文献支撑的稳健方法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38160" y="137160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3210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📐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86968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7B6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严格的点源质量体系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32104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三种 SNR 分离测量</a:t>
            </a:r>
            <a:br/>
            <a:r>
              <a:t>PSF/BIC 近邻去混叠</a:t>
            </a:r>
            <a:br/>
            <a:r>
              <a:t>多维门控 + 数据有效性审计</a:t>
            </a: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48640" y="374904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⏱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280160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FF9F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15帧时序确认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4389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Hungarian 全局一对一关联</a:t>
            </a:r>
            <a:br/>
            <a:r>
              <a:t>静态/瞬态/运动三层分离</a:t>
            </a:r>
            <a:br/>
            <a:r>
              <a:t>速度不确定度量化</a:t>
            </a: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4343400" y="374904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452628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5074920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多维创新分析</a:t>
            </a: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4526280" y="4389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4个以上创新有效分析数据</a:t>
            </a:r>
            <a:br/>
            <a:r>
              <a:t>可探测性/光度/持久性/遥测</a:t>
            </a:r>
            <a:br/>
            <a:r>
              <a:t>全部标注条件性边界</a:t>
            </a: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8138160" y="374904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141C2B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32104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00" b="0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🔬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869680" y="3931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00E5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可复核的证据链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8321040" y="43891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纯 Python 可离线运行</a:t>
            </a:r>
            <a:br/>
            <a:r>
              <a:t>每一步都有审计轨迹</a:t>
            </a:r>
            <a:br/>
            <a:r>
              <a:t>10+ 研究工具命令</a:t>
            </a: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548640" y="612648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0A2A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评分对标：基础 60 分全覆盖 + 创新 30 分 4 项以上 + PPT 5 分架构清晰 + 答辩 5 分充分准备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029200" y="2286000"/>
            <a:ext cx="2103120" cy="381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4400" b="1">
                <a:solidFill>
                  <a:srgbClr val="E8EC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感谢评审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0">
                <a:solidFill>
                  <a:srgbClr val="8B9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基于局部噪声与 PSF 证据链的天基星图识别与多帧目标分析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572000" y="4023360"/>
            <a:ext cx="3017520" cy="254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0" y="42976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项目仓库：rst19-sol (GitHub)</a:t>
            </a: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0" y="46634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数据来源：开运一号卫星 · 15帧 4096×4096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2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纯 Python · 可离线复核 · 完整证据链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0" y="5486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800" b="1">
                <a:solidFill>
                  <a:srgbClr val="00B4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000" b="0">
                <a:solidFill>
                  <a:srgbClr val="5A63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8583</Words>
  <Application>WPS 演示</Application>
  <PresentationFormat>Converted Presentation</PresentationFormat>
  <Paragraphs>916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黑体</vt:lpstr>
      <vt:lpstr>思源黑体 Heavy</vt:lpstr>
      <vt:lpstr>思源黑体 Medium</vt:lpstr>
      <vt:lpstr>Wingdings</vt:lpstr>
      <vt:lpstr>SimSun-ExtG</vt:lpstr>
      <vt:lpstr>SimSun-ExtB</vt:lpstr>
      <vt:lpstr>Sitka Display Semibold</vt:lpstr>
      <vt:lpstr>楷体</vt:lpstr>
      <vt:lpstr>方正仿宋_GBK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彼岸Lycohana</cp:lastModifiedBy>
  <cp:revision>1</cp:revision>
  <dcterms:created xsi:type="dcterms:W3CDTF">2026-09-16T18:59:39Z</dcterms:created>
  <dcterms:modified xsi:type="dcterms:W3CDTF">2026-09-16T18:59:42Z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5528C5E14FF64538B9C2546B361DC497_12</vt:lpwstr>
  </property>
  <property fmtid="{D5CDD505-2E9C-101B-9397-08002B2CF9AE}" pid="3" name="KSOProductBuildVer">
    <vt:lpwstr>2052-12.1.0.28505</vt:lpwstr>
  </property>
</Properties>
</file>