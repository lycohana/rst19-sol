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48ea15191471b" /><Relationship Type="http://schemas.openxmlformats.org/officeDocument/2006/relationships/extended-properties" Target="/docProps/app.xml" Id="Rb50640b4342c40ac" /><Relationship Type="http://schemas.openxmlformats.org/officeDocument/2006/relationships/officeDocument" Target="/ppt/presentation.xml" Id="R00006f7480a5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d9d1af19944a5"/>
  </p:sldMasterIdLst>
  <p:notesMasterIdLst>
    <p:notesMasterId xmlns:r="http://schemas.openxmlformats.org/officeDocument/2006/relationships" r:id="R707134a959e14a6a"/>
  </p:notesMasterIdLst>
  <p:sldIdLst>
    <p:sldId xmlns:r="http://schemas.openxmlformats.org/officeDocument/2006/relationships" id="256" r:id="R5d261ac149904b4a"/>
    <p:sldId xmlns:r="http://schemas.openxmlformats.org/officeDocument/2006/relationships" id="257" r:id="R299acddbdf2543ac"/>
    <p:sldId xmlns:r="http://schemas.openxmlformats.org/officeDocument/2006/relationships" id="258" r:id="Ra6e5a69dcfc64e02"/>
    <p:sldId xmlns:r="http://schemas.openxmlformats.org/officeDocument/2006/relationships" id="259" r:id="R7f6a99e1bc884f5b"/>
    <p:sldId xmlns:r="http://schemas.openxmlformats.org/officeDocument/2006/relationships" id="260" r:id="Ra70bf48b83b242ea"/>
    <p:sldId xmlns:r="http://schemas.openxmlformats.org/officeDocument/2006/relationships" id="261" r:id="R8710a9e96ac84505"/>
    <p:sldId xmlns:r="http://schemas.openxmlformats.org/officeDocument/2006/relationships" id="262" r:id="R19e3278fcae34b1f"/>
    <p:sldId xmlns:r="http://schemas.openxmlformats.org/officeDocument/2006/relationships" id="263" r:id="R75858f4f564745ab"/>
    <p:sldId xmlns:r="http://schemas.openxmlformats.org/officeDocument/2006/relationships" id="264" r:id="R2ff359d001df44bc"/>
    <p:sldId xmlns:r="http://schemas.openxmlformats.org/officeDocument/2006/relationships" id="265" r:id="R4721609dd82342b7"/>
    <p:sldId xmlns:r="http://schemas.openxmlformats.org/officeDocument/2006/relationships" id="266" r:id="Re43608410b674de4"/>
    <p:sldId xmlns:r="http://schemas.openxmlformats.org/officeDocument/2006/relationships" id="267" r:id="Ra83b79f3a3434704"/>
    <p:sldId xmlns:r="http://schemas.openxmlformats.org/officeDocument/2006/relationships" id="268" r:id="Rbdbed175876d41f3"/>
    <p:sldId xmlns:r="http://schemas.openxmlformats.org/officeDocument/2006/relationships" id="269" r:id="R0b41b3c7187f4434"/>
    <p:sldId xmlns:r="http://schemas.openxmlformats.org/officeDocument/2006/relationships" id="270" r:id="Rb15e1da84c584522"/>
    <p:sldId xmlns:r="http://schemas.openxmlformats.org/officeDocument/2006/relationships" id="271" r:id="R66f96b82bcd54237"/>
    <p:sldId xmlns:r="http://schemas.openxmlformats.org/officeDocument/2006/relationships" id="272" r:id="R3c7d1c3fb52948f2"/>
    <p:sldId xmlns:r="http://schemas.openxmlformats.org/officeDocument/2006/relationships" id="273" r:id="Rb63280de4acd4f76"/>
    <p:sldId xmlns:r="http://schemas.openxmlformats.org/officeDocument/2006/relationships" id="274" r:id="Raa9fb840f6744637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5869f2f3d546cd" /><Relationship Type="http://schemas.openxmlformats.org/officeDocument/2006/relationships/slideMaster" Target="/ppt/slideMasters/slideMaster1.xml" Id="R982d9d1af19944a5" /><Relationship Type="http://schemas.openxmlformats.org/officeDocument/2006/relationships/notesMaster" Target="/ppt/notesMasters/notesMaster1.xml" Id="R707134a959e14a6a" /><Relationship Type="http://schemas.openxmlformats.org/officeDocument/2006/relationships/presProps" Target="/ppt/presProps.xml" Id="Rb397b81fe20f4c94" /><Relationship Type="http://schemas.openxmlformats.org/officeDocument/2006/relationships/viewProps" Target="/ppt/viewProps.xml" Id="Rdf6312dbac784a3d" /><Relationship Type="http://schemas.openxmlformats.org/officeDocument/2006/relationships/tableStyles" Target="/ppt/tableStyles.xml" Id="R2dec95ba628443c6" /><Relationship Type="http://schemas.openxmlformats.org/officeDocument/2006/relationships/slide" Target="/ppt/slides/slide1.xml" Id="R5d261ac149904b4a" /><Relationship Type="http://schemas.openxmlformats.org/officeDocument/2006/relationships/slide" Target="/ppt/slides/slide2.xml" Id="R299acddbdf2543ac" /><Relationship Type="http://schemas.openxmlformats.org/officeDocument/2006/relationships/slide" Target="/ppt/slides/slide3.xml" Id="Ra6e5a69dcfc64e02" /><Relationship Type="http://schemas.openxmlformats.org/officeDocument/2006/relationships/slide" Target="/ppt/slides/slide4.xml" Id="R7f6a99e1bc884f5b" /><Relationship Type="http://schemas.openxmlformats.org/officeDocument/2006/relationships/slide" Target="/ppt/slides/slide5.xml" Id="Ra70bf48b83b242ea" /><Relationship Type="http://schemas.openxmlformats.org/officeDocument/2006/relationships/slide" Target="/ppt/slides/slide6.xml" Id="R8710a9e96ac84505" /><Relationship Type="http://schemas.openxmlformats.org/officeDocument/2006/relationships/slide" Target="/ppt/slides/slide7.xml" Id="R19e3278fcae34b1f" /><Relationship Type="http://schemas.openxmlformats.org/officeDocument/2006/relationships/slide" Target="/ppt/slides/slide8.xml" Id="R75858f4f564745ab" /><Relationship Type="http://schemas.openxmlformats.org/officeDocument/2006/relationships/slide" Target="/ppt/slides/slide9.xml" Id="R2ff359d001df44bc" /><Relationship Type="http://schemas.openxmlformats.org/officeDocument/2006/relationships/slide" Target="/ppt/slides/slide10.xml" Id="R4721609dd82342b7" /><Relationship Type="http://schemas.openxmlformats.org/officeDocument/2006/relationships/slide" Target="/ppt/slides/slide11.xml" Id="Re43608410b674de4" /><Relationship Type="http://schemas.openxmlformats.org/officeDocument/2006/relationships/slide" Target="/ppt/slides/slide12.xml" Id="Ra83b79f3a3434704" /><Relationship Type="http://schemas.openxmlformats.org/officeDocument/2006/relationships/slide" Target="/ppt/slides/slide13.xml" Id="Rbdbed175876d41f3" /><Relationship Type="http://schemas.openxmlformats.org/officeDocument/2006/relationships/slide" Target="/ppt/slides/slide14.xml" Id="R0b41b3c7187f4434" /><Relationship Type="http://schemas.openxmlformats.org/officeDocument/2006/relationships/slide" Target="/ppt/slides/slide15.xml" Id="Rb15e1da84c584522" /><Relationship Type="http://schemas.openxmlformats.org/officeDocument/2006/relationships/slide" Target="/ppt/slides/slide16.xml" Id="R66f96b82bcd54237" /><Relationship Type="http://schemas.openxmlformats.org/officeDocument/2006/relationships/slide" Target="/ppt/slides/slide17.xml" Id="R3c7d1c3fb52948f2" /><Relationship Type="http://schemas.openxmlformats.org/officeDocument/2006/relationships/slide" Target="/ppt/slides/slide18.xml" Id="Rb63280de4acd4f76" /><Relationship Type="http://schemas.openxmlformats.org/officeDocument/2006/relationships/slide" Target="/ppt/slides/slide19.xml" Id="Raa9fb840f674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f3e8b1afd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264a99b99489e" /><Relationship Type="http://schemas.openxmlformats.org/officeDocument/2006/relationships/notesMaster" Target="/ppt/notesMasters/notesMaster1.xml" Id="R83de0e668f3b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7861064f6c4f45" /><Relationship Type="http://schemas.openxmlformats.org/officeDocument/2006/relationships/notesMaster" Target="/ppt/notesMasters/notesMaster1.xml" Id="Re133b11104cd4a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0052af1e954fbf" /><Relationship Type="http://schemas.openxmlformats.org/officeDocument/2006/relationships/notesMaster" Target="/ppt/notesMasters/notesMaster1.xml" Id="R050b563a23fe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ae784cd28c4a16" /><Relationship Type="http://schemas.openxmlformats.org/officeDocument/2006/relationships/notesMaster" Target="/ppt/notesMasters/notesMaster1.xml" Id="Ra906b1465289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fe0da46961436c" /><Relationship Type="http://schemas.openxmlformats.org/officeDocument/2006/relationships/notesMaster" Target="/ppt/notesMasters/notesMaster1.xml" Id="Ra4da32fb3f50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f152a71f964a20" /><Relationship Type="http://schemas.openxmlformats.org/officeDocument/2006/relationships/notesMaster" Target="/ppt/notesMasters/notesMaster1.xml" Id="R5a4f344f6c3b45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88b4f09be424f" /><Relationship Type="http://schemas.openxmlformats.org/officeDocument/2006/relationships/notesMaster" Target="/ppt/notesMasters/notesMaster1.xml" Id="R50a9fc97b6b34d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d61701d5644ff" /><Relationship Type="http://schemas.openxmlformats.org/officeDocument/2006/relationships/notesMaster" Target="/ppt/notesMasters/notesMaster1.xml" Id="R78cc8a04b3434d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e6da7304f47ca" /><Relationship Type="http://schemas.openxmlformats.org/officeDocument/2006/relationships/notesMaster" Target="/ppt/notesMasters/notesMaster1.xml" Id="R7b339a08f3134d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fa3467694c4a3e" /><Relationship Type="http://schemas.openxmlformats.org/officeDocument/2006/relationships/notesMaster" Target="/ppt/notesMasters/notesMaster1.xml" Id="R0c18c9ea305442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28e54205bb452a" /><Relationship Type="http://schemas.openxmlformats.org/officeDocument/2006/relationships/notesMaster" Target="/ppt/notesMasters/notesMaster1.xml" Id="Reba0b0522f5545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ac55985ef24739" /><Relationship Type="http://schemas.openxmlformats.org/officeDocument/2006/relationships/notesMaster" Target="/ppt/notesMasters/notesMaster1.xml" Id="R2bb45dc4ab3e44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98582b22014e14" /><Relationship Type="http://schemas.openxmlformats.org/officeDocument/2006/relationships/notesMaster" Target="/ppt/notesMasters/notesMaster1.xml" Id="Rf7becc7b41f547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9aa6ca9bdb43fc" /><Relationship Type="http://schemas.openxmlformats.org/officeDocument/2006/relationships/notesMaster" Target="/ppt/notesMasters/notesMaster1.xml" Id="Ra9c711a0af4f44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4636c6a209417e" /><Relationship Type="http://schemas.openxmlformats.org/officeDocument/2006/relationships/notesMaster" Target="/ppt/notesMasters/notesMaster1.xml" Id="R2063588a5a7d4e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773c80905142d6" /><Relationship Type="http://schemas.openxmlformats.org/officeDocument/2006/relationships/notesMaster" Target="/ppt/notesMasters/notesMaster1.xml" Id="R1b6bc023c9f741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f306e9c04e4732" /><Relationship Type="http://schemas.openxmlformats.org/officeDocument/2006/relationships/notesMaster" Target="/ppt/notesMasters/notesMaster1.xml" Id="R19df076fdcfd42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392af9e9cb4113" /><Relationship Type="http://schemas.openxmlformats.org/officeDocument/2006/relationships/notesMaster" Target="/ppt/notesMasters/notesMaster1.xml" Id="R6aa1e740b31745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b870b2a973444d" /><Relationship Type="http://schemas.openxmlformats.org/officeDocument/2006/relationships/notesMaster" Target="/ppt/notesMasters/notesMaster1.xml" Id="Ree6683e25cc14e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70c37a8e14e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3f5d0bd8140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02a964c47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530212f3648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00049bc1041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ce4235fec4e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e6342638448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7f1e41fcb4b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9581fd1ab42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81e99407a42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fc006345748f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999110-E0CB-4712-9613-883FAED668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BD5B97-BC06-4DA1-81B0-F27E5BD218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83A9E8-859F-4F84-A4EF-4B8BE2BE50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9E3E57-F3E3-4E79-9205-3B630C9E26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E8DC4A-CB7F-4FD9-BBF2-785520D5B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CD09E-BB1B-4DA3-88AD-20A4F86868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833B27-38C2-4510-9256-5F687356D0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B91E1C-B131-4C02-B678-E0346D8498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8B6B2E-00D0-4B39-B9B9-8CF1A35518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1522E4-4DCB-444C-81DE-1628330C0C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876F74-FBDB-40C2-BC0D-8F2B81B2A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5E80E1-D2BC-46CD-BF22-2912A8F26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C3A8B3-D755-4E58-9C62-281D8539EC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14FBF-A2D5-475A-9C51-F1FD2510B2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AEFCBD-62B7-4971-975E-FF4AD8EF7A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20731D-3268-40B7-980F-6602A9B4D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9C124B-FCB9-4F68-AC93-FE7E95C34E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BAA867-252E-448B-ADA3-132F030396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9B9F25-59C3-4156-BB22-AE91566A8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B38EA8-BBA9-44FC-BCA9-74A31FDB05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1DAF61-CD46-407D-8311-1B7F59BC15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23A25D-8402-4AD0-8735-FC3676655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D767C2-D6F8-494E-AE64-63145E289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E4A3A09-47E9-482B-A69B-356A3CFEAC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2BDC9CB-A7E0-4F85-8195-F59CA7439D0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0EDFBFD-5102-499B-BCDA-8A7DA4F9D8A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1BB24E0-C3EC-4454-B123-9CC8D51DDC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FE00A66-3261-467E-9730-B857C5E96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DAFBA7D-D6A4-4E20-B907-859E53EF7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1CB797-62E9-4B57-962D-309DD6E4D8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01FE780-2F32-48D4-ADBD-F1A8D467B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749076B-7D06-41E2-8154-7B5F32E0C0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1E5AFC6-1149-46D4-8CF6-948324FBF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B4AAB33-68A9-401D-9FBE-B767BD2B63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DA4A3E-2226-4CF3-8211-2B218FBACD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D680E6-029D-468C-B73E-CA0EA324C2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61F9D6-FAB6-4D1E-8DB6-A09B34E44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C02D9C-63A5-4BE2-AC3B-7ECE0495C5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8829EA-977D-4418-A383-AA44BE65E3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20EC74-3D44-43B9-B436-0F38C9F2DD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B9FADF-8052-4418-9D4B-C311D31EBB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9054BE-1E6B-4DAC-8661-9CA1EA0820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643C24-4F0A-4E8D-8160-DCEBC84EA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13DD08-EB87-4B62-AB66-772139FF6D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A9C839-02B9-4C94-B303-70558FDB25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142F204-34D4-4C13-872C-4F042238C3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05E58A-C0B8-4A6E-BBF4-601EF59580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0F2DDD-F75B-4D71-9415-2B95357B1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6AA165-BB2E-4E6D-9001-3A9F64F64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2C9C2A-2C0A-4B53-9678-0D02E502E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0C3DFE-2CDC-4C03-8797-339A117764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E871AA-EED4-4985-BD46-F7C6FEBB0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EAA6ED-4EC9-4857-88DB-6D56AE9D03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B576992-9EAA-4A77-82D9-9845D1CEF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6F23E7-ED05-4B12-93C0-8E73DC9B5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48FE8D-3979-4DBC-B83D-90B2CA6EC8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52DB58-BFD6-47A3-947D-088D9B795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0B4CF0-1E56-4F9A-A87E-461916F77F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836e2c523445f" /><Relationship Type="http://schemas.openxmlformats.org/officeDocument/2006/relationships/slideLayout" Target="/ppt/slideLayouts/slideLayout1.xml" Id="R1949eb1f93864007" /><Relationship Type="http://schemas.openxmlformats.org/officeDocument/2006/relationships/slideLayout" Target="/ppt/slideLayouts/slideLayout2.xml" Id="Rdd6e17a671ac4756" /><Relationship Type="http://schemas.openxmlformats.org/officeDocument/2006/relationships/slideLayout" Target="/ppt/slideLayouts/slideLayout3.xml" Id="Rea6345f69c104654" /><Relationship Type="http://schemas.openxmlformats.org/officeDocument/2006/relationships/slideLayout" Target="/ppt/slideLayouts/slideLayout4.xml" Id="Rc05227d11e9f4955" /><Relationship Type="http://schemas.openxmlformats.org/officeDocument/2006/relationships/slideLayout" Target="/ppt/slideLayouts/slideLayout5.xml" Id="R7bcec886d7944c7e" /><Relationship Type="http://schemas.openxmlformats.org/officeDocument/2006/relationships/slideLayout" Target="/ppt/slideLayouts/slideLayout6.xml" Id="R2f4384bf4d5445e5" /><Relationship Type="http://schemas.openxmlformats.org/officeDocument/2006/relationships/slideLayout" Target="/ppt/slideLayouts/slideLayout7.xml" Id="R0537f6bdf6c14574" /><Relationship Type="http://schemas.openxmlformats.org/officeDocument/2006/relationships/slideLayout" Target="/ppt/slideLayouts/slideLayout8.xml" Id="R5c9be026d738431a" /><Relationship Type="http://schemas.openxmlformats.org/officeDocument/2006/relationships/slideLayout" Target="/ppt/slideLayouts/slideLayout9.xml" Id="Rfa7494be5037495f" /><Relationship Type="http://schemas.openxmlformats.org/officeDocument/2006/relationships/slideLayout" Target="/ppt/slideLayouts/slideLayout10.xml" Id="R5e54bcc130d34cf4" /><Relationship Type="http://schemas.openxmlformats.org/officeDocument/2006/relationships/slideLayout" Target="/ppt/slideLayouts/slideLayout11.xml" Id="R48d157bd6f05463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527E7E9-077E-4E89-A53C-C0E3E0C6B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FD739B-798C-4DBB-A87E-A28A172F5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CC333A-8C33-4C78-8D2E-3719B1F67D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31C94-783F-40C3-88C0-95C80919B7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8C9911-8950-4FDE-BBF7-5250000EA3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49eb1f93864007"/>
    <p:sldLayoutId xmlns:r="http://schemas.openxmlformats.org/officeDocument/2006/relationships" id="2147483650" r:id="Rdd6e17a671ac4756"/>
    <p:sldLayoutId xmlns:r="http://schemas.openxmlformats.org/officeDocument/2006/relationships" id="2147483651" r:id="Rea6345f69c104654"/>
    <p:sldLayoutId xmlns:r="http://schemas.openxmlformats.org/officeDocument/2006/relationships" id="2147483652" r:id="Rc05227d11e9f4955"/>
    <p:sldLayoutId xmlns:r="http://schemas.openxmlformats.org/officeDocument/2006/relationships" id="2147483653" r:id="R7bcec886d7944c7e"/>
    <p:sldLayoutId xmlns:r="http://schemas.openxmlformats.org/officeDocument/2006/relationships" id="2147483654" r:id="R2f4384bf4d5445e5"/>
    <p:sldLayoutId xmlns:r="http://schemas.openxmlformats.org/officeDocument/2006/relationships" id="2147483655" r:id="R0537f6bdf6c14574"/>
    <p:sldLayoutId xmlns:r="http://schemas.openxmlformats.org/officeDocument/2006/relationships" id="2147483656" r:id="R5c9be026d738431a"/>
    <p:sldLayoutId xmlns:r="http://schemas.openxmlformats.org/officeDocument/2006/relationships" id="2147483657" r:id="Rfa7494be5037495f"/>
    <p:sldLayoutId xmlns:r="http://schemas.openxmlformats.org/officeDocument/2006/relationships" id="2147483658" r:id="R5e54bcc130d34cf4"/>
    <p:sldLayoutId xmlns:r="http://schemas.openxmlformats.org/officeDocument/2006/relationships" id="2147483659" r:id="R48d157bd6f05463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b207fd658240b4" /><Relationship Type="http://schemas.openxmlformats.org/officeDocument/2006/relationships/notesSlide" Target="/ppt/notesSlides/notesSlide1.xml" Id="R6a1b6427242e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a14ce1d1d746f3" /><Relationship Type="http://schemas.openxmlformats.org/officeDocument/2006/relationships/notesSlide" Target="/ppt/notesSlides/notesSlide2.xml" Id="R071ccf401695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fb1b4c8e9243b5" /><Relationship Type="http://schemas.openxmlformats.org/officeDocument/2006/relationships/notesSlide" Target="/ppt/notesSlides/notesSlide3.xml" Id="R36733613246e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98bb2b1dd34925" /><Relationship Type="http://schemas.openxmlformats.org/officeDocument/2006/relationships/notesSlide" Target="/ppt/notesSlides/notesSlide4.xml" Id="R961453d4620c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4004b4f8424933" /><Relationship Type="http://schemas.openxmlformats.org/officeDocument/2006/relationships/notesSlide" Target="/ppt/notesSlides/notesSlide5.xml" Id="R67201720002f4c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ee50158ac44cbf" /><Relationship Type="http://schemas.openxmlformats.org/officeDocument/2006/relationships/notesSlide" Target="/ppt/notesSlides/notesSlide6.xml" Id="R8f9afa44975f4a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e337cb4ffc4b50" /><Relationship Type="http://schemas.openxmlformats.org/officeDocument/2006/relationships/notesSlide" Target="/ppt/notesSlides/notesSlide7.xml" Id="R958178a46ebe45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647d7cbc5a48fb" /><Relationship Type="http://schemas.openxmlformats.org/officeDocument/2006/relationships/notesSlide" Target="/ppt/notesSlides/notesSlide8.xml" Id="R080fda380e5f4d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7e78475dc2408e" /><Relationship Type="http://schemas.openxmlformats.org/officeDocument/2006/relationships/notesSlide" Target="/ppt/notesSlides/notesSlide9.xml" Id="Rf43e85e5d94b4e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d5b05b059847d0" /><Relationship Type="http://schemas.openxmlformats.org/officeDocument/2006/relationships/notesSlide" Target="/ppt/notesSlides/notesSlide10.xml" Id="R82ef4f92a6bf43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b25b006684c32" /><Relationship Type="http://schemas.openxmlformats.org/officeDocument/2006/relationships/notesSlide" Target="/ppt/notesSlides/notesSlide11.xml" Id="Rc18402bb4d1a49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15f0bab9834ac8" /><Relationship Type="http://schemas.openxmlformats.org/officeDocument/2006/relationships/notesSlide" Target="/ppt/notesSlides/notesSlide12.xml" Id="R3bbe9fab95804a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d19195d6fb4b40" /><Relationship Type="http://schemas.openxmlformats.org/officeDocument/2006/relationships/notesSlide" Target="/ppt/notesSlides/notesSlide13.xml" Id="R1654853213394c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836bd70394fda" /><Relationship Type="http://schemas.openxmlformats.org/officeDocument/2006/relationships/image" Target="/ppt/media/image.png" Id="Rde405a36c87e46cb" /><Relationship Type="http://schemas.openxmlformats.org/officeDocument/2006/relationships/image" Target="/ppt/media/image2.png" Id="R8a9aa443e8b74ba6" /><Relationship Type="http://schemas.openxmlformats.org/officeDocument/2006/relationships/notesSlide" Target="/ppt/notesSlides/notesSlide14.xml" Id="Rf2ab6d1eb9a3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73847a1df4a49" /><Relationship Type="http://schemas.openxmlformats.org/officeDocument/2006/relationships/image" Target="/ppt/media/image3.png" Id="R635cd6b3ea2c46fd" /><Relationship Type="http://schemas.openxmlformats.org/officeDocument/2006/relationships/image" Target="/ppt/media/image4.png" Id="R589b858c242e4eba" /><Relationship Type="http://schemas.openxmlformats.org/officeDocument/2006/relationships/image" Target="/ppt/media/image5.png" Id="Rcaeb759a0bf349f5" /><Relationship Type="http://schemas.openxmlformats.org/officeDocument/2006/relationships/image" Target="/ppt/media/image6.png" Id="R0f42f25ed5654f09" /><Relationship Type="http://schemas.openxmlformats.org/officeDocument/2006/relationships/notesSlide" Target="/ppt/notesSlides/notesSlide15.xml" Id="R1a3324a5c8cb41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f18eb42ce345de" /><Relationship Type="http://schemas.openxmlformats.org/officeDocument/2006/relationships/notesSlide" Target="/ppt/notesSlides/notesSlide16.xml" Id="R6722a093545944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a06e23a724f1b" /><Relationship Type="http://schemas.openxmlformats.org/officeDocument/2006/relationships/notesSlide" Target="/ppt/notesSlides/notesSlide17.xml" Id="Re1770a741abd4b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60efb16ce0464f" /><Relationship Type="http://schemas.openxmlformats.org/officeDocument/2006/relationships/notesSlide" Target="/ppt/notesSlides/notesSlide18.xml" Id="Rc592aad7ac4d45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424e5ba4d74d1e" /><Relationship Type="http://schemas.openxmlformats.org/officeDocument/2006/relationships/notesSlide" Target="/ppt/notesSlides/notesSlide19.xml" Id="R887e0c52e2e8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0A92BD-0AE1-441E-88D3-B20BC3C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5DE17B-AB4A-4D5C-AD08-BF22528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73152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0CA6CE-2B9F-493A-89F9-E9EBCAC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基于局部噪声与 PSF 证据链的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48A955F-9B45-425A-BBE4-FCFB447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6888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天基星图识别与多帧目标分析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2F0C48-9AD9-411F-BB27-FFBB1BFE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B02 仿真技术赛道 · 太空目标识别仿真组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60B5C7-D3A5-4112-A0FE-1730D3F0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31920"/>
            <a:ext cx="2286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BA7A00-62BC-4B36-B83E-D64CE85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9768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数据来源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38AB5B-85E4-46B1-9B04-6500BB4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2976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开运一号卫星 · 15帧 4096×4096 · 16bit · 1500ms 曝光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941401-53DA-4EE8-9664-F527FB2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060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项目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E464B3-DEA7-45AE-928B-E063355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00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rst19-sol · 纯 Python 可离线复核方案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90EE0C-556F-4ED3-A460-278AB907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03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赛事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4AA6317-750C-40F9-974B-66920C6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303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第十九届先进机器人及仿真技术大赛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28138C-14D3-4384-A46C-E5FE214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3716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DBB951B-32C6-4685-942D-B4F4238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1/19</a:t>
            </a:r>
          </a:p>
        </p:txBody>
      </p:sp>
    </p:spTree>
    <p:extLst>
      <p:ext uri="{BB962C8B-B14F-4D97-AF65-F5344CB8AC3E}">
        <p14:creationId xmlns:p14="http://schemas.microsoft.com/office/powerpoint/2010/main" val="857477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80C608-DE67-4E97-AD42-0A3E070C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9B87E7-ABE9-479F-BDD2-9B3218A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目录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787CF9-BBEC-4785-B834-8E9634A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CONTENTS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4E7584-FB14-4720-BED7-08C17D3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9C614C7-9829-40CF-B0C4-357DCB9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6F6088-992E-45C6-BC52-E336FB6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356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3D066E-DF0D-4022-9693-01AB02C1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数据边界与系统架构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7B0A99-AE6E-4066-8471-E56B661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7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FITS 格式 · 辅助数据 · 姿态先验 · 四层证据体系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63FE8FF-3D38-4ECD-9C65-B11D4DC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CD0E2B-9168-419B-8542-66D1DA2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356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9193EB-BB43-462F-94FC-26F15353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3716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星点识别：宽筛—细筛—确认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EF448F-5DCB-4020-98EE-3DF81AB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37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局部背景归一化 · 匹配滤波 · PSF/BIC 细筛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31467D9-BF3E-49DF-84F8-924A755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9C54E0-A56E-491F-8D6F-71DD3E48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26E847-2E89-4F99-8FC4-51A8A695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星点识别：近邻去混叠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70C39E-512E-481F-8E51-5032977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ΔBIC 检验 · 经验 PSF · 截图双源复核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D90ED7E-33D6-403A-97A7-B6C1D8F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D86F9A-E23E-4C53-B676-B5EE0B9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042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E95870-6564-46E0-81BD-187D060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40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星点识别：首帧检测结果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CFBCB8-DD90-4156-8959-D825C05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606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八类候选分流 · feature_class 统计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151B93C-9951-471B-A82F-A27C5D2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8977705-34CB-4EDE-B0BC-1C938F2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4B909A-2C16-4068-8DCE-DB95E8F5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89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星等识别与标定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8FD886-0316-4295-9393-0B671EC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47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三层星等 · Gaia DR3 · 颜色模型敏感性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CC3F8AE-A4D3-413F-BD83-3BDC250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CC00B2B-1C55-4D20-82FF-940D4201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72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CBACCB-BC49-4A2F-B34B-67BDE5C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089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运动目标识别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1DBBBCC-3702-440D-8548-06CB750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747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平移配准 · Hungarian 关联 · 线状候选分层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74E9A6E-CF6A-44C0-BD3F-B4DFE5FB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8C9EF57-986A-487A-A9E2-D43114E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07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2EA0175-3810-4F66-98B4-61E715B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7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创新分析：多维证据导出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F36FFA-C918-479D-87C2-520674AE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可探测性 · 光度 · 持久性 · 遥测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D7E0914-8896-4638-B535-271CAC58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928DCE8-8D63-40A3-90AD-6406094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41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08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B304C05-0FEE-4A02-A6C1-9614452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977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创新分析：注入回收实验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E21C2B8-3E83-4F1F-B87B-D92AC79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434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四种注入口径 · 合成正负控制 · 关键发现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039A809A-C6E2-4FDA-BF71-A961846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94BFD1-90DE-4A58-B396-E02BF45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032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09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7BD47E2-AF36-4518-87F5-14BD1E6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6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创新分析：合成大图与工具集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7C60B13-4D8F-4F0D-8A6B-1649A21C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20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注册合成 · 证据导出 · 研究工具集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9487DB38-8594-4847-91E0-881BC1B6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9204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9DBB3F7-DE65-4437-A8DC-8A9F196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91032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10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54CA5A4-D908-4E8B-8A69-1A1C71A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846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关键消融实验与核心发现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E4A974D-9D41-4ED6-9A0D-5B3C057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2120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提案模式 · min_distance · 跨帧持续性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05777774-F459-445F-9827-222BFB8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79DE4DB-2D87-4969-AC62-3A9A5A1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79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11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47CCC81C-EB78-4BD2-BEB3-27FC020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工程实现与性能优化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A8A4A6F-17BF-419E-84A1-81FF49A6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80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技术栈 · 性能优化 · 缓存与进度系统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5398C71B-2763-4964-936B-0F1DEE1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7607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8EFC0AB-CBE2-4950-8F0E-28E5E40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779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12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93E887D-AECE-410F-AA82-9EB5060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15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总结与核心贡献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DB28469-1CB4-4D2A-B0FE-176F4F1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6080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六项核心贡献 · 评分对标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266C456-0532-478A-92C8-C086151F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2/19</a:t>
            </a:r>
          </a:p>
        </p:txBody>
      </p:sp>
    </p:spTree>
    <p:extLst>
      <p:ext uri="{BB962C8B-B14F-4D97-AF65-F5344CB8AC3E}">
        <p14:creationId xmlns:p14="http://schemas.microsoft.com/office/powerpoint/2010/main" val="1449211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ADF48F-66C8-4268-8E4A-F5779E9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00CBDC7-435F-4CBB-9528-9EAA867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DC03B0-BBE1-4AF0-8E56-18CE92A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8795BE-EA89-4645-B4D1-5E43562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数据边界与系统架构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02A558-3299-4855-A70D-CDFE278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10A0AF-22BA-4728-9C79-73145273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F5BB61-4527-4974-959E-C7469D5C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15帧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C71AAE-A35F-4D76-8731-91E72099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连续时间序列，间隔~1.5s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C11001-4A20-400F-854A-FF21151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38F5EC-DEC9-4B4F-9D89-664B646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4096×4096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39439A-A665-4ACA-AA89-2BD7263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像素 · BITPIX=16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D62AFD1-2435-42BB-8956-233A958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886071-3D25-4555-8017-10FEC86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1500 ms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917363-81C8-4CCD-A77D-13EC867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曝光时间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808C287-3BBD-4D4D-82A3-0C17CA5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920AF3-3ABE-41CE-AFDB-DA7114B2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≈8.44″/px*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EEF6A7-9979-4064-BAB4-8728E54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几何尺度先验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2A83B6-5ED5-4CD7-8381-A61072C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四层证据体系（不能相互替代）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CEC7A25-FB7A-4A59-B862-6AEA657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D9F687-2037-4C85-88BF-F533BE4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逐帧独立检测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DA1281B-A127-4A40-AF4A-314B657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1880"/>
            <a:ext cx="22860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宽筛候选数（按帧）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4FE1C6C-5CE8-4CA6-A815-0D4C606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哪里可能有局部响应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5475381-B4FE-4B72-A116-6B17262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4D2F47-6ED8-452B-929F-26E5B57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结果按帧保存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13FD669-7A0A-4DC4-977C-0318075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11880"/>
            <a:ext cx="22860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质量源数（按帧）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2AA743-9B67-4725-BCCD-D0FB635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是否满足点源质量规则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7F5412B-62DD-4994-9103-8E3A5196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45EEF52-FD02-4C47-876B-15E794E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N_temporal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30F8B1-F251-4DD2-93C5-6555951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11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稳定/运动候选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0F174D5-A0A8-4CEA-8250-04D29811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时间上如何变化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17B40E0-3A8C-41E5-AA57-FBFB0B2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4FE336-3B37-4AD5-988A-BA1CF4F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N_catalog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0978373-FB33-43D8-A2F1-53696E6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611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星表匹配数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E0FC21B-8B99-4209-A242-91CFF9D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是否有外部天球身份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47AE0AC-8A04-4376-8F61-9A3E3B8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辅助数据与姿态先验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CE094B7-FD17-4B4C-9D8C-54DF8CC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每帧 26 个辅助字段（8 字节 double）：光轴 RA/Dec、四元数、J2000/WGS84 位置速度、姿态角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四元数模长偏差 &lt; 2.3×10⁻¹⁶，推导光轴与辅助 RA/Dec 残差约 1.1×10⁻¹⁰ 角秒 → 字段内部自洽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姿态先验可缩小星表搜索区域，但缺少像元尺度和畸变参数 → 不是完整 WCS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位置差分与辅助速度相对误差约万分之几，支持按 m/s 解读；单位仍待主办方确认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* 由像元尺寸和焦距计算；最终尺度以 Gaia/WCS 拟合为准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53A6AF8-16B2-46E0-80CD-C94253A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3/19</a:t>
            </a:r>
          </a:p>
        </p:txBody>
      </p:sp>
    </p:spTree>
    <p:extLst>
      <p:ext uri="{BB962C8B-B14F-4D97-AF65-F5344CB8AC3E}">
        <p14:creationId xmlns:p14="http://schemas.microsoft.com/office/powerpoint/2010/main" val="850354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457D61-5767-44E0-93B9-1B17398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EE404E-9FF5-464E-A0B2-B4D74A7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技术路线总览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72F0DA-F1EB-4844-9177-372C70A5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核心方法论：宽筛—细筛—时序确认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AE0775-67A3-4A64-B48C-324723D9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D9E2EC-6DED-4257-B7E5-6FC922D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2B1F85-EE2C-4E4C-93DB-FE97D05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①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7A72369-101A-4FD4-8C4C-D491A94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FITS 读取  辅助数据解码  数据校验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7E50D90-5D14-4F55-B8E4-75E766E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A7F3821-7218-45A1-95BA-CA912F6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802271-2C24-45CB-B11F-575086B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912CE39-579F-4F2F-AF5D-B2AF731E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局部背景/RMS  Gaussian + DoG  hybrid 宽筛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8DB466-1269-4D44-828F-413AB9C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1A71CB0-8285-44D0-AE51-8B41617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1EB05D3-59F9-4884-94AE-4213E2E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A656AF-D4F0-45D4-8AF2-05AF662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孔径测光  PSF/BIC 细筛  质量确认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ED3B4A-D7E4-491E-BAEA-152F78B5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6F46602-7064-4286-B537-EBFB282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EF0142B-3649-4EAB-8F24-18F8063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④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E167F54-FDFE-4B93-96BD-3D9ABB8B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平移配准  Hungarian 关联  时序分类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88B1F1D-CEC1-4B9C-B0A5-77C1624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0A7A51B-66D1-492D-A430-BC869123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E95DF1-D0AE-4F3E-B9F8-D9C2775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⑤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93A98C4-BF2C-4257-9B63-F442C09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星表匹配  WCS 标定  星等计算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B7A371B-07D8-42CA-B1FF-0ADD3CE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B34C345-8BF9-41A5-9B6F-6E9292B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DF5E2B8-2B17-418B-9842-D9AFACA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⑥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0E76199-1BCC-45DC-902F-B592BEB3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  证据导出  审计报告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72F051C-DF90-4811-86B2-EC4822A6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核心方法论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5CCD2A7-B64F-47EA-B574-FECA601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4E6567B-FD10-489A-BEAA-E337340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15D22C7-F924-4A23-AE75-5914128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9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61D00E-4833-4AD6-8CC4-D954041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22192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多尺度候选提案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B691996-EEA3-41AA-8489-431AC30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22192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Gaussian + 双尺度 DoG 并集，覆盖不同空间尺度，候选阈值 4σ 是提案门槛而非恒星概率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E1D96A7-4060-45A8-AEDA-8CDB43D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07408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D6CF7F4-51B5-4BDC-8938-06E81E7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165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2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1BD3F6C-2BF9-4D5F-94DE-822F5056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8912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回到原图的点源细筛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54CBDFF-BE58-4BEA-A66D-1CC11CDD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9120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三种 SNR（峰值/通量/滤波）分离测量；PSF 支持、形态、掩膜、数据范围多维门控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1D8707F2-10B0-413A-85B8-7D54077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060F574-98A5-4004-88EB-A9BF085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3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60FCB79-B837-4541-9DC7-4CB9DBE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近邻去混叠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98EA1EB-ACF7-4FD6-9F7E-44225AA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56048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单/双 PSF 的 ΔBIC 检验，不按距离一刀切；支持 Gaussian 和经验 PSF 两种模板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A9542D4F-1595-4627-BFAF-0F7CB7D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41264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BB40222-758E-4B7F-B976-5B16A4E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0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4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43D866D3-B1CA-4F56-9EC3-06314BE5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2297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15帧时序确认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B8C3320-9718-433E-9BCA-3EA36A5C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2976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高质量静态源平移配准 → Hungarian 全局一对一关联 → 静态/瞬态/运动三层分离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4CEB54EE-08B7-478A-8BBA-8DF39EA0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B3A2A20B-A3DE-4149-A8FE-10EC7EDA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7336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5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5EBE933-6FA4-4020-8847-5A2944E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608990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星表标定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CAED5FDB-D7B1-41A2-BE08-C10D8103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89904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Gaia DR3 公共星表接入，多参考星零点+颜色项标定，三层星等体系（m_inst / m_cal / M_G）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0C7257F-9A6C-4EFE-8E1C-0FD88DD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4/19</a:t>
            </a:r>
          </a:p>
        </p:txBody>
      </p:sp>
    </p:spTree>
    <p:extLst>
      <p:ext uri="{BB962C8B-B14F-4D97-AF65-F5344CB8AC3E}">
        <p14:creationId xmlns:p14="http://schemas.microsoft.com/office/powerpoint/2010/main" val="36539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E104A9-2A60-4412-8768-AF2BB70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356D928-FD49-4ABE-B1C2-C508743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2E8AA87-7B77-4A4A-A2F3-A909446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D667B4-E577-4EF3-B4D4-9B550A9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星点识别：局部背景与匹配滤波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3EED4F-6BC7-4402-AA79-1052970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828080-1A7E-4C74-A89F-ABA7E7C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DA0A4F-8A08-4B39-9B0D-F470A476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523429-2F05-48E5-86D3-DFCA360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候选提案：局部背景归一化 + 匹配滤波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BBD0F2-2668-4ADB-98BC-7965FE7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19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背景估计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对原图 I(x,y) 在局部网格内用 sigma-clipping 估计背景 B(x,y) 和噪声 RMS（均方根）R(x,y)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D(x,y) = I(x,y) - B(x,y)（背景扣除后的残差图）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匹配滤波响应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S = (Tᵀ C⁻¹ D) / √(Tᵀ C⁻¹ T)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T = Gaussian（高斯点扩散）模板，C = 噪声协方差（局部 RMS 近似）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混合宽筛并集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Gaussian 匹配滤波：寻找标准点源响应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DoG（高斯差分）：覆盖不同空间尺度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à trous / Starlet（小波多尺度分解）：实验对照模式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并集合并，4σ 只是候选提案门槛，不是恒星概率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文献依据：WAVDETECT 用多尺度小波做候选提案；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匹配滤波只有在信号形状和噪声假设成立时才有最大似然解释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FA13C7-F10F-47FF-B012-ECE07B7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C2669B-C42F-4ED1-8F8A-3585F779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质量细筛：回到原图的多维门控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D62FE1-0A29-45B1-8046-18D899E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三种 SNR（信噪比）分离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峰值 SNR：局部峰值显著性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通量 SNR：半径 4px 孔径测光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滤波 SNR：匹配滤波响应值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三者不混为一个“可信度”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孔径通量误差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σ_F² = N_ap·σ_b² + (N_ap²/N_bg)·σ_b² + σ_source² + σ_read²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flux_SNR = F / σ_F（通量信噪比）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质量层门控条件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FWHM（半高全宽）/ 椭圆率 / sharpness（尖锐度）在合理范围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3×3 核心至少 3 像素超过 max(2σ, 0.1×peak_excess)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有效孔径比例、边界、数据范围审计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flux_SNR ≥ 5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弱源如果只有单个高像素、没有小型核心支持，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保留为候选但不进入质量层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AF1866-071C-4A5E-B71D-A4F20CA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5/19</a:t>
            </a:r>
          </a:p>
        </p:txBody>
      </p:sp>
    </p:spTree>
    <p:extLst>
      <p:ext uri="{BB962C8B-B14F-4D97-AF65-F5344CB8AC3E}">
        <p14:creationId xmlns:p14="http://schemas.microsoft.com/office/powerpoint/2010/main" val="422309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B77F46-E301-4DE5-ABA0-BFD6393D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2A05852-ED72-4E6A-B374-27E6B3B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65807F-D8FC-453B-BDC8-65FDB0CA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1624BD-0C9A-423D-8D5E-68064D0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星点识别：近邻去混叠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E6121A-996B-43BF-9B1F-75FA4D1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934A220-3961-4C06-AAAB-24B959E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0AA663D-4035-4827-9932-4116D2F6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6A26A8A-B255-45C2-94AE-6D9CD62B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ΔBIC 双源检验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A4BA87E-8943-4FF6-A7C2-D4FEE63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ΔBIC（贝叶斯信息准则差值）= BIC（单 PSF）− BIC（双 PSF）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通过条件：ΔBIC ≥ 10 且新增分量 SNR（信噪比）≥ 5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min_distance 只抑制候选峰，不等于物理去混叠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不按距离一刀切删除，保留审计证据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支持 Gaussian（高斯）PSF 和经验 PSF 两种模板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11BCCF2-185E-466F-BA01-8DEE7BE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00BBBE-C0A2-4D09-9686-5C97F4D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PSF 加权相关与可分性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70356-9826-4790-81F0-BEE1230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ρ = (T_pᵀ C⁻¹ T_s) / √((T_pᵀ C⁻¹ T_p)(T_sᵀ C⁻¹ T_s))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|ρ| 越大 → 两源参数越退化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5.4 px 不是脱离 PSF、方向、强弱比的普适分辨率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可分性取决于 PSF 形状和局部噪声条件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Astreaks（拖线源检测方法）：拖尾源可用 PSF 与运动线段的卷积建模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471ABA-45E1-4959-A21B-FEE64B7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1106424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5F4D114-423B-4127-80ED-3A5F5888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实验验证：截图双源复核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459630-B26B-4264-B520-0DAC7C5B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主响应 ID 70269：(1269,3465)  峰值 30,884 / flux_SNR 82.82  →  质量层保留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副响应 ID 70320：(1274,3467)  峰值 3,991 / flux_SNR 10.85  →  极端负码污染，标 NEGATIVE_OVERFLOW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间距 5.39 px，但副响应孔径含 31,586 正码 / −31,642 负码 / 固定 −1 像素块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原始掩膜下 ΔBIC = −2.59，次分量 SNR = 1.55  →  未达双源线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经验 PSF 模板：ΔBIC = −3.13，次分量 SNR = 1.36  →  同样未达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15帧逐帧复核：严格双命中仅 2/15 帧，同时质量通过 0/15 帧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结论：异常值域污染的非高斯亮斑被拆成两个提案，不报告为第二颗确认恒星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40756D5-089D-4B05-BB32-F3F00023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6/19</a:t>
            </a:r>
          </a:p>
        </p:txBody>
      </p:sp>
    </p:spTree>
    <p:extLst>
      <p:ext uri="{BB962C8B-B14F-4D97-AF65-F5344CB8AC3E}">
        <p14:creationId xmlns:p14="http://schemas.microsoft.com/office/powerpoint/2010/main" val="1533679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84A8C-D1DC-45AC-90CD-6BEF95B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23F290-AD82-43A0-ADAE-2B51B70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B570972-CCA2-4BCD-837C-85A1077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149D3F-DD03-4759-9968-2F9DDF2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星点识别：首帧检测结果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B6D731-803F-460F-86C9-8C00D27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 | 检测参数：混合提案；FWHM（半高全宽）=2px；阈值4σ；候选峰最小间距4px；通量信噪比≥5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2272CDB-6CBB-47C6-A4E3-5BE2DF7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9656369-E074-4DBF-9D96-64433081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30EEF7F-2D49-4B4B-8598-8B6D3A3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逐帧输出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9FEE96-C49A-4C9B-968B-191650A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每帧宽筛候选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6C3E15C-5A4C-4EB1-BAD4-0B4BB33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002232-1F58-43DD-A283-13A2BD06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逐帧质量结果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AF1A3E-6445-40B3-BAC8-E551F57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质量源（逐帧）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59424FC-EC81-48EE-88D6-0BE3760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8274A8-9E28-4004-B09C-D475263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逐帧审计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1A4DFC-142B-40DC-A97D-0A71EBA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负码/范围异常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78BBE0F-EB08-4715-A587-A6D9660A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717BC4-A7EB-44EF-9757-59E996FC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不跨帧汇总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1BAF87-D0EF-4CC0-B15D-2C8F973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质量比例按帧计算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02D5EE-6F8A-4701-A580-4E3ACDE6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逐帧特征类别分布（互斥分类）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8CDB33-24E2-4A7F-B308-9DBD2E4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类别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FD6532-34DD-4B9A-BBE6-DCCE48C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0972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输出口径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40FFAC-6AA9-4801-88C3-B8AC643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4680"/>
            <a:ext cx="10972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质量层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4B3F346-BC16-4703-B153-0C88D91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54680"/>
            <a:ext cx="7315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跨帧合计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92A76C-38E1-44AD-A1D8-0B5C20F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546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说明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72DA782-28F4-492C-90CA-44BD1363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36C8FFD-0244-4BC8-A402-E39F369A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93008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4030B76-F22F-4ACF-BA97-20A896C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95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紧凑质量候选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E1D10D4-7FE3-4234-93FF-4B91E92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52958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A27C8EC-54C5-4D8B-A950-69D58042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958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5783266-D9CF-4BC6-8FCC-8930EA9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2958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916E1B-B658-4D99-83EA-72EC3FF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958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当前点源规则通过，不是星表真值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895FBA6-3302-4633-AAE9-14A651F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9624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E98E506-D25B-477E-89AE-B4D830B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尖峰/PSF支持不足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89C7A7-0F72-4495-94D7-D81B71C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862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E7DDC6-146A-4182-8EFD-5A805E1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E8F20C9-D0B6-4216-AD80-C08BC79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8620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6F0B8B5-0B33-48EA-8D32-8FF67472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86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单像素或核心支持不足的响应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15F6462-2453-4CF6-9101-FC2048E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B686BDC-0337-401C-8FA5-1DEBB93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4281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弱通量/背景不确定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3E2A71D-1CF2-4156-B0A1-1667410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24281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CC06B24-F105-4D01-B594-DAC36D3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281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9635B57-ED8A-4076-B93C-2229515A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24281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A25EEA9-9D20-4AC8-8464-527FF18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4281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孔径通量 SNR 不足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8B8411A-ECDB-4F5C-87B9-013454C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62856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FF717F7-852C-48CD-A707-16471A7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9943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边缘/掩膜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6C0B1CC-241D-409D-95D1-909DABD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59943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A7C1560-7EA1-4000-920C-AF1E7AF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F70FF51-B91B-40E0-82E5-AF1FDEC1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59943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A32FE51-C884-492D-84F0-1D0788E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59943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PARTIAL_MASKED 可按容错通过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87946E2-EC46-441B-BF88-C292389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EE62132-9945-4AEE-9298-826938A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拥挤/未分辨近邻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AF3CA77-04DA-423C-ADFE-539211B5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9560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4A735EA-3DEB-47CD-A8D9-AED5828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60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383EEA5A-1BD9-42F8-BF0B-34BA0DE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537045EA-1335-48BD-A947-07602B85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5604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双源证据不足，不按距离判假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1D76E3DF-51B3-4C0A-864D-92FB824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001976E-0C74-41D0-BB2B-1A6B76A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1266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线状/拖影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A435ED9A-316A-4E16-BDE0-848012C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1266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66A35EAF-5511-4C65-8EC0-9CE15D4C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1266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线状层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176ADF1-E156-4A0B-80A2-4FD14DA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31266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CE7FA9B1-1CD3-4BD8-8E0F-2A6AADC3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31266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独立线状候选层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C52DED05-FE54-4965-B62B-D53A9A3A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32704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58E68CE-015E-429A-AA1B-5ED7E6AB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数据有效性/范围异常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EEF8698-2459-413B-AFB2-C7773FD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66928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8DA57AF9-C3E4-4244-B5AB-22E21D7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6928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审计层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2B556579-1DDF-47DC-9609-8FBDF552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66928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9C5D073A-53D9-4833-BAB1-C42BFEA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6692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含重复码/极端负码审计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B837CF37-6CB9-4DE5-888A-7A4948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62486324-F60F-46D7-9990-04975450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2589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形状异常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50B9EBF9-2A3F-4707-B983-F2C2A5A1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60258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009F5699-8B50-4292-97EA-2EABBA7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258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审计层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6A4069C4-B906-48C4-9D9D-D2EF9BC3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602589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A6D9EA91-5278-4B54-B224-E83ED17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602589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FWHM/椭圆率偏离当前规则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80AFF87D-F90C-4F95-BA80-ABEB5414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7/19</a:t>
            </a:r>
          </a:p>
        </p:txBody>
      </p:sp>
    </p:spTree>
    <p:extLst>
      <p:ext uri="{BB962C8B-B14F-4D97-AF65-F5344CB8AC3E}">
        <p14:creationId xmlns:p14="http://schemas.microsoft.com/office/powerpoint/2010/main" val="1844863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FA0879-C846-44C7-AEC4-6E757E1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764AC2A-1A6B-46F3-B387-F2FE05A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A32A4E-1168-409F-8422-E5F6DCD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55775D-2DB7-4E61-A027-8A33A6D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星等识别与标定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5488ED-A817-4F1D-B5D8-B6B04EB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A056FC-21DF-4E81-8F49-689FF07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2245225-6582-40D5-AA8B-C147BCAF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A3F0DA7-56E2-4066-9DB6-B166A19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三层星等体系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B6C31E-0F01-43BB-9FCC-7F0A29A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第一层：m_inst（仪器星等）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由图像通量计算，只能比较同一图像内的亮暗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未消除相机响应、增益和波段差异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第二层：m_cal（标定视星等）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用 Gaia 参考星拟合零点和颜色项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只有匹配、测光和波段条件通过才输出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第三层：M（绝对星等）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还需要距离、消光和同波段转换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不能由 m_inst 直接得到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Gaia G：Gaia G 波段的视星等，不是绝对星等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M_G：Gaia 模型或星表中的 G 波段绝对星等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当前相机波段转换仍需外部标定证据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D8181B7-424D-4E73-A7CA-B68ECFC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34A9F8-873D-4A61-9316-8DF1A3B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Gaia DR3 星表路线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F9BB153-1429-4140-9919-E9432007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显式 TAP 公共星表接入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rst19-gaia-frame 生成参考子表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GUI 在线获取 Gaia DR3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参考星分层查询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亮星定标层：G ≈ 5–13.5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深星覆盖层：覆盖检测极限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rst19-gaia-merge 按 source_id 去重合并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WCS 标定路径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姿态先验 → 切平面 WCS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先验引导一对一匹配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匹配后局部仿射 WCS 校准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输出像元角尺度/旋转/parity/RMS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8ECEFE-8911-43A5-AEDB-856137D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ECF39A-FA66-4B96-A07E-612D90C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颜色模型敏感性审计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5913CC8-1580-4108-9DE9-9827198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三种颜色模型对比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零阶：m_cal = m_inst + Z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一次：+ c₁·(BP−RP)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二次：+ c₁·(BP−RP) + c₂·(BP−RP)²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敏感性审计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model_spread_mag 量化模型间差异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最暗源排序一致率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未知相机响应下的创新分析方法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rst19-photometric-report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避免仪器星等冒充绝对星等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消光波段/系统/来源完整保留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F078BF-E034-42CB-AE70-5FCCD20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8/19</a:t>
            </a:r>
          </a:p>
        </p:txBody>
      </p:sp>
    </p:spTree>
    <p:extLst>
      <p:ext uri="{BB962C8B-B14F-4D97-AF65-F5344CB8AC3E}">
        <p14:creationId xmlns:p14="http://schemas.microsoft.com/office/powerpoint/2010/main" val="697068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06DDE6-A84E-44E4-A8F3-F96274A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CCE08A6-9DB4-4987-9C57-A8C7CC76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D7C80BD-2E55-44C1-9562-C7EBDD8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4CFE26-25C8-4BD0-8AF1-4F14C3E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运动目标识别：总体方法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09A8E8-BD03-4CBB-AB78-7E751A90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星图分析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2E3FEF4-2105-4845-BB37-0FD5403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2546AF3-1B7B-4732-BBDC-17D6ACF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20FA54-21FF-4637-AC14-F34AE84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24B145-B515-48AF-9569-0289059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211D04-C8AB-461D-A995-B91ED01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平移配准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7545F36-78C6-4CB7-960B-4766C93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用高质量静态源估计</a:t>
            </a:r>
            <a:br/>
            <a:r>
              <a:t>相邻帧全局平移</a:t>
            </a:r>
            <a:br/>
            <a:r>
              <a:t>Δt = median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27453D-F121-4BDF-9CA6-1F822F4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6D8210-28D1-4090-B576-257599B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F911E48-1008-49EC-904F-A7F6832A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4E45A6-44B4-4224-AAF4-435432A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900D9B5-4A1B-4C8A-85D8-B91B8D53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轨迹关联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5BE5FF-C9B2-43AB-BF77-85BB43EB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扣除累计平移后</a:t>
            </a:r>
            <a:br/>
            <a:r>
              <a:t>Hungarian 全局一对一</a:t>
            </a:r>
            <a:br/>
            <a:r>
              <a:t>禁止跨漏帧重连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1C847A3-1357-440F-AC1F-D4DF9B1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52C55F5-071F-45CF-ABC3-BD956CA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FC99ECD-4599-447D-8B53-5183D2B5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702C8CC-BD4F-4A84-A893-182686B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53D8555-A05A-4AB4-B82B-DF4D116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三层分类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D9C363C-31BC-4759-8113-52BA666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静态星场</a:t>
            </a:r>
            <a:br/>
            <a:r>
              <a:t>瞬态候选</a:t>
            </a:r>
            <a:br/>
            <a:r>
              <a:t>严格 moving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AF36B0B-AFAD-499A-BBFF-6276982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4326C9E-DB4C-46EB-B19A-170A7C7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4EE8E8A-322B-40C2-91D6-8C0C4645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387F142-8400-4DE8-B1BD-72756155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2DEDD87-3A31-46EE-A1A3-4CE2A13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高速点源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D6F1099-2026-45E3-82B9-CE8F7AC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宽筛候选峰 →</a:t>
            </a:r>
            <a:br/>
            <a:r>
              <a:t>三帧常速度种子 →</a:t>
            </a:r>
            <a:br/>
            <a:r>
              <a:t>15帧关联 → ADU细筛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71C5CA4-F178-498C-BD17-AE9DDDF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90A6A4B-3CED-47C5-89C2-76B28B5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B6D9476-CDF2-4984-8DEF-6F78610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A6D238E-78E3-41F6-83F3-63C55E5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5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B8E2CF4-71DD-4714-BA5F-7EC7370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线状检测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3C8723B-2292-4195-B284-E08F207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原图高残差连通域</a:t>
            </a:r>
            <a:br/>
            <a:r>
              <a:t>PCA 几何筛选</a:t>
            </a:r>
            <a:br/>
            <a:r>
              <a:t>跨帧直线拟合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4D8D5B7-360B-4961-A657-C42FCB9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关键设计决策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C8E4AEF-ABEE-4C0B-903A-6E74BC0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D6C76B0-C3E8-44F9-A518-6226974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0972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点轨迹：拟合位移 + 禁止跨漏帧重连 → 避免虚假长轨迹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线状候选：独立于点源层，单帧叫候选，跨帧才进入运动候选层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运动叠加层：洋红色 moving 线状 + 橙色 candidate 线状 + 严格 moving 点轨迹，分层显示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图像平面预测：最后两点匀速外推 +5 帧，标为 forecast，不宣称轨道预测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速度不确定度：三点及以上 OLS 拟合，Student-t 95% 区间，delta method 传播误差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注册中值差分基线：分块时间中值参考，减少帧间整体位移影响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配准工作集：每帧前 6000 个 filter_snr 候选，全量 candidate_count 审计保留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0D96DB3-E710-4E48-8E70-0B9102C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9/19</a:t>
            </a:r>
          </a:p>
        </p:txBody>
      </p:sp>
    </p:spTree>
    <p:extLst>
      <p:ext uri="{BB962C8B-B14F-4D97-AF65-F5344CB8AC3E}">
        <p14:creationId xmlns:p14="http://schemas.microsoft.com/office/powerpoint/2010/main" val="2064650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E4AC58-021C-47DF-B6ED-C2E9350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F1ECE54-F4FA-401E-BC39-FEAC168A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3A281C-9731-4F8F-9981-58A6F8F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DE6C41-1989-4502-9D8E-E044458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运动目标：线状候选分层检测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B76BDF-C671-4226-8547-7A40543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星图分析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149CC5-BCFF-4095-8AA2-0EAC932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A80D715-41BC-4125-BF37-F42961D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7F8F2F-EA00-4A85-AF3A-CB94EB08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单帧长线检测 (rst19-trails)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90768F1-35F8-4398-B5A4-38CA397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残差图 → 有效像素掩膜 → 阈值连通域 → PCA 几何筛选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输出：长度、宽度、方向、残差信噪比、触边状态和包围盒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线状候选单独保留，不进入恒星质量源统计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单帧只能说明“具有线状或异常形态”，运动确认放到 15 帧关联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F3D4C1-95D5-45C8-AE76-101EA57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1C7F7D-D0A2-4F63-BFEE-B8978C2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跨帧线状关联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904ABCF-8792-4432-9709-3E1C5CF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从原图高残差连通域建立独立线状候选池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面积/PCA 形状 + 连续跨帧关联，排除普通静态点与孤立噪声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注册坐标中拟合直线，RMS 合格标记 moving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轨迹图：洋红色实测线 + 青绿色虚线预测（末帧 +5 帧外推）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56CC6A8-7B94-4120-9ABB-052CF73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A228D6-2716-49BD-A706-29C892FD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逐帧线状筛选诊断漏斗 + 运动证据分层输出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62DF65-4911-4C6F-83C9-E62AAF2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先做单帧线状候选，再做多帧确认：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线状候选表：记录长度、方向、宽度和质量标记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逐帧点记录：记录每一帧的坐标和亮度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运动轨迹表：给出持续帧数、位移、图像平面方向和速度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这些是图像平面证据，不直接等同于真实轨道或天体身份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E92D843-9AEB-4679-9AFF-A118282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10/19</a:t>
            </a:r>
          </a:p>
        </p:txBody>
      </p:sp>
    </p:spTree>
    <p:extLst>
      <p:ext uri="{BB962C8B-B14F-4D97-AF65-F5344CB8AC3E}">
        <p14:creationId xmlns:p14="http://schemas.microsoft.com/office/powerpoint/2010/main" val="1981874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BB5BE0-3EB9-4841-9C60-3C9B5D4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307D98C-7B50-419C-9D95-4D6CBB32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BCF4F2-2179-49BB-8F6F-4C0045B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DDD4A2-864B-4FC9-84DE-2C0A6DC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创新分析：多维证据导出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B0F3B74-BAD5-49D5-AB79-7344DD9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创新性 15分 · 实用性 10分 · 科学性 5分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358192-E24C-4436-9370-9DBFE6A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51BFCB-335E-4BCE-A006-A2A55B7D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DC69630-DAD2-4B44-B009-6B4AA30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条件化可探测性剖面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404DB3-0C65-4BF8-A756-9F55BDA9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真实背景分层注入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8E9FAF-A3C9-4998-865E-AD15C0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4884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低纹理/高局部噪声/边缘/拥挤/特殊值域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经验 PSF 覆盖 + 2×2 空间分区留出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已知注入分母的召回率 + Wilson 区间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候选回收与质量回收分开报告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明确标注为条件性结果，不宣称完备率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3FAE420-4754-43A3-8730-44D2761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9609DFA-125D-4C2F-8097-712A394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304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15帧相对光度标尺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6C18E2-50C5-4B23-8F82-914FD65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跨帧一致性审计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15C0CE-D2B9-4F77-B5BA-E369FA5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逐源误差与状态报告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星等可观测性/false-valid 质量报告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rst19-photometric-report 工具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避免仪器星等冒充绝对星等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零阶/一次/二次颜色模型敏感性对比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81E0E24-81C1-4D7B-912E-93095B99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A5C9052-105B-42AA-BC07-77323A21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特征持久性审计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E8D1B7F-F1C7-4F31-9ACB-40C4B52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15帧时间序列分析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9440CE-9880-47E4-A0BC-084790A8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首帧锚点 12/15 帧出现率统计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类别条件跨帧转移矩阵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提议器来源交叉（Gaussian/DoG/Starlet）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紧凑质量子组 vs 非紧凑特征对照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区分'重复的检测器结构'和'质量层通过的点源'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2A0EC2D-0CD3-4911-9C60-FC769CA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BA25869-428D-47B1-B11E-06B0278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辅助遥测分析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C53BE8-54EE-461C-AB29-8A91251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卫星姿态与轨道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3080554-4F53-4B02-9AB9-364DDCF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四元数光轴 RA/Dec 推导（亚纳角秒级一致）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J2000/WGS84 位置速度自洽审计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末帧常速度位置外推（+5 中位帧间隔）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m/s? 单位边界标注与待确认状态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图像 px/s 与载体 m/s? 分栏显示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31C865F-2BDB-4787-B1A2-1D997A90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11/19</a:t>
            </a:r>
          </a:p>
        </p:txBody>
      </p:sp>
    </p:spTree>
    <p:extLst>
      <p:ext uri="{BB962C8B-B14F-4D97-AF65-F5344CB8AC3E}">
        <p14:creationId xmlns:p14="http://schemas.microsoft.com/office/powerpoint/2010/main" val="745410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2A2DC4-B6E3-425D-AD32-3FAF3712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F7769B7-692D-41B9-84AA-6919B9B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6BF3D9-40A3-44C0-AD2F-1F8A8492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3E8784-7302-43C8-A3D0-35C57387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创新分析：分层注入回收实验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631BCC-8446-4F7A-9C2F-4882837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科学性 + 实用性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DD34AD-0192-4312-9A84-C960992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A4F139-6105-40B0-A998-438E7916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四种注入口径（递进覆盖）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D19175-E33D-491E-A04E-1E35B3C0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ADA352-765A-460D-ADD2-5D45912E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① 简化 Gaussian 均匀背景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107794-F429-46B9-9996-A5F8E34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理想条件基线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216E373-83DB-41EC-A0F3-2138B728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C85562-5BB0-47E4-ADA9-6B015D1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② 真实 FITS 相对空白背景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7A76F7A-D962-4B6C-AD6D-1E6ED73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实测噪声条件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73B3D4-61DE-44B7-8C2C-7A89E5B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48319B9-649F-4170-A534-359E6A7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③ 真实 FITS 分层背景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7DA4C4D-1BA2-4C8B-94C2-9D13593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低纹理/高噪声/边缘/拥挤/特殊值域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E329BF6-D2CB-4008-BF39-3EC7366F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D04444-511F-499E-96ED-3F9A7BC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④ 2×2 空间分区留出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0A1FD3D-9068-43FC-94CA-6F36726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候选回收与质量回收分开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D80BBB4-92D1-43E0-9E05-E651C55B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合成正负控制结果（正样本 = 已知源回收，阴性 = 特征邻域泄漏）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26168C1-8B4F-43C6-AC73-669D1A3C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场景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591F9BD-B834-4929-B6A4-FED1794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918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候选层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5236F8-8C77-4D46-A999-58356DD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18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质量层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7EE0C50-BD6A-4E1B-8A04-A4D00EC2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说明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A26ADDA-844A-4988-8207-4DF01CB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ACEA1DD-DC72-4138-B5FA-02820B1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93AA68D-6575-4A8C-B6CE-72C90C6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孤立 FWHM=2 源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DC4FD7C-0598-4EB3-8428-FEDB00F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576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6412CD7-22F7-4346-9D7C-AA674AF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98FD42D-42A4-4205-817A-13E1B673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5760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标准紧凑源可回收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D5ED20F-46B6-4E17-9DB5-773ED4B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95928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BF9E875-6386-4C3E-853C-C1C1867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弱源（峰值 28 ADU）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0A84AC4-C938-43EB-8E88-AEBA3CA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416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7D6A90-87A6-45FF-9877-DB18EF1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16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0/1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8195C7-B7F6-4DC6-A51A-5E895E8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41648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召回与质量门槛发生分离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102A144-681A-459A-BBE9-1547FD9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9976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6648FBF-4341-4536-8403-480722B5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2569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双源 3px / 6px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B1F47A4-F72A-4E19-82FB-619B870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256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1/2, 2/2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2BE4D74-528B-4883-8C03-5CFBCDF1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56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1/2, 2/2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AE2AC1C-809C-4850-B17A-136CD66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425696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3px 合并，6px 可分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192EC87-59A1-4960-B430-7DA480E6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64024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22FD0F0-5E9A-4493-8192-EC290C7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单像素尖峰阴性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7CB6CD6-9A66-4448-8D25-4FDC364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80974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 泄漏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872F8B4-99E8-4074-BC29-ED18F91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974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 泄漏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93667BA-E243-42FC-9B19-1371897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809744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进入宽筛但被 PSF 支持拒绝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CF2CF64-1FAF-4F9F-86EC-589CC6E2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48072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65276B9-4D06-4C1B-81BE-29D2A69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掩膜/边缘/饱和源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7A85014-9033-466A-87BD-35E61DE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19379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各 1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4C4FC4A-C96D-488C-9001-3EABCB4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379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各 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0AE8598E-3996-4B62-9775-4069ED68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193792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保留审计候选，不进质量层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8BA00A49-831C-46A7-9BB8-6D7D20B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1CD1523-F63E-4FBD-B91A-4FBEC502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长线阴性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1EA2711-EA31-4104-993B-6368753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57784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16 泄漏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D8CEF910-AA37-4599-A783-378F9CD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7784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 泄漏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5DCD23F-94B7-4094-A748-A7EF969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57784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线状结构必须独立审计</a:t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052C48DF-A098-4C70-BE5E-E4A99A7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424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2A1A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390CD6-49AA-4EF6-BA11-EE49BF6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350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💡 关键发现：边缘、拥挤和特殊值域以不同方式损失质量层回收，不能用一个全图阈值概括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A583C56C-DBA6-45BC-9B5B-8098DA6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5508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等强双源控制：3px 间距 56/128 ADU 召回 0.5/0.5；5px、6px 在 128 ADU 下均为 1.0/1.0，三种提案模式结果一致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29289C8A-4759-483C-88DF-DBE83D5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12/19</a:t>
            </a:r>
          </a:p>
        </p:txBody>
      </p:sp>
    </p:spTree>
    <p:extLst>
      <p:ext uri="{BB962C8B-B14F-4D97-AF65-F5344CB8AC3E}">
        <p14:creationId xmlns:p14="http://schemas.microsoft.com/office/powerpoint/2010/main" val="11216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E3F60A-7EAC-4412-B979-24BF9E69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385609C-B580-49AF-9258-E471451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3CC8A6-3FD3-428A-A3FB-CD399B1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7A38A5E-D9F9-4DE9-8492-9C9B6F41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创新分析：合成大图与研究工具集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F00AA08-9107-407A-9CA4-30D33EE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创新性 +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D12CDF-D8BF-48CB-98E4-587F6205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9E01B3A-9E12-4783-8AC8-C8129B0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88E5C15-CD73-44B4-BB52-18ADE62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15帧注册合成大图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9D7725-5468-43AE-9123-4375BED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先用稳定星场估计帧间平移，再做统一坐标下的稳健 ADU 融合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输出覆盖范围和离散度，保留真实观测值，不用生成式内容填充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 张图可分别查看，也可导出 PNG / NPY / JSON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当前是平移注册，用于研究和复核，不宣称完整 WCS 镶嵌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26FFAF9-55D3-4FB2-A7C9-2AD30B8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D8665F-5417-4D84-A3DC-595EBE8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完整证据导出体系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EDB7B1-D4AB-48F4-9C8D-A87D805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15帧关系/轨迹证据导出器 + 线状与点源运动分层证据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逐帧时间关系 CSV + 像素配准稳定性报告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辅助姿态摘要 + 稳健背景统计 + 运动轨迹证据图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遥测轨迹可视化（J2000/WGS84 位置相对首帧投影）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ACE55F2-2796-4880-A484-ADC8441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1106424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BB21B6-FDBC-4864-A360-D7A39254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研究工具集（可复核审计命令）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B1F6B6F-8B93-46F6-A3A5-D4D2A8F3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rst19-feature-sequence            真实15帧特征持久性审计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rst19-pair-audit                        固定坐标近邻双源审计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rst19-forced-stability                分层强制测光稳定性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rst19-feature-parameter-sensitivity   参数敏感性审计（阈值/SNR扫描）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rst19-feature-hard-negative       高 SNR 落选候选系统化审计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rst19-feature-gate-route            质量门路径逐行审计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rst19-feature-flag-interaction       旗标条件交互审计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rst19-feature-class-context        类别内经验分位审计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rst19-feature-gate-margin          质量门越界余量审计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rst19-temporal-codes                 关注坐标逐帧原始值表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E6CE00-ACF8-4585-92B4-3EBC8E3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13/19</a:t>
            </a:r>
          </a:p>
        </p:txBody>
      </p:sp>
    </p:spTree>
    <p:extLst>
      <p:ext uri="{BB962C8B-B14F-4D97-AF65-F5344CB8AC3E}">
        <p14:creationId xmlns:p14="http://schemas.microsoft.com/office/powerpoint/2010/main" val="3401309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C073329-B42B-4003-AF5C-021E50E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7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740182-8CFF-4C58-B816-B1CA32E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D186DC0-3728-4557-B025-96BE8CF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6111B4-2F16-46CD-8185-481B26B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0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018"/>
                </a:solidFill>
                <a:latin typeface="Arial"/>
                <a:ea typeface="Arial"/>
                <a:cs typeface="Arial"/>
              </a:rPr>
              <a:t>09</a:t>
            </a:r>
            <a:endParaRPr sz="1950" b="1">
              <a:solidFill>
                <a:srgbClr val="0710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6E1EC0-63A4-4AA1-8A4F-023E94E1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2F5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5F8"/>
                </a:solidFill>
                <a:latin typeface="Arial"/>
                <a:ea typeface="Arial"/>
                <a:cs typeface="Arial"/>
              </a:rPr>
              <a:t>图例与真实结果：从单图到多帧轨迹</a:t>
            </a:r>
            <a:endParaRPr sz="2550" b="1">
              <a:solidFill>
                <a:srgbClr val="F2F5F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A1DB65-54E0-4542-9A96-53D8F05D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9CA8B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CA8B8"/>
                </a:solidFill>
                <a:latin typeface="Arial"/>
                <a:ea typeface="Arial"/>
                <a:cs typeface="Arial"/>
              </a:rPr>
              <a:t>先看原始观测，再看候选标记和多帧运动证据</a:t>
            </a:r>
            <a:endParaRPr sz="1350">
              <a:solidFill>
                <a:srgbClr val="9CA8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87805BE-19FC-4ECA-A80D-D854CDE9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68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D"/>
          </a:solidFill>
          <a:ln xmlns:a="http://schemas.openxmlformats.org/drawingml/2006/main" w="0">
            <a:noFill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A5E8B18-A565-4266-B225-56A20F2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3817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8B7D5"/>
            </a:solidFill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1A0232E-DF94-42FA-9AA3-6B49E8A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C7E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C7E6"/>
                </a:solidFill>
                <a:latin typeface="Arial"/>
                <a:ea typeface="Arial"/>
                <a:cs typeface="Arial"/>
              </a:rPr>
              <a:t>图一：15帧大图（原始观测）</a:t>
            </a:r>
            <a:endParaRPr sz="1650" b="1">
              <a:solidFill>
                <a:srgbClr val="08C7E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05a36c87e46cb"/>
          <a:srcRect xmlns:a="http://schemas.openxmlformats.org/drawingml/2006/main" l="213" t="0" r="2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4025" y="1924050"/>
            <a:ext cx="403860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EABAA4E-9E4B-42FD-9F29-D8AEA8F3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81125"/>
            <a:ext cx="44005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5B6894-28D0-4FE7-A26B-6FE1D72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24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69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9CFF"/>
                </a:solidFill>
                <a:latin typeface="Arial"/>
                <a:ea typeface="Arial"/>
                <a:cs typeface="Arial"/>
              </a:rPr>
              <a:t>逐帧轨迹证据</a:t>
            </a:r>
            <a:endParaRPr sz="1650" b="1">
              <a:solidFill>
                <a:srgbClr val="B69C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aa443e8b7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3725" y="1924050"/>
            <a:ext cx="2413000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E3628FE-0D0F-42FB-B214-CCF5A5A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38625"/>
            <a:ext cx="4400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0D89A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5C38E69-F97A-49DF-85AB-5C1A3E9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D89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D89A"/>
                </a:solidFill>
                <a:latin typeface="Arial"/>
                <a:ea typeface="Arial"/>
                <a:cs typeface="Arial"/>
              </a:rPr>
              <a:t>这页怎么读</a:t>
            </a:r>
            <a:endParaRPr sz="1575" b="1">
              <a:solidFill>
                <a:srgbClr val="00D8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CAB9B2-9D9B-49E7-8105-494D265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943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左图：15 帧大图，先观察整体星场和异常亮线的空间分布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右上：同一目标在不同帧中的位置变化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运动方向和速度来自多帧关联，不由单帧亮线直接猜测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合成图用于空间分布和复核，不替代绝对测光或完整 WCS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C058FA1-ED3B-4299-A9F6-663E633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842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73809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38096"/>
                </a:solidFill>
                <a:latin typeface="Arial"/>
                <a:ea typeface="Arial"/>
                <a:cs typeface="Arial"/>
              </a:rPr>
              <a:t>14/19</a:t>
            </a:r>
            <a:endParaRPr sz="1050">
              <a:solidFill>
                <a:srgbClr val="7380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9872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92D13-8939-44F6-90F5-87FF31E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EB7E5-D5F9-42EF-B8B2-4D96990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B9C85-FE23-4172-A53B-097C99A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20AF6-0622-408E-9B80-054E655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0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01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C9D5-E52C-4277-93D1-88632FE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2F5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5F8"/>
                </a:solidFill>
                <a:latin typeface="Arial"/>
                <a:ea typeface="Arial"/>
                <a:cs typeface="Arial"/>
              </a:rPr>
              <a:t>图例：单图识别、单帧动目标与多帧轨迹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7B05C-BE75-43C2-9533-BEC1FE3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9CA8B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CA8B8"/>
                </a:solidFill>
                <a:latin typeface="Arial"/>
                <a:ea typeface="Arial"/>
                <a:cs typeface="Arial"/>
              </a:rPr>
              <a:t>同一套数据输出四类不同证据，不能把它们混成一个“星点数量”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6E90-9236-4851-9983-30CDEF5E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68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1EFC-637D-4484-8F73-58AEF4A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334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8B7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8F16D-2B84-4A7B-BAF1-488921FF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B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B7D5"/>
                </a:solidFill>
                <a:latin typeface="Arial"/>
                <a:ea typeface="Arial"/>
                <a:cs typeface="Arial"/>
              </a:rPr>
              <a:t>单图分析：全图叠加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cd6b3ea2c46fd"/>
          <a:stretch xmlns:a="http://schemas.openxmlformats.org/drawingml/2006/main"/>
        </p:blipFill>
        <p:spPr>
          <a:xfrm xmlns:a="http://schemas.openxmlformats.org/drawingml/2006/main">
            <a:off x="1118334" y="1895475"/>
            <a:ext cx="1525707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FCF1D-1D42-46EE-AB15-8419C37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62150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青色点：点源候选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橙色线/圈：单帧线状候选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用途：查看一张图里有哪些可疑结构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A2B66-FDDC-44B0-B121-5B02651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334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B69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23DEE-4339-4B94-A5F7-0ED9B232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144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6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9CFF"/>
                </a:solidFill>
                <a:latin typeface="Arial"/>
                <a:ea typeface="Arial"/>
                <a:cs typeface="Arial"/>
              </a:rPr>
              <a:t>多图运动轨迹：逐帧关联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b858c242e4eba"/>
          <a:stretch xmlns:a="http://schemas.openxmlformats.org/drawingml/2006/main"/>
        </p:blipFill>
        <p:spPr>
          <a:xfrm xmlns:a="http://schemas.openxmlformats.org/drawingml/2006/main">
            <a:off x="6847700" y="1895475"/>
            <a:ext cx="1535076" cy="1524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D47E9-7A16-4BD4-B2BE-71F7888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粉色：多帧关联轨迹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橙色：线状候选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用途：比较不同目标在多帧中的位置变化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3EB28-4253-4639-BCE3-51CC4F3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F5A62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527D5-F31F-431A-A6A2-C4B85B0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单帧动目标：先报候选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b759a0bf349f5"/>
          <a:stretch xmlns:a="http://schemas.openxmlformats.org/drawingml/2006/main"/>
        </p:blipFill>
        <p:spPr>
          <a:xfrm xmlns:a="http://schemas.openxmlformats.org/drawingml/2006/main">
            <a:off x="762000" y="4535861"/>
            <a:ext cx="2238375" cy="105335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33DCD-5C0D-4026-82DC-9DA0919B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2381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橙色标记：单帧线状候选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只能说明形态异常，不能单独证明运动方向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18FA3-02A8-4596-99A9-73448F3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0D8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1C152-4B02-4965-AC5E-5F44397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909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D8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D89A"/>
                </a:solidFill>
                <a:latin typeface="Arial"/>
                <a:ea typeface="Arial"/>
                <a:cs typeface="Arial"/>
              </a:rPr>
              <a:t>点状运动：多帧拟合方向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2f25ed5654f09"/>
          <a:stretch xmlns:a="http://schemas.openxmlformats.org/drawingml/2006/main"/>
        </p:blipFill>
        <p:spPr>
          <a:xfrm xmlns:a="http://schemas.openxmlformats.org/drawingml/2006/main">
            <a:off x="6496050" y="4645083"/>
            <a:ext cx="2238375" cy="83490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7DE01-FE40-455B-8755-8644A81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8650"/>
            <a:ext cx="2381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黄色折线：点状目标的多帧位置拟合</a:t>
            </a: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输出：位移、图像平面方向和速度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90F52-704F-495E-9F3F-E7F9A92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680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11B2A"/>
          </a:solidFill>
          <a:ln xmlns:a="http://schemas.openxmlformats.org/drawingml/2006/main" w="9525">
            <a:solidFill>
              <a:srgbClr val="26374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25F12-135C-49F8-AA3D-2C939C02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7E1E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7E1ED"/>
                </a:solidFill>
                <a:latin typeface="Arial"/>
                <a:ea typeface="Arial"/>
                <a:cs typeface="Arial"/>
              </a:rPr>
              <a:t>图例总规则：青色=点源候选；橙色=单帧线状候选；粉色=多帧关联轨迹；黄色=点状运动拟合。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FA490-6314-4193-A6D1-83E83F8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842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73809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38096"/>
                </a:solidFill>
                <a:latin typeface="Arial"/>
                <a:ea typeface="Arial"/>
                <a:cs typeface="Arial"/>
              </a:rPr>
              <a:t>15/19</a:t>
            </a:r>
          </a:p>
        </p:txBody>
      </p:sp>
    </p:spTree>
    <p:extLst>
      <p:ext uri="{BB962C8B-B14F-4D97-AF65-F5344CB8AC3E}">
        <p14:creationId xmlns:p14="http://schemas.microsoft.com/office/powerpoint/2010/main" val="9491509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E66D1C-BFC4-407E-83C2-F9D5111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15CEE03-B139-4209-84C9-486195DB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67AE54-4E7B-4C9F-8DDB-F853813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6B0411-7ED9-4F83-8E3D-5D232AF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关键消融实验与核心发现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91B482-B43C-4DB6-BDCE-D53C5EB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3938B6-B708-46A4-BEAD-36E4995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50CA9E1-28E7-46C5-84FC-BD389DB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7F9268-BE32-4B70-AC86-746E41C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提案模式消融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33E7B8-36FB-4E22-A029-7A6DE03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不同提案方式的比较重点不是“谁找得更多”，而是：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宽筛是否保留弱源和异常形态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细筛是否能排除噪声、负值编码和伪峰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近邻源是否需要双源模型复核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结论按每帧独立统计，不能把 15 帧星点数量简单相加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能被发现 ≠ 已确认是独立恒星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3053C6-8A31-45B3-A415-64BA7801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982121-A80C-49BD-B2C7-B7CEABC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min_distance 消融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A85228-9A9F-4421-856B-73B7A5B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4px: 主+副峰均保留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5px: 仍均保留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6px: 才只剩主峰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8px: 更强抑制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→ NMS 参数不是物理分辨率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→ 调大只改变候选账本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CC5B481-BA09-410E-9D99-A3F524C3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2098F55-6F1E-4DDB-874C-1EB3FE8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跨帧持续性分析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F5B877-0679-4311-90D3-994FD57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多帧结果可以直接讨论运动证据：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是否连续出现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是否相对稳定星场发生位移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是否能拟合图像平面方向和速度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但“持续出现”仍不等于恒星身份；身份确认需要星表、WCS 或轨道数据支持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E707FCF-64E9-4EF4-A849-E7C9A86F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核心发现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847E179-AD83-4AEB-A536-14FAFD5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D2AE23-EC1C-485D-9939-7D3F37E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1B89B8-7E47-429C-BFEE-6B09C4CC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022A00-F2F7-4BDD-B656-45BC7A7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0916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源级 SNR 只表示当前噪声模型下的显著性，不能替代 PSF / 数据范围 / 跨帧 / 星表证据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D998D83-E59B-4120-B8C5-4B85B7B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A37F3D-0833-48D3-879C-AA92EFA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CDA0535-9C7D-417F-A428-B60D22E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固定异常像素应进入序列级审计，不能盲目屏蔽所有负值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268CB1B-F3AF-42A1-B9C9-E43DD81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C1022-73EA-4044-B71E-E5601E1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E0BB864-C681-4990-B459-C6FE97A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25780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真实背景分层注入显示：边缘、拥挤和特殊值域以不同方式损失质量层回收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6ED14AC-F3B8-493C-9228-BEB6476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F206391-9339-437A-8634-ECD0B77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E352464-9AF4-4DE9-9FCA-906C7FE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3212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"亮"、"重复出现"、"符合二维点扩散函数" 是三条不同证据，不能相互替代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2CD84BD-6286-4910-894B-4CB43E01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90CD462-D3CB-4D09-AB65-C633714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B1C28E-8A5E-4A0F-B450-9689396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0644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高 SNR 不能替代线状结构审计；持续出现不能替代点源形状和值域证据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9B2536EF-43F0-441A-93BA-9C50D45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89701D-469A-472F-9137-E3DEA47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6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81956A6-414E-4E8A-91FB-2BD7BFB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8076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局部模板可得率和留出残差比 '相关度变好' 更能揭示当前限制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F66C3EFB-4AB6-4471-B66E-964D809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B49F124-C80B-4678-9D0C-F62E74F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7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8FBE6C8-5DAF-4000-A941-02580FA7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5508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拥挤源的主要瓶颈是混合/去混叠，不是简单的距离阈值问题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FCBE446-29C9-4D75-9CD3-2CFA63A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16/19</a:t>
            </a:r>
          </a:p>
        </p:txBody>
      </p:sp>
    </p:spTree>
    <p:extLst>
      <p:ext uri="{BB962C8B-B14F-4D97-AF65-F5344CB8AC3E}">
        <p14:creationId xmlns:p14="http://schemas.microsoft.com/office/powerpoint/2010/main" val="13431678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93C6D-6C81-40F3-B679-2CED7C5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72CCF66-B612-4BCF-8D0F-F93695A8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5FD92C-CA03-4886-88F9-B631D7D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BE956A-F72B-457C-81B6-5A01D986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工程实现与性能优化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11E088-2410-4108-8206-B74FD6C0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实用性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4E3719-1988-474B-93AA-AF07862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3CC501-CA97-4437-8C59-9D535A3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B66FC52-0191-4644-9121-E6E4B004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技术栈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BBE51C-E6A5-4286-9D70-3A16F43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不同提案方式的比较重点不是“谁找得更多”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而是三件事：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宽筛是否保留弱源和异常形态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细筛是否能排除噪声、负值编码和伪峰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近邻源是否需要双源模型复核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结论按每帧独立统计，不能把 15 帧星点数量简单相加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能被发现 ≠ 已确认是独立恒星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AD651BA-0D32-4D6B-937F-110E0E93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F5AD99-B81A-4AD2-90C5-83D8ABD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性能优化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4BFC53-1C0A-4B6A-B16F-5935056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数据路径：用 float32 中间阵列，减少内存带宽压力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并行处理：15 帧可并行，worker 数量可调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速度对比：同一组 15 帧测试由 108 s 降到 67 s，再到 57 s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口径说明：以上时间只用于比较优化前后，不代表精度指标；测试时保持机器、缓存和参数一致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结果留痕：配准使用有限工作集提速，但逐帧结果仍单独保存并审计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E8D42EC-06B2-44D0-8292-2926440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5A58879-E3CE-48A8-9E44-177770E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缓存、进度与质量保证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D65D0A-AC2A-4FB8-A1D4-70B76D7A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缓存管理：运行中清理不会被旧任务重新生成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版本递增：旧结果不会冒充新口径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进度同步：状态栏、参数区和证据卡保持一致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帧令牌校验：切帧后丢弃旧任务事件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线程安全：后台进度统一回到 Tk 主线程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长线预检：明显长轨迹可以提前看到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清理保护：不误删正在使用的数据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FA37111-B03A-425D-BB2C-4EEA14E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17/19</a:t>
            </a:r>
          </a:p>
        </p:txBody>
      </p:sp>
    </p:spTree>
    <p:extLst>
      <p:ext uri="{BB962C8B-B14F-4D97-AF65-F5344CB8AC3E}">
        <p14:creationId xmlns:p14="http://schemas.microsoft.com/office/powerpoint/2010/main" val="1819258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7EDFE5-8BA7-410A-B23F-3DF1B487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FE7F961-08BD-4552-83DE-1D8A1A9B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DFDC5C-2AF9-489C-AE0A-B799227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1B3EE5-E795-4D6F-867C-E0D3C6F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总结与核心贡献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80FABE-46F9-4A74-8590-538F8F82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63B421-D097-4BCF-8554-95B4C6B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60B65F-7D96-4AA2-AD23-C5D80E5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🏗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E48460-2DB1-4C45-9825-90321C4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完整的三阶段流水线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94A2524-9A02-48C3-AB2A-E5EE3C5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宽筛—细筛—时序确认</a:t>
            </a:r>
            <a:br/>
            <a:r>
              <a:t>每层独立证据，不相互替代</a:t>
            </a:r>
            <a:br/>
            <a:r>
              <a:t>候选 ≠ 真值，分层输出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8B413C-703C-4808-8D16-ACCF10E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C0EF36B-B32D-462D-A00F-C00D952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08760"/>
            <a:ext cx="4572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方正仿宋_GBK"/>
                <a:ea typeface="方正仿宋_GBK"/>
                <a:cs typeface="方正仿宋_GBK"/>
              </a:rPr>
              <a:t>🔍</a:t>
            </a:r>
            <a:endParaRPr>
              <a:latin typeface="方正仿宋_GBK"/>
              <a:ea typeface="方正仿宋_GBK"/>
              <a:cs typeface="方正仿宋_GBK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8B144C-7305-460E-911E-64048F7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多尺度候选提案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6F70CA-2505-48FA-8990-3D9A2E6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Gaussian + DoG hybrid 并集</a:t>
            </a:r>
            <a:br/>
            <a:r>
              <a:t>覆盖不同空间尺度</a:t>
            </a:r>
            <a:br/>
            <a:r>
              <a:t>文献支撑的稳健方法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F078C31-0A46-43DA-8D92-5984575A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1D9CC2-2DCE-4C0D-933B-50EA1C8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0876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C2F276-2303-46F7-ACF8-F093564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严格的点源质量体系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9CF2EB3-FCA0-4C18-88DD-A53FF83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三种 SNR 分离测量</a:t>
            </a:r>
            <a:br/>
            <a:r>
              <a:t>PSF/BIC 近邻去混叠</a:t>
            </a:r>
            <a:br/>
            <a:r>
              <a:t>多维门控 + 数据有效性审计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F7FC918-56BC-49F8-BAA2-BD6905D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A5F43A-723C-408A-8A2C-392C820A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⏱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BF115B-C02F-435A-AE94-499A60B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15帧时序确认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A31A18C-E926-44BB-A9B0-44944C2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Hungarian 全局一对一关联</a:t>
            </a:r>
            <a:br/>
            <a:r>
              <a:t>静态/瞬态/运动三层分离</a:t>
            </a:r>
            <a:br/>
            <a:r>
              <a:t>速度不确定度量化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37F8DD1-5AC2-4636-9AD9-E283867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13732F-25F8-4059-B109-3370A8D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📊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7BBFE54-61DB-476B-86F9-3661BC8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多维创新分析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6F72F8A-ACBD-4130-BE22-02F4EF4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4个以上创新有效分析数据</a:t>
            </a:r>
            <a:br/>
            <a:r>
              <a:t>可探测性/光度/持久性/遥测</a:t>
            </a:r>
            <a:br/>
            <a:r>
              <a:t>全部标注条件性边界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C8CF3E0-C040-4192-B9C5-2A4B7708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03B875-6BD8-42E2-A8DC-D03E3B3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🔬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05BFBD6-EAF9-481C-8934-329F7F2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可复核的证据链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A5F75C-2D79-4D91-92E4-2FBE01D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纯 Python 可离线运行</a:t>
            </a:r>
            <a:br/>
            <a:r>
              <a:t>每一步都有审计轨迹</a:t>
            </a:r>
            <a:br/>
            <a:r>
              <a:t>10+ 研究工具命令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1045DAE-8D6A-4FFA-AC9C-C57ED88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0"/>
            <a:ext cx="1106424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2A1A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6E7BAF-F488-4D15-AED1-390183A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99632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评分对标：基础 60 分全覆盖 + 创新 30 分 4 项以上 + PPT 5 分架构清晰 + 答辩 5 分充分准备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8C226BF-720B-46CC-8F7F-48DB4A5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18/19</a:t>
            </a:r>
          </a:p>
        </p:txBody>
      </p:sp>
    </p:spTree>
    <p:extLst>
      <p:ext uri="{BB962C8B-B14F-4D97-AF65-F5344CB8AC3E}">
        <p14:creationId xmlns:p14="http://schemas.microsoft.com/office/powerpoint/2010/main" val="1759233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C60BD0-7BA6-4CEA-AF1F-D651F40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85E9BA-D6FE-4EDE-A3BB-A54ECB9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2103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51CCA17-5BEF-48DA-8112-3F200F0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0"/>
            <a:ext cx="12191695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感谢评审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3C51E36-B77B-4582-A718-8FE054D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8328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基于局部噪声与 PSF 证据链的天基星图识别与多帧目标分析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CD0854-7E55-41CA-8974-9F133C4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23360"/>
            <a:ext cx="30175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22BAB0-1714-48D4-B1BA-D6CCD316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项目仓库：rst19-sol (GitHub)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523CDA-A3C8-4EE9-B8DE-C15017B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34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数据来源：开运一号卫星 · 15帧 4096×4096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418FF3-5619-43F6-999E-E34E345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纯 Python · 可离线复核 · 完整证据链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48FE98-A69B-483E-AE0E-5BCCA44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Q &amp; 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56CFE4-0F6C-4A24-A44A-E317051C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19/19</a:t>
            </a:r>
          </a:p>
        </p:txBody>
      </p:sp>
    </p:spTree>
    <p:extLst>
      <p:ext uri="{BB962C8B-B14F-4D97-AF65-F5344CB8AC3E}">
        <p14:creationId xmlns:p14="http://schemas.microsoft.com/office/powerpoint/2010/main" val="14125403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2026-09-16T19:15:56.9790000Z</dcterms:created>
  <dcterms:modified xsi:type="dcterms:W3CDTF">2026-09-16T19:15:56.9790000Z</dcterms:modified>
</coreProperties>
</file>