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C2ECD-42E1-42D8-AF6A-4DA5D1745C25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BD427-8BEE-41E6-AD5D-25820E3A2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0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本页开场：我们不是只展示一个检测器，而是展示一条从原始 </a:t>
            </a:r>
            <a:r>
              <a:rPr lang="en-US" altLang="zh-CN"/>
              <a:t>FITS</a:t>
            </a:r>
            <a:r>
              <a:rPr lang="zh-CN" altLang="en-US"/>
              <a:t>、候选发现、质量筛选、</a:t>
            </a:r>
            <a:r>
              <a:rPr lang="en-US" altLang="zh-CN"/>
              <a:t>Gaia </a:t>
            </a:r>
            <a:r>
              <a:rPr lang="zh-CN" altLang="en-US"/>
              <a:t>测光到 </a:t>
            </a:r>
            <a:r>
              <a:rPr lang="en-US" altLang="zh-CN"/>
              <a:t>15 </a:t>
            </a:r>
            <a:r>
              <a:rPr lang="zh-CN" altLang="en-US"/>
              <a:t>帧运动证据的可审计链。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893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评分口径：基础赛项 </a:t>
            </a:r>
            <a:r>
              <a:rPr lang="en-US" altLang="zh-CN"/>
              <a:t>60 </a:t>
            </a:r>
            <a:r>
              <a:rPr lang="zh-CN" altLang="en-US"/>
              <a:t>分、创新赛项 </a:t>
            </a:r>
            <a:r>
              <a:rPr lang="en-US" altLang="zh-CN"/>
              <a:t>30 </a:t>
            </a:r>
            <a:r>
              <a:rPr lang="zh-CN" altLang="en-US"/>
              <a:t>分；本页将用户补充的内容架构 </a:t>
            </a:r>
            <a:r>
              <a:rPr lang="en-US" altLang="zh-CN"/>
              <a:t>5 </a:t>
            </a:r>
            <a:r>
              <a:rPr lang="zh-CN" altLang="en-US"/>
              <a:t>分、答辩 </a:t>
            </a:r>
            <a:r>
              <a:rPr lang="en-US" altLang="zh-CN"/>
              <a:t>5 </a:t>
            </a:r>
            <a:r>
              <a:rPr lang="zh-CN" altLang="en-US"/>
              <a:t>分一并纳入 </a:t>
            </a:r>
            <a:r>
              <a:rPr lang="en-US" altLang="zh-CN"/>
              <a:t>100 </a:t>
            </a:r>
            <a:r>
              <a:rPr lang="zh-CN" altLang="en-US"/>
              <a:t>分答辩叙事。现场不要只讲“算法很复杂”，要讲每一层证据回答了哪个评分点。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99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 </a:t>
            </a:r>
            <a:r>
              <a:rPr lang="en-US" altLang="zh-CN"/>
              <a:t>15 </a:t>
            </a:r>
            <a:r>
              <a:rPr lang="zh-CN" altLang="en-US"/>
              <a:t>帧关系：不是逐张独立图片识别，而是同一连续观测。序列中的稳定星场用于估计全局平移；只有在注册坐标中剩下的位移或线状残差，才进入运动目标候选。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025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这一页是整套项目的逻辑骨架。宽筛层追求召回，细筛层审计是否像点源，星表层回答是否能进行外部标定，时序层回答是否存在相对运动。任何一层都不应直接被称作物理真值。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50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回答“为什么别人测 </a:t>
            </a:r>
            <a:r>
              <a:rPr lang="en-US" altLang="zh-CN"/>
              <a:t>18000</a:t>
            </a:r>
            <a:r>
              <a:rPr lang="zh-CN" altLang="en-US"/>
              <a:t>、我们有 </a:t>
            </a:r>
            <a:r>
              <a:rPr lang="en-US" altLang="zh-CN"/>
              <a:t>84594”</a:t>
            </a:r>
            <a:r>
              <a:rPr lang="zh-CN" altLang="en-US"/>
              <a:t>：</a:t>
            </a:r>
            <a:r>
              <a:rPr lang="en-US" altLang="zh-CN"/>
              <a:t>84594 </a:t>
            </a:r>
            <a:r>
              <a:rPr lang="zh-CN" altLang="en-US"/>
              <a:t>是宽筛候选，</a:t>
            </a:r>
            <a:r>
              <a:rPr lang="en-US" altLang="zh-CN"/>
              <a:t>29260 </a:t>
            </a:r>
            <a:r>
              <a:rPr lang="zh-CN" altLang="en-US"/>
              <a:t>是质量层；两者都不是逐星真值。当前程序保留候选和拒绝 </a:t>
            </a:r>
            <a:r>
              <a:rPr lang="en-US" altLang="zh-CN"/>
              <a:t>flags</a:t>
            </a:r>
            <a:r>
              <a:rPr lang="zh-CN" altLang="en-US"/>
              <a:t>，方便把不同口径对齐比较。宽筛是为了不漏暗星，细筛是为了阻止尖峰、线段、异常码和拥挤峰直接进入恒星计数。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91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现场回答绝对星等：程序现在可以做 </a:t>
            </a:r>
            <a:r>
              <a:rPr lang="en-US" altLang="zh-CN"/>
              <a:t>m_inst</a:t>
            </a:r>
            <a:r>
              <a:rPr lang="zh-CN" altLang="en-US"/>
              <a:t>，并通过 </a:t>
            </a:r>
            <a:r>
              <a:rPr lang="en-US" altLang="zh-CN"/>
              <a:t>WCS + Gaia DR3 </a:t>
            </a:r>
            <a:r>
              <a:rPr lang="zh-CN" altLang="en-US"/>
              <a:t>做经验 </a:t>
            </a:r>
            <a:r>
              <a:rPr lang="en-US" altLang="zh-CN"/>
              <a:t>m_G </a:t>
            </a:r>
            <a:r>
              <a:rPr lang="zh-CN" altLang="en-US"/>
              <a:t>表观标定；严格绝对星等 </a:t>
            </a:r>
            <a:r>
              <a:rPr lang="en-US" altLang="zh-CN"/>
              <a:t>M_G </a:t>
            </a:r>
            <a:r>
              <a:rPr lang="zh-CN" altLang="en-US"/>
              <a:t>需要 </a:t>
            </a:r>
            <a:r>
              <a:rPr lang="en-US" altLang="zh-CN"/>
              <a:t>m_G</a:t>
            </a:r>
            <a:r>
              <a:rPr lang="zh-CN" altLang="en-US"/>
              <a:t>、距离 </a:t>
            </a:r>
            <a:r>
              <a:rPr lang="en-US" altLang="zh-CN"/>
              <a:t>d </a:t>
            </a:r>
            <a:r>
              <a:rPr lang="zh-CN" altLang="en-US"/>
              <a:t>和同波段消光 </a:t>
            </a:r>
            <a:r>
              <a:rPr lang="en-US" altLang="zh-CN"/>
              <a:t>A_G</a:t>
            </a:r>
            <a:r>
              <a:rPr lang="zh-CN" altLang="en-US"/>
              <a:t>，三者缺一不可。当前软件宁可显示“不可用</a:t>
            </a:r>
            <a:r>
              <a:rPr lang="en-US" altLang="zh-CN"/>
              <a:t>/</a:t>
            </a:r>
            <a:r>
              <a:rPr lang="zh-CN" altLang="en-US"/>
              <a:t>未强报”，也不把 </a:t>
            </a:r>
            <a:r>
              <a:rPr lang="en-US" altLang="zh-CN"/>
              <a:t>Gaia </a:t>
            </a:r>
            <a:r>
              <a:rPr lang="zh-CN" altLang="en-US"/>
              <a:t>模型或未匹配弱源冒充绝对真值。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0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运动目标的答辩重点是“先建稳定参考系”。</a:t>
            </a:r>
            <a:r>
              <a:rPr lang="en-US" altLang="zh-CN"/>
              <a:t>15 </a:t>
            </a:r>
            <a:r>
              <a:rPr lang="zh-CN" altLang="en-US"/>
              <a:t>帧中先用高质量星场估计共同平移，再在配准坐标里关联轨迹。当前点源严格 </a:t>
            </a:r>
            <a:r>
              <a:rPr lang="en-US" altLang="zh-CN"/>
              <a:t>moving </a:t>
            </a:r>
            <a:r>
              <a:rPr lang="zh-CN" altLang="en-US"/>
              <a:t>为 </a:t>
            </a:r>
            <a:r>
              <a:rPr lang="en-US" altLang="zh-CN"/>
              <a:t>0</a:t>
            </a:r>
            <a:r>
              <a:rPr lang="zh-CN" altLang="en-US"/>
              <a:t>；线状分支发现一条 </a:t>
            </a:r>
            <a:r>
              <a:rPr lang="en-US" altLang="zh-CN"/>
              <a:t>F09–F15 </a:t>
            </a:r>
            <a:r>
              <a:rPr lang="zh-CN" altLang="en-US"/>
              <a:t>的连续候选，位移和拟合残差可复核，但还不能直接叫作已确认天体。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35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创新赛项建议至少展示四类数据：轨迹</a:t>
            </a:r>
            <a:r>
              <a:rPr lang="en-US" altLang="zh-CN"/>
              <a:t>/</a:t>
            </a:r>
            <a:r>
              <a:rPr lang="zh-CN" altLang="en-US"/>
              <a:t>方向、时序持久性、相对光度、条件化注入回收、</a:t>
            </a:r>
            <a:r>
              <a:rPr lang="en-US" altLang="zh-CN"/>
              <a:t>coverage/scatter</a:t>
            </a:r>
            <a:r>
              <a:rPr lang="zh-CN" altLang="en-US"/>
              <a:t>。不要说这些就是“真值”；要说它们是有来源、有计算定义、有适用边界的创新分析数据。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41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这页直接回应用户之前看到的截图：旧界面显示 </a:t>
            </a:r>
            <a:r>
              <a:rPr lang="en-US" altLang="zh-CN"/>
              <a:t>m_cal </a:t>
            </a:r>
            <a:r>
              <a:rPr lang="zh-CN" altLang="en-US"/>
              <a:t>不可用，原因是旧按钮只跑 </a:t>
            </a:r>
            <a:r>
              <a:rPr lang="en-US" altLang="zh-CN"/>
              <a:t>detection</a:t>
            </a:r>
            <a:r>
              <a:rPr lang="zh-CN" altLang="en-US"/>
              <a:t>；代码现在把 </a:t>
            </a:r>
            <a:r>
              <a:rPr lang="en-US" altLang="zh-CN"/>
              <a:t>Gaia catalog cache/online query</a:t>
            </a:r>
            <a:r>
              <a:rPr lang="zh-CN" altLang="en-US"/>
              <a:t>、自动 </a:t>
            </a:r>
            <a:r>
              <a:rPr lang="en-US" altLang="zh-CN"/>
              <a:t>plate solve</a:t>
            </a:r>
            <a:r>
              <a:rPr lang="zh-CN" altLang="en-US"/>
              <a:t>、</a:t>
            </a:r>
            <a:r>
              <a:rPr lang="en-US" altLang="zh-CN"/>
              <a:t>photometry </a:t>
            </a:r>
            <a:r>
              <a:rPr lang="zh-CN" altLang="en-US"/>
              <a:t>接进默认单帧工作流。最新首帧 </a:t>
            </a:r>
            <a:r>
              <a:rPr lang="en-US" altLang="zh-CN"/>
              <a:t>headless </a:t>
            </a:r>
            <a:r>
              <a:rPr lang="zh-CN" altLang="en-US"/>
              <a:t>证据为 </a:t>
            </a:r>
            <a:r>
              <a:rPr lang="en-US" altLang="zh-CN"/>
              <a:t>84594/29260/11721/15234</a:t>
            </a:r>
            <a:r>
              <a:rPr lang="zh-CN" altLang="en-US"/>
              <a:t>；</a:t>
            </a:r>
            <a:r>
              <a:rPr lang="en-US" altLang="zh-CN"/>
              <a:t>m_G </a:t>
            </a:r>
            <a:r>
              <a:rPr lang="zh-CN" altLang="en-US"/>
              <a:t>最暗约 </a:t>
            </a:r>
            <a:r>
              <a:rPr lang="en-US" altLang="zh-CN"/>
              <a:t>13.99 </a:t>
            </a:r>
            <a:r>
              <a:rPr lang="zh-CN" altLang="en-US"/>
              <a:t>只对已标定子集成立。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517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答辩练习要求：每个问题都按“定义</a:t>
            </a:r>
            <a:r>
              <a:rPr lang="en-US" altLang="zh-CN"/>
              <a:t>—</a:t>
            </a:r>
            <a:r>
              <a:rPr lang="zh-CN" altLang="en-US"/>
              <a:t>数字</a:t>
            </a:r>
            <a:r>
              <a:rPr lang="en-US" altLang="zh-CN"/>
              <a:t>—</a:t>
            </a:r>
            <a:r>
              <a:rPr lang="zh-CN" altLang="en-US"/>
              <a:t>证据</a:t>
            </a:r>
            <a:r>
              <a:rPr lang="en-US" altLang="zh-CN"/>
              <a:t>—</a:t>
            </a:r>
            <a:r>
              <a:rPr lang="zh-CN" altLang="en-US"/>
              <a:t>边界”回答。例如“为什么没有 </a:t>
            </a:r>
            <a:r>
              <a:rPr lang="en-US" altLang="zh-CN"/>
              <a:t>M_G”</a:t>
            </a:r>
            <a:r>
              <a:rPr lang="zh-CN" altLang="en-US"/>
              <a:t>：不是没做，而是严格 </a:t>
            </a:r>
            <a:r>
              <a:rPr lang="en-US" altLang="zh-CN"/>
              <a:t>M_G </a:t>
            </a:r>
            <a:r>
              <a:rPr lang="zh-CN" altLang="en-US"/>
              <a:t>需要距离与同波段消光；当前保留接口和失败状态，避免把不完整的模型结果包装成真值。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465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收尾不要再堆算法名。用三句话总结：单帧的星点和 </a:t>
            </a:r>
            <a:r>
              <a:rPr lang="en-US" altLang="zh-CN"/>
              <a:t>Gaia </a:t>
            </a:r>
            <a:r>
              <a:rPr lang="zh-CN" altLang="en-US"/>
              <a:t>表观星等、多帧的配准与运动证据、创新的可复核指标。最后主动说明绝对星等、相机响应、官方真值等仍需补充的证据，这会比回避限制更符合科学性评分。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D427-8BEE-41E6-AD5D-25820E3A2B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28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2126F-C9BD-58F8-A4DD-3D90DA836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20B771-4BFC-D4DE-94CB-61E7E0BEC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DFFAA-F268-A4CA-186A-A1EEF250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6561E-42BB-4931-1226-2FCFCCEF5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CFE3C-4B7A-D2BB-4BC5-E177F347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5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2758D-BDFB-EA93-A8EE-57C46140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6C0FE-15AC-4B64-0687-6AB48606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A8E9F-0942-FEA7-3430-50A27269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6A676-8A21-179B-0573-8259D271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D25FD-6F5C-0186-043D-B82CB3D0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16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70085-120C-E25B-6522-835210C2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A1341-0DA5-41CC-D19C-BCC65159F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99C7FC-B5A9-E7A0-9D5E-08AF45255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61F54B-E226-1330-A194-91341948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C3C7E-8218-9D42-30AD-615718F2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63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8FF2D-DBCB-3DB6-510C-BEE4D7E9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55BCE1-CEF0-1691-EB92-2807E6BF2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2368C8-DEC9-6CE4-8225-46450EFB7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91CFC-7D78-5C07-A6E8-744CAC46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DC7AF0-BDD0-227D-1B3D-712DE1F9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F9B8AB-C0F9-52F0-CD89-30B36B97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9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6362A-1C83-2EB8-F4D7-AA773F20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2D9353-6928-A5BF-C8A8-B5FCEEC00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15E068-46AE-ACA1-CD5E-7A667F353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1AAAC2-0668-5207-6D4A-C6FB19157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670824-3433-B9C2-3AEA-CBA9EB692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BCFC7F-DE53-79B1-1457-84A0E450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6B02AF-AC4E-1853-CD64-AFD1FADD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106623-3975-3BA6-3180-A29771CE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31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F9017-920A-AB50-5F99-374E1124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769236-63E1-94D0-BC92-4F061CD4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4D3344-12D5-D85C-EFC8-86A51176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DDF7AD-D538-C4F2-C7BC-5CB159CB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55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7D0E19-C1AF-6574-B701-C5E1171E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FDDB9F-FF36-5824-A0C6-7C14CFD2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E8E4E-8E39-6EAE-DEFB-5E9D52F4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06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B600-3D24-D072-EABE-9AB96A4C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7FF3EA-DA9F-1DC3-90BC-11A48BE0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827296-9ABE-AB2A-1989-65F5AE219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3AD854-C89B-CCD8-F3BC-60B2D2D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83B27C-8C80-2120-1E4F-CC0DEC8C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D24F40-4C4F-A425-C9BB-0AD2256A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0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4E5B5-0B12-28FB-775E-FA75B396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68F518-F5DD-E639-C281-4CDA3C000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281305-0582-5869-42CF-37C55BFF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84343B-5C9A-1AF7-3E23-67718A77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B4628B-C97F-F7BA-929D-89BB79B7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D78F9-07C9-9D55-BCE5-13695D98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46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5358D-1E55-689F-7E43-9C8A2591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EEF19-41E0-7013-5856-1186DC3C4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1DE5D-AB01-7BB5-8A7C-404B7C1EA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57A13E-A0E2-02F2-6D55-7F5569EE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3EF347-37A0-3206-E315-E0421D46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973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9B4B4A-6F2C-1E7D-DC5D-340CC4B51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F96FC4-333A-8FAE-EF3E-A8BC32E37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D9029-46CF-FD8F-C703-921D1E02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311D5-E917-8CE1-CDF2-8CBBC1B2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1B2A1D-2377-0259-549C-CF6B1C30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1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EAAE4B-0ED8-FB58-58A0-615AA396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37A324-9507-340D-6F60-244E81CB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37BD8-A71D-09D1-72F0-A0E01CE6C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700B6-BE8D-4460-8684-54E861A33ED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17AD8-ADEE-87FE-330A-8D55738A7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D7899-6B8F-246D-2C7F-32C31D559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58039-FB84-4B35-9A64-A96E16031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6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63068F-71F3-78F5-DEEB-FA49EBE836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48079E-440C-2402-44D6-2C751AB663EC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6ACCB4-F2C0-9792-DEB1-8330DDBF1CA5}"/>
              </a:ext>
            </a:extLst>
          </p:cNvPr>
          <p:cNvSpPr txBox="1"/>
          <p:nvPr/>
        </p:nvSpPr>
        <p:spPr>
          <a:xfrm>
            <a:off x="762000" y="711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 · </a:t>
            </a:r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星图识别与分析竞赛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6F12E8-23AE-CD04-8718-B0E8A26C8A8A}"/>
              </a:ext>
            </a:extLst>
          </p:cNvPr>
          <p:cNvSpPr txBox="1"/>
          <p:nvPr/>
        </p:nvSpPr>
        <p:spPr>
          <a:xfrm>
            <a:off x="762000" y="1320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9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星点、星等与运动目标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F3ECEF-5FA4-D47F-B009-39E78B82F185}"/>
              </a:ext>
            </a:extLst>
          </p:cNvPr>
          <p:cNvSpPr txBox="1"/>
          <p:nvPr/>
        </p:nvSpPr>
        <p:spPr>
          <a:xfrm>
            <a:off x="762000" y="21590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我们的做法、结果和还没解决的问题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EFB3C3-0CC6-A32B-C03F-D5201F4CE307}"/>
              </a:ext>
            </a:extLst>
          </p:cNvPr>
          <p:cNvSpPr txBox="1"/>
          <p:nvPr/>
        </p:nvSpPr>
        <p:spPr>
          <a:xfrm>
            <a:off x="787400" y="2997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一张图数星点、找最暗星；</a:t>
            </a:r>
            <a:r>
              <a:rPr lang="en-US" altLang="zh-CN" sz="16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6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张图找运动目标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34D082-71C0-42B7-B839-3FAB10D71FBC}"/>
              </a:ext>
            </a:extLst>
          </p:cNvPr>
          <p:cNvCxnSpPr/>
          <p:nvPr/>
        </p:nvCxnSpPr>
        <p:spPr>
          <a:xfrm>
            <a:off x="787400" y="3733800"/>
            <a:ext cx="54610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924A5E2-318B-377D-9B4E-4A217B9CA2D9}"/>
              </a:ext>
            </a:extLst>
          </p:cNvPr>
          <p:cNvSpPr txBox="1"/>
          <p:nvPr/>
        </p:nvSpPr>
        <p:spPr>
          <a:xfrm>
            <a:off x="787400" y="39878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开运一号天基图像 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Python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离线分析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4960913-02AC-5D74-6893-216090F4E822}"/>
              </a:ext>
            </a:extLst>
          </p:cNvPr>
          <p:cNvSpPr/>
          <p:nvPr/>
        </p:nvSpPr>
        <p:spPr>
          <a:xfrm>
            <a:off x="787400" y="4851400"/>
            <a:ext cx="1473200" cy="279400"/>
          </a:xfrm>
          <a:prstGeom prst="roundRect">
            <a:avLst/>
          </a:prstGeom>
          <a:solidFill>
            <a:srgbClr val="162A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4B6BB8-5DF6-44FB-26E4-6FC51F2331CA}"/>
              </a:ext>
            </a:extLst>
          </p:cNvPr>
          <p:cNvSpPr txBox="1"/>
          <p:nvPr/>
        </p:nvSpPr>
        <p:spPr>
          <a:xfrm>
            <a:off x="889000" y="4851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答辩设计稿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4A12462-BC33-2F85-FE84-38692DEC12D4}"/>
              </a:ext>
            </a:extLst>
          </p:cNvPr>
          <p:cNvSpPr/>
          <p:nvPr/>
        </p:nvSpPr>
        <p:spPr>
          <a:xfrm>
            <a:off x="2413000" y="4851400"/>
            <a:ext cx="1168400" cy="279400"/>
          </a:xfrm>
          <a:prstGeom prst="roundRect">
            <a:avLst/>
          </a:prstGeom>
          <a:solidFill>
            <a:srgbClr val="162A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1D64EB-048D-2C01-567E-BAD0CA0C95D9}"/>
              </a:ext>
            </a:extLst>
          </p:cNvPr>
          <p:cNvSpPr txBox="1"/>
          <p:nvPr/>
        </p:nvSpPr>
        <p:spPr>
          <a:xfrm>
            <a:off x="2514600" y="48514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4B6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· 09</a:t>
            </a:r>
            <a:endParaRPr lang="zh-CN" altLang="en-US" sz="1100" b="1">
              <a:solidFill>
                <a:srgbClr val="F4B6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0B8EE1-02B1-1934-3DDD-B91E1151EFCC}"/>
              </a:ext>
            </a:extLst>
          </p:cNvPr>
          <p:cNvSpPr txBox="1"/>
          <p:nvPr/>
        </p:nvSpPr>
        <p:spPr>
          <a:xfrm>
            <a:off x="787400" y="5689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我们坚持一件事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BAD707-0BCB-E5DC-7F22-5775154BBF69}"/>
              </a:ext>
            </a:extLst>
          </p:cNvPr>
          <p:cNvSpPr txBox="1"/>
          <p:nvPr/>
        </p:nvSpPr>
        <p:spPr>
          <a:xfrm>
            <a:off x="787400" y="59436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检测到的点，先叫候选；确认得更充分，再叫可信源。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F1C70B3-CCB8-5C45-C96D-400FEC6115F5}"/>
              </a:ext>
            </a:extLst>
          </p:cNvPr>
          <p:cNvSpPr/>
          <p:nvPr/>
        </p:nvSpPr>
        <p:spPr>
          <a:xfrm>
            <a:off x="8318500" y="736600"/>
            <a:ext cx="3149600" cy="46228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9205AC-70DE-93A8-A2F0-7EFEB0EDDEBA}"/>
              </a:ext>
            </a:extLst>
          </p:cNvPr>
          <p:cNvSpPr txBox="1"/>
          <p:nvPr/>
        </p:nvSpPr>
        <p:spPr>
          <a:xfrm>
            <a:off x="8636000" y="1066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15-FRAME EVIDENCE</a:t>
            </a:r>
            <a:endParaRPr lang="zh-CN" altLang="en-US" sz="10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391CF2C-C9E1-FD95-7C8D-BF430FA05850}"/>
              </a:ext>
            </a:extLst>
          </p:cNvPr>
          <p:cNvCxnSpPr/>
          <p:nvPr/>
        </p:nvCxnSpPr>
        <p:spPr>
          <a:xfrm flipV="1">
            <a:off x="8940800" y="1562100"/>
            <a:ext cx="1993900" cy="2857500"/>
          </a:xfrm>
          <a:prstGeom prst="line">
            <a:avLst/>
          </a:prstGeom>
          <a:ln w="30480">
            <a:solidFill>
              <a:srgbClr val="F4B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F944231-6DB9-D0EF-2E12-0AF96F62CE1E}"/>
              </a:ext>
            </a:extLst>
          </p:cNvPr>
          <p:cNvCxnSpPr/>
          <p:nvPr/>
        </p:nvCxnSpPr>
        <p:spPr>
          <a:xfrm flipV="1">
            <a:off x="8902700" y="1562100"/>
            <a:ext cx="1993900" cy="2857500"/>
          </a:xfrm>
          <a:prstGeom prst="line">
            <a:avLst/>
          </a:prstGeom>
          <a:ln w="8890">
            <a:solidFill>
              <a:srgbClr val="FFD483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93C81332-0F96-FE04-96C2-B5FD0F6B2740}"/>
              </a:ext>
            </a:extLst>
          </p:cNvPr>
          <p:cNvSpPr/>
          <p:nvPr/>
        </p:nvSpPr>
        <p:spPr>
          <a:xfrm>
            <a:off x="8813800" y="4292600"/>
            <a:ext cx="228600" cy="228600"/>
          </a:xfrm>
          <a:prstGeom prst="ellipse">
            <a:avLst/>
          </a:prstGeom>
          <a:solidFill>
            <a:srgbClr val="0A1427"/>
          </a:solidFill>
          <a:ln w="25400">
            <a:solidFill>
              <a:srgbClr val="F4B6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60EDDBE-8DA4-3887-761C-FD5B4E487F4E}"/>
              </a:ext>
            </a:extLst>
          </p:cNvPr>
          <p:cNvSpPr/>
          <p:nvPr/>
        </p:nvSpPr>
        <p:spPr>
          <a:xfrm>
            <a:off x="10807700" y="1435100"/>
            <a:ext cx="228600" cy="228600"/>
          </a:xfrm>
          <a:prstGeom prst="ellipse">
            <a:avLst/>
          </a:prstGeom>
          <a:solidFill>
            <a:srgbClr val="0A1427"/>
          </a:solidFill>
          <a:ln w="25400">
            <a:solidFill>
              <a:srgbClr val="F4B6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3F52B3E-F083-B265-F2EA-6A7E35E2B52B}"/>
              </a:ext>
            </a:extLst>
          </p:cNvPr>
          <p:cNvSpPr/>
          <p:nvPr/>
        </p:nvSpPr>
        <p:spPr>
          <a:xfrm>
            <a:off x="9398000" y="3492500"/>
            <a:ext cx="88900" cy="889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1FFA02F-5D06-8576-EA89-7E177CAAFDE6}"/>
              </a:ext>
            </a:extLst>
          </p:cNvPr>
          <p:cNvSpPr/>
          <p:nvPr/>
        </p:nvSpPr>
        <p:spPr>
          <a:xfrm>
            <a:off x="10033000" y="2819400"/>
            <a:ext cx="63500" cy="63500"/>
          </a:xfrm>
          <a:prstGeom prst="ellipse">
            <a:avLst/>
          </a:prstGeom>
          <a:solidFill>
            <a:srgbClr val="A0EF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FEF2A77-D8BD-F753-6B3A-81D54CB80DD4}"/>
              </a:ext>
            </a:extLst>
          </p:cNvPr>
          <p:cNvSpPr/>
          <p:nvPr/>
        </p:nvSpPr>
        <p:spPr>
          <a:xfrm>
            <a:off x="10388600" y="2349500"/>
            <a:ext cx="50800" cy="50800"/>
          </a:xfrm>
          <a:prstGeom prst="ellipse">
            <a:avLst/>
          </a:prstGeom>
          <a:solidFill>
            <a:srgbClr val="D989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9C0B2A9-6921-0E7A-176C-ED05861207D4}"/>
              </a:ext>
            </a:extLst>
          </p:cNvPr>
          <p:cNvSpPr/>
          <p:nvPr/>
        </p:nvSpPr>
        <p:spPr>
          <a:xfrm>
            <a:off x="9309100" y="1803400"/>
            <a:ext cx="50800" cy="508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103373-FEDF-5EA1-3C11-4B3F656DF981}"/>
              </a:ext>
            </a:extLst>
          </p:cNvPr>
          <p:cNvSpPr txBox="1"/>
          <p:nvPr/>
        </p:nvSpPr>
        <p:spPr>
          <a:xfrm>
            <a:off x="8470900" y="46609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1E2693-1338-CB6E-9455-F7878C4FB0F7}"/>
              </a:ext>
            </a:extLst>
          </p:cNvPr>
          <p:cNvSpPr txBox="1"/>
          <p:nvPr/>
        </p:nvSpPr>
        <p:spPr>
          <a:xfrm>
            <a:off x="11010900" y="12065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F15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28D0D3-6BA7-AF23-D9EB-9C6193119004}"/>
              </a:ext>
            </a:extLst>
          </p:cNvPr>
          <p:cNvSpPr txBox="1"/>
          <p:nvPr/>
        </p:nvSpPr>
        <p:spPr>
          <a:xfrm>
            <a:off x="9347200" y="47752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 plane</a:t>
            </a:r>
            <a:endParaRPr lang="zh-CN" altLang="en-US" sz="10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3847736-C107-FF4F-6014-D1A7E10DF32B}"/>
              </a:ext>
            </a:extLst>
          </p:cNvPr>
          <p:cNvSpPr txBox="1"/>
          <p:nvPr/>
        </p:nvSpPr>
        <p:spPr>
          <a:xfrm>
            <a:off x="8445500" y="56642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43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ED67DC6-0D16-5586-71F7-91708B6EBF47}"/>
              </a:ext>
            </a:extLst>
          </p:cNvPr>
          <p:cNvSpPr txBox="1"/>
          <p:nvPr/>
        </p:nvSpPr>
        <p:spPr>
          <a:xfrm>
            <a:off x="9601200" y="5943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frames</a:t>
            </a:r>
            <a:endParaRPr lang="zh-CN" altLang="en-US" sz="1300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107DEE1-44E0-9038-642F-0945D2E8C063}"/>
              </a:ext>
            </a:extLst>
          </p:cNvPr>
          <p:cNvSpPr txBox="1"/>
          <p:nvPr/>
        </p:nvSpPr>
        <p:spPr>
          <a:xfrm>
            <a:off x="762000" y="6527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Research &amp; Defense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93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3BC3CE-13A4-9317-944F-030986EDA5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84444-F1EA-4E4F-CA90-2D2DC388D975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B3559D-90EA-D723-4B9D-6BA9F0F1E812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E16A7-57F7-35E7-CC5D-0157DDDB2C5E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比赛要我们交什么，评委怎么打分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A8B02E-B84D-F22B-9641-ED3A627F29B5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先把任务和评分点说清楚，后面每张图都对应一个问题。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CC114B-B21D-DD76-0CD3-6ABCE19110AD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A3404F-6B3C-F982-2BD3-55922DB3EB60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1CF1DA-113E-35B9-346C-AE0D521B85D5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6B59990-51BB-EDDC-0107-C1EA104E4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776155"/>
              </p:ext>
            </p:extLst>
          </p:nvPr>
        </p:nvGraphicFramePr>
        <p:xfrm>
          <a:off x="584200" y="2006600"/>
          <a:ext cx="77470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976226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31686720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2966092865"/>
                    </a:ext>
                  </a:extLst>
                </a:gridCol>
              </a:tblGrid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评分板块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分值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评委真正关心的证据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485693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星图识别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</a:t>
                      </a:r>
                      <a:endParaRPr lang="zh-CN" altLang="en-US" sz="13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星点、星等说得清；结果准确；方法讲得通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33938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星图分析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lang="zh-CN" altLang="en-US" sz="13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 </a:t>
                      </a:r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张图的关系正确；运动目标有依据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32505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创新赛项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endParaRPr lang="zh-CN" altLang="en-US" sz="13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至少 </a:t>
                      </a:r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</a:t>
                      </a:r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类有用数据；能说明实际用途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268536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内容架构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lang="zh-CN" altLang="en-US" sz="13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问题、方法、结果、限制都交代完整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55789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答辩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lang="zh-CN" altLang="en-US" sz="13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不回避问题；回答具体；思路清楚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53360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EB8AB2-3CF2-A662-3FEF-EBA3BC97B773}"/>
              </a:ext>
            </a:extLst>
          </p:cNvPr>
          <p:cNvSpPr/>
          <p:nvPr/>
        </p:nvSpPr>
        <p:spPr>
          <a:xfrm>
            <a:off x="8915400" y="2006600"/>
            <a:ext cx="2717800" cy="36322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CCC4B5-A4E0-E68C-B5F1-8321E09E87D3}"/>
              </a:ext>
            </a:extLst>
          </p:cNvPr>
          <p:cNvSpPr txBox="1"/>
          <p:nvPr/>
        </p:nvSpPr>
        <p:spPr>
          <a:xfrm>
            <a:off x="9194800" y="22987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上台怎么答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C6F8D5D-526C-FCC7-E9E4-36711FC84D31}"/>
              </a:ext>
            </a:extLst>
          </p:cNvPr>
          <p:cNvCxnSpPr/>
          <p:nvPr/>
        </p:nvCxnSpPr>
        <p:spPr>
          <a:xfrm>
            <a:off x="9194800" y="2717800"/>
            <a:ext cx="20320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0F3518E-9E3C-18C5-D01D-3A320B10F50D}"/>
              </a:ext>
            </a:extLst>
          </p:cNvPr>
          <p:cNvSpPr txBox="1"/>
          <p:nvPr/>
        </p:nvSpPr>
        <p:spPr>
          <a:xfrm>
            <a:off x="9194800" y="30099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BA3D8B-15A3-AAD8-2A37-97E4546A7865}"/>
              </a:ext>
            </a:extLst>
          </p:cNvPr>
          <p:cNvSpPr txBox="1"/>
          <p:nvPr/>
        </p:nvSpPr>
        <p:spPr>
          <a:xfrm>
            <a:off x="9626600" y="2971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先说我们测了什么。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546F96-B51F-A7BD-BC81-EA69777F35CF}"/>
              </a:ext>
            </a:extLst>
          </p:cNvPr>
          <p:cNvSpPr txBox="1"/>
          <p:nvPr/>
        </p:nvSpPr>
        <p:spPr>
          <a:xfrm>
            <a:off x="9194800" y="3759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D55649-939D-BC7A-F71C-130B8B651F3B}"/>
              </a:ext>
            </a:extLst>
          </p:cNvPr>
          <p:cNvSpPr txBox="1"/>
          <p:nvPr/>
        </p:nvSpPr>
        <p:spPr>
          <a:xfrm>
            <a:off x="9626600" y="37211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再给结果和过程。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DF6E96-92E9-3B7A-9F34-DD9EC64DF994}"/>
              </a:ext>
            </a:extLst>
          </p:cNvPr>
          <p:cNvSpPr txBox="1"/>
          <p:nvPr/>
        </p:nvSpPr>
        <p:spPr>
          <a:xfrm>
            <a:off x="9194800" y="45085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D245ED-D2A7-5CB6-176D-26F7F66E0303}"/>
              </a:ext>
            </a:extLst>
          </p:cNvPr>
          <p:cNvSpPr txBox="1"/>
          <p:nvPr/>
        </p:nvSpPr>
        <p:spPr>
          <a:xfrm>
            <a:off x="9626600" y="44704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没证明的地方直接说。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95B2CE3-1E2A-13C4-EDF3-67FA0A2217E1}"/>
              </a:ext>
            </a:extLst>
          </p:cNvPr>
          <p:cNvSpPr/>
          <p:nvPr/>
        </p:nvSpPr>
        <p:spPr>
          <a:xfrm>
            <a:off x="9194800" y="5143500"/>
            <a:ext cx="1270000" cy="279400"/>
          </a:xfrm>
          <a:prstGeom prst="round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2550D5-180C-D065-0A42-8AD7F3904CA9}"/>
              </a:ext>
            </a:extLst>
          </p:cNvPr>
          <p:cNvSpPr txBox="1"/>
          <p:nvPr/>
        </p:nvSpPr>
        <p:spPr>
          <a:xfrm>
            <a:off x="9296400" y="5143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满分 </a:t>
            </a:r>
            <a:r>
              <a:rPr lang="en-US" altLang="zh-CN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1100" b="1">
              <a:solidFill>
                <a:srgbClr val="0A14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675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92C609-8C0E-1AAD-8DD6-47D1963033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312D59-71B2-220E-92F6-B0F2428C6CF9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D0578-6EC8-A6A5-541A-EA21F650BBAC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414951-745E-0AFF-C31D-D89EE36C9B36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 </a:t>
            </a:r>
            <a:r>
              <a:rPr lang="en-US" altLang="zh-CN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张图是什么关系？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80B89A-9EF5-758D-A536-FF3B2591B618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它们是同一次连续观测，不是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张互不相关的照片。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4F5768-5189-DEEA-6507-DD330EDCAC1B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B12694E-D727-1C92-001E-13629F5A8AF2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06A2810-8B0D-4F23-FA3B-EDBD8888110D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DCEC7A-D376-F62F-5DE7-82D73F931C37}"/>
              </a:ext>
            </a:extLst>
          </p:cNvPr>
          <p:cNvSpPr/>
          <p:nvPr/>
        </p:nvSpPr>
        <p:spPr>
          <a:xfrm>
            <a:off x="584200" y="2006600"/>
            <a:ext cx="7823200" cy="35052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4FCE73-5467-4545-0AC1-8FECA5046A65}"/>
              </a:ext>
            </a:extLst>
          </p:cNvPr>
          <p:cNvSpPr txBox="1"/>
          <p:nvPr/>
        </p:nvSpPr>
        <p:spPr>
          <a:xfrm>
            <a:off x="889000" y="2286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同一次观测 </a:t>
            </a:r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15 </a:t>
            </a:r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96ED452-C98C-4CB7-080F-16A20E888519}"/>
              </a:ext>
            </a:extLst>
          </p:cNvPr>
          <p:cNvCxnSpPr/>
          <p:nvPr/>
        </p:nvCxnSpPr>
        <p:spPr>
          <a:xfrm>
            <a:off x="1079500" y="3860800"/>
            <a:ext cx="6629400" cy="0"/>
          </a:xfrm>
          <a:prstGeom prst="line">
            <a:avLst/>
          </a:prstGeom>
          <a:ln w="254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3633F683-435D-936E-9F5A-0DF74EF270B9}"/>
              </a:ext>
            </a:extLst>
          </p:cNvPr>
          <p:cNvSpPr/>
          <p:nvPr/>
        </p:nvSpPr>
        <p:spPr>
          <a:xfrm>
            <a:off x="9779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95E400-ADF4-3303-F329-7C66624E6235}"/>
              </a:ext>
            </a:extLst>
          </p:cNvPr>
          <p:cNvSpPr txBox="1"/>
          <p:nvPr/>
        </p:nvSpPr>
        <p:spPr>
          <a:xfrm>
            <a:off x="812800" y="4140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</a:t>
            </a:r>
            <a:endParaRPr lang="zh-CN" altLang="en-US" sz="1000" b="1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23C00B9-AAFF-C3A6-776A-A71747DC5CE6}"/>
              </a:ext>
            </a:extLst>
          </p:cNvPr>
          <p:cNvSpPr/>
          <p:nvPr/>
        </p:nvSpPr>
        <p:spPr>
          <a:xfrm>
            <a:off x="14478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D245751-D719-B6C8-6478-E0F00DB929EF}"/>
              </a:ext>
            </a:extLst>
          </p:cNvPr>
          <p:cNvSpPr/>
          <p:nvPr/>
        </p:nvSpPr>
        <p:spPr>
          <a:xfrm>
            <a:off x="19177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8BFB000-9C33-E2F2-2DB7-3BA0B56B0AF3}"/>
              </a:ext>
            </a:extLst>
          </p:cNvPr>
          <p:cNvSpPr/>
          <p:nvPr/>
        </p:nvSpPr>
        <p:spPr>
          <a:xfrm>
            <a:off x="23876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9100395-F8CA-27B4-91EC-DC559966B712}"/>
              </a:ext>
            </a:extLst>
          </p:cNvPr>
          <p:cNvSpPr/>
          <p:nvPr/>
        </p:nvSpPr>
        <p:spPr>
          <a:xfrm>
            <a:off x="28575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06B876-96CE-3548-CCA8-946D0AC5D01D}"/>
              </a:ext>
            </a:extLst>
          </p:cNvPr>
          <p:cNvSpPr txBox="1"/>
          <p:nvPr/>
        </p:nvSpPr>
        <p:spPr>
          <a:xfrm>
            <a:off x="2692400" y="4140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</a:t>
            </a:r>
            <a:endParaRPr lang="zh-CN" altLang="en-US" sz="1000" b="1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462CE12-5BC7-F07D-D1FF-71473D662451}"/>
              </a:ext>
            </a:extLst>
          </p:cNvPr>
          <p:cNvSpPr/>
          <p:nvPr/>
        </p:nvSpPr>
        <p:spPr>
          <a:xfrm>
            <a:off x="33274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B043A59-2C5A-5797-2505-DF4CB0B0C428}"/>
              </a:ext>
            </a:extLst>
          </p:cNvPr>
          <p:cNvSpPr/>
          <p:nvPr/>
        </p:nvSpPr>
        <p:spPr>
          <a:xfrm>
            <a:off x="37973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75724C0-52DF-1E2C-6E78-005C02B0E55A}"/>
              </a:ext>
            </a:extLst>
          </p:cNvPr>
          <p:cNvSpPr/>
          <p:nvPr/>
        </p:nvSpPr>
        <p:spPr>
          <a:xfrm>
            <a:off x="4267200" y="3797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43CE55F-7645-91FA-841F-8226ACD2E3D6}"/>
              </a:ext>
            </a:extLst>
          </p:cNvPr>
          <p:cNvSpPr/>
          <p:nvPr/>
        </p:nvSpPr>
        <p:spPr>
          <a:xfrm>
            <a:off x="47371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94ECB5-5B96-7FE1-B123-8B40EC730378}"/>
              </a:ext>
            </a:extLst>
          </p:cNvPr>
          <p:cNvSpPr txBox="1"/>
          <p:nvPr/>
        </p:nvSpPr>
        <p:spPr>
          <a:xfrm>
            <a:off x="4572000" y="4140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F09</a:t>
            </a:r>
            <a:endParaRPr lang="zh-CN" altLang="en-US" sz="1000" b="1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8BE6085-D1C7-86EB-BC11-99AA8F6FF4F2}"/>
              </a:ext>
            </a:extLst>
          </p:cNvPr>
          <p:cNvSpPr/>
          <p:nvPr/>
        </p:nvSpPr>
        <p:spPr>
          <a:xfrm>
            <a:off x="52070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5C8A251-D165-F754-633A-F3ED5AEDEBE1}"/>
              </a:ext>
            </a:extLst>
          </p:cNvPr>
          <p:cNvSpPr/>
          <p:nvPr/>
        </p:nvSpPr>
        <p:spPr>
          <a:xfrm>
            <a:off x="56769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472949C-BC30-6606-42E8-260FCE9DB81E}"/>
              </a:ext>
            </a:extLst>
          </p:cNvPr>
          <p:cNvSpPr/>
          <p:nvPr/>
        </p:nvSpPr>
        <p:spPr>
          <a:xfrm>
            <a:off x="61468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B0DC444-467E-5BF3-95C3-792EE80E2FDD}"/>
              </a:ext>
            </a:extLst>
          </p:cNvPr>
          <p:cNvSpPr/>
          <p:nvPr/>
        </p:nvSpPr>
        <p:spPr>
          <a:xfrm>
            <a:off x="66167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F7AEF56-B6BA-BF1C-BC4C-25C681C12C51}"/>
              </a:ext>
            </a:extLst>
          </p:cNvPr>
          <p:cNvSpPr/>
          <p:nvPr/>
        </p:nvSpPr>
        <p:spPr>
          <a:xfrm>
            <a:off x="70866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D72DD9B-490F-C01B-321B-D00B2B3DB4D9}"/>
              </a:ext>
            </a:extLst>
          </p:cNvPr>
          <p:cNvSpPr/>
          <p:nvPr/>
        </p:nvSpPr>
        <p:spPr>
          <a:xfrm>
            <a:off x="75565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85F68C-1DB9-809B-679A-C8D4A814B977}"/>
              </a:ext>
            </a:extLst>
          </p:cNvPr>
          <p:cNvSpPr txBox="1"/>
          <p:nvPr/>
        </p:nvSpPr>
        <p:spPr>
          <a:xfrm>
            <a:off x="7391400" y="4140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F15</a:t>
            </a:r>
            <a:endParaRPr lang="zh-CN" altLang="en-US" sz="1000" b="1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7128C58-296E-338B-7397-1D067A8CCD40}"/>
              </a:ext>
            </a:extLst>
          </p:cNvPr>
          <p:cNvCxnSpPr/>
          <p:nvPr/>
        </p:nvCxnSpPr>
        <p:spPr>
          <a:xfrm flipV="1">
            <a:off x="4813300" y="2755900"/>
            <a:ext cx="2870200" cy="609600"/>
          </a:xfrm>
          <a:prstGeom prst="line">
            <a:avLst/>
          </a:prstGeom>
          <a:ln w="27940">
            <a:solidFill>
              <a:srgbClr val="F4B6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7BE0B40-5F4B-6593-F037-BC3713F5A8BA}"/>
              </a:ext>
            </a:extLst>
          </p:cNvPr>
          <p:cNvSpPr txBox="1"/>
          <p:nvPr/>
        </p:nvSpPr>
        <p:spPr>
          <a:xfrm>
            <a:off x="5524500" y="2794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可能的运动结构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AD9795A-B549-0A18-403D-1DBD8D79DCEC}"/>
              </a:ext>
            </a:extLst>
          </p:cNvPr>
          <p:cNvSpPr txBox="1"/>
          <p:nvPr/>
        </p:nvSpPr>
        <p:spPr>
          <a:xfrm>
            <a:off x="889000" y="46863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相邻帧里的星场会一起移动；所以要先估计共同位移，再看谁没有跟着一起动。</a:t>
            </a: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0FEDF883-21E0-D171-A7CA-A5A5FC84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648814"/>
              </p:ext>
            </p:extLst>
          </p:nvPr>
        </p:nvGraphicFramePr>
        <p:xfrm>
          <a:off x="8813800" y="2006600"/>
          <a:ext cx="28194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207033215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650445290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数据事实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当前口径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60609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图像尺寸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4096 × 4096 px</a:t>
                      </a:r>
                      <a:endParaRPr lang="zh-CN" altLang="en-US" sz="12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71113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位深 </a:t>
                      </a:r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曝光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 bit / 1500 ms</a:t>
                      </a:r>
                      <a:endParaRPr lang="zh-CN" altLang="en-US" sz="12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09604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光谱范围 </a:t>
                      </a:r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视场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450–750 nm / 9.78° × 9.78°</a:t>
                      </a:r>
                      <a:endParaRPr lang="zh-CN" altLang="en-US" sz="120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379669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序列跨度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约 </a:t>
                      </a:r>
                      <a:r>
                        <a:rPr lang="en-US" altLang="zh-CN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21.014 s</a:t>
                      </a:r>
                      <a:r>
                        <a:rPr lang="zh-CN" altLang="en-US" sz="120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（连续观测）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47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74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ABC90D-1792-F49A-898E-2E878D4272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CF7AEC-B058-99D4-67CD-BA5C14AB5E41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2D756F-4594-0E83-BEB7-140D72C9197C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C73B81-831D-6A79-D330-48ECA7BB03A0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程序实际怎么走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547970-1C8F-BC34-AD19-EC8FE2D9E027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从原始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FITS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读入，到最后输出结果，中间每一步都有记录。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25E075-9563-B648-5BA5-014B8EF7178A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F07EEF1-C80A-B850-34A1-0FC067564DB0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BDE60A-CE6D-73C9-BD1F-4D8921822E86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5FA651-F97C-34B6-F18B-F3FD7818193F}"/>
              </a:ext>
            </a:extLst>
          </p:cNvPr>
          <p:cNvSpPr/>
          <p:nvPr/>
        </p:nvSpPr>
        <p:spPr>
          <a:xfrm>
            <a:off x="6096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3BB429-0CF1-DEB6-B63E-FB4708A83E89}"/>
              </a:ext>
            </a:extLst>
          </p:cNvPr>
          <p:cNvSpPr txBox="1"/>
          <p:nvPr/>
        </p:nvSpPr>
        <p:spPr>
          <a:xfrm>
            <a:off x="7874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F592BE-B5C7-41EC-9A67-00724CE11028}"/>
              </a:ext>
            </a:extLst>
          </p:cNvPr>
          <p:cNvSpPr txBox="1"/>
          <p:nvPr/>
        </p:nvSpPr>
        <p:spPr>
          <a:xfrm>
            <a:off x="7874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 </a:t>
            </a:r>
            <a:r>
              <a:rPr lang="en-US" altLang="zh-CN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FITS</a:t>
            </a:r>
            <a:endParaRPr lang="zh-CN" altLang="en-US" sz="15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8F9E7B-24BE-C631-F1B4-B8CA33311A4B}"/>
              </a:ext>
            </a:extLst>
          </p:cNvPr>
          <p:cNvSpPr txBox="1"/>
          <p:nvPr/>
        </p:nvSpPr>
        <p:spPr>
          <a:xfrm>
            <a:off x="7874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读取头部、辅助字段和原始 </a:t>
            </a:r>
            <a:r>
              <a:rPr lang="en-US" altLang="zh-CN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ADU</a:t>
            </a:r>
            <a:endParaRPr lang="zh-CN" altLang="en-US" sz="12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E68D95C-A75E-3987-5C70-63409B7AAAA3}"/>
              </a:ext>
            </a:extLst>
          </p:cNvPr>
          <p:cNvCxnSpPr/>
          <p:nvPr/>
        </p:nvCxnSpPr>
        <p:spPr>
          <a:xfrm>
            <a:off x="2032000" y="3187700"/>
            <a:ext cx="139700" cy="0"/>
          </a:xfrm>
          <a:prstGeom prst="line">
            <a:avLst/>
          </a:prstGeom>
          <a:ln w="16510">
            <a:solidFill>
              <a:srgbClr val="69D7E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07D5F93-4184-3F72-1092-B69387EB5015}"/>
              </a:ext>
            </a:extLst>
          </p:cNvPr>
          <p:cNvSpPr/>
          <p:nvPr/>
        </p:nvSpPr>
        <p:spPr>
          <a:xfrm>
            <a:off x="22098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F4593E-9A29-CD98-B553-46EF99ADE155}"/>
              </a:ext>
            </a:extLst>
          </p:cNvPr>
          <p:cNvSpPr txBox="1"/>
          <p:nvPr/>
        </p:nvSpPr>
        <p:spPr>
          <a:xfrm>
            <a:off x="23876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69D7E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FF73E9-EC7A-77D9-7C18-9FA22DC8B8D0}"/>
              </a:ext>
            </a:extLst>
          </p:cNvPr>
          <p:cNvSpPr txBox="1"/>
          <p:nvPr/>
        </p:nvSpPr>
        <p:spPr>
          <a:xfrm>
            <a:off x="23876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估背景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651DE4-42AC-F91A-1B35-B6EE2D561CA6}"/>
              </a:ext>
            </a:extLst>
          </p:cNvPr>
          <p:cNvSpPr txBox="1"/>
          <p:nvPr/>
        </p:nvSpPr>
        <p:spPr>
          <a:xfrm>
            <a:off x="23876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估计局部背景和噪声大小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46A6517-9805-E520-2311-A9360B75A678}"/>
              </a:ext>
            </a:extLst>
          </p:cNvPr>
          <p:cNvCxnSpPr/>
          <p:nvPr/>
        </p:nvCxnSpPr>
        <p:spPr>
          <a:xfrm>
            <a:off x="3632200" y="3187700"/>
            <a:ext cx="139700" cy="0"/>
          </a:xfrm>
          <a:prstGeom prst="line">
            <a:avLst/>
          </a:prstGeom>
          <a:ln w="16510">
            <a:solidFill>
              <a:srgbClr val="69D7E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C42C40D-8ACC-8D29-D5EE-02AF718E4369}"/>
              </a:ext>
            </a:extLst>
          </p:cNvPr>
          <p:cNvSpPr/>
          <p:nvPr/>
        </p:nvSpPr>
        <p:spPr>
          <a:xfrm>
            <a:off x="38100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8C0718-B3E9-5A18-3F9F-1ABE0ABA75E0}"/>
              </a:ext>
            </a:extLst>
          </p:cNvPr>
          <p:cNvSpPr txBox="1"/>
          <p:nvPr/>
        </p:nvSpPr>
        <p:spPr>
          <a:xfrm>
            <a:off x="39878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F4B6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F4B6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ABEFDC-2237-AB7E-AAEB-E1CADC925B54}"/>
              </a:ext>
            </a:extLst>
          </p:cNvPr>
          <p:cNvSpPr txBox="1"/>
          <p:nvPr/>
        </p:nvSpPr>
        <p:spPr>
          <a:xfrm>
            <a:off x="39878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找候选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FE91A4-808F-78E8-DD2B-A090171E50D8}"/>
              </a:ext>
            </a:extLst>
          </p:cNvPr>
          <p:cNvSpPr txBox="1"/>
          <p:nvPr/>
        </p:nvSpPr>
        <p:spPr>
          <a:xfrm>
            <a:off x="39878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几种方法一起找，尽量不漏暗点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1BF2D9F-221C-2E9B-B252-862294EFA696}"/>
              </a:ext>
            </a:extLst>
          </p:cNvPr>
          <p:cNvCxnSpPr/>
          <p:nvPr/>
        </p:nvCxnSpPr>
        <p:spPr>
          <a:xfrm>
            <a:off x="5232400" y="3187700"/>
            <a:ext cx="139700" cy="0"/>
          </a:xfrm>
          <a:prstGeom prst="line">
            <a:avLst/>
          </a:prstGeom>
          <a:ln w="16510">
            <a:solidFill>
              <a:srgbClr val="F4B6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7401E5A-FFAB-1D1C-580C-70CA948BE875}"/>
              </a:ext>
            </a:extLst>
          </p:cNvPr>
          <p:cNvSpPr/>
          <p:nvPr/>
        </p:nvSpPr>
        <p:spPr>
          <a:xfrm>
            <a:off x="54102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87A8BAB-4BEE-9D34-4971-FD4E2FFB55F3}"/>
              </a:ext>
            </a:extLst>
          </p:cNvPr>
          <p:cNvSpPr txBox="1"/>
          <p:nvPr/>
        </p:nvSpPr>
        <p:spPr>
          <a:xfrm>
            <a:off x="55880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F4B6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 b="1">
              <a:solidFill>
                <a:srgbClr val="F4B6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5F4835-30EF-D891-EB00-C3B40FC0F035}"/>
              </a:ext>
            </a:extLst>
          </p:cNvPr>
          <p:cNvSpPr txBox="1"/>
          <p:nvPr/>
        </p:nvSpPr>
        <p:spPr>
          <a:xfrm>
            <a:off x="55880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做筛选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7453AC-1DED-6F59-89DE-CDFBB09E8FEF}"/>
              </a:ext>
            </a:extLst>
          </p:cNvPr>
          <p:cNvSpPr txBox="1"/>
          <p:nvPr/>
        </p:nvSpPr>
        <p:spPr>
          <a:xfrm>
            <a:off x="55880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 </a:t>
            </a:r>
            <a:r>
              <a:rPr lang="en-US" altLang="zh-CN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SNR</a:t>
            </a:r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PSF</a:t>
            </a:r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、形态和值域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CC12D73-727A-F53C-BE5B-95F6B9B6931C}"/>
              </a:ext>
            </a:extLst>
          </p:cNvPr>
          <p:cNvCxnSpPr/>
          <p:nvPr/>
        </p:nvCxnSpPr>
        <p:spPr>
          <a:xfrm>
            <a:off x="6832600" y="3187700"/>
            <a:ext cx="139700" cy="0"/>
          </a:xfrm>
          <a:prstGeom prst="line">
            <a:avLst/>
          </a:prstGeom>
          <a:ln w="16510">
            <a:solidFill>
              <a:srgbClr val="F4B6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4AF0EFE-701A-336D-7A48-FA25BDFD3F25}"/>
              </a:ext>
            </a:extLst>
          </p:cNvPr>
          <p:cNvSpPr/>
          <p:nvPr/>
        </p:nvSpPr>
        <p:spPr>
          <a:xfrm>
            <a:off x="70104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2ACF3A-FCD0-059A-C339-4F8956B06EB4}"/>
              </a:ext>
            </a:extLst>
          </p:cNvPr>
          <p:cNvSpPr txBox="1"/>
          <p:nvPr/>
        </p:nvSpPr>
        <p:spPr>
          <a:xfrm>
            <a:off x="71882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D989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 b="1">
              <a:solidFill>
                <a:srgbClr val="D989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5E5694-BD55-A932-8299-D0AC2168591C}"/>
              </a:ext>
            </a:extLst>
          </p:cNvPr>
          <p:cNvSpPr txBox="1"/>
          <p:nvPr/>
        </p:nvSpPr>
        <p:spPr>
          <a:xfrm>
            <a:off x="71882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接星表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5E2F3F-E7EC-EFDE-7167-7A156C9EAC2E}"/>
              </a:ext>
            </a:extLst>
          </p:cNvPr>
          <p:cNvSpPr txBox="1"/>
          <p:nvPr/>
        </p:nvSpPr>
        <p:spPr>
          <a:xfrm>
            <a:off x="71882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 </a:t>
            </a:r>
            <a:r>
              <a:rPr lang="en-US" altLang="zh-CN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</a:t>
            </a:r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，算零点和颜色项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5C48D43-F24E-37C1-4891-F12C0B3A1F38}"/>
              </a:ext>
            </a:extLst>
          </p:cNvPr>
          <p:cNvCxnSpPr/>
          <p:nvPr/>
        </p:nvCxnSpPr>
        <p:spPr>
          <a:xfrm>
            <a:off x="8432800" y="3187700"/>
            <a:ext cx="139700" cy="0"/>
          </a:xfrm>
          <a:prstGeom prst="line">
            <a:avLst/>
          </a:prstGeom>
          <a:ln w="16510">
            <a:solidFill>
              <a:srgbClr val="D989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BC45A13-802E-A5C0-49AD-024C3827A8A4}"/>
              </a:ext>
            </a:extLst>
          </p:cNvPr>
          <p:cNvSpPr/>
          <p:nvPr/>
        </p:nvSpPr>
        <p:spPr>
          <a:xfrm>
            <a:off x="86106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544F7D4-BA90-46B5-D059-697308B4CECA}"/>
              </a:ext>
            </a:extLst>
          </p:cNvPr>
          <p:cNvSpPr txBox="1"/>
          <p:nvPr/>
        </p:nvSpPr>
        <p:spPr>
          <a:xfrm>
            <a:off x="87884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7BE0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 b="1">
              <a:solidFill>
                <a:srgbClr val="7BE0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81A437A-ECC0-4404-4387-AE3364376F22}"/>
              </a:ext>
            </a:extLst>
          </p:cNvPr>
          <p:cNvSpPr txBox="1"/>
          <p:nvPr/>
        </p:nvSpPr>
        <p:spPr>
          <a:xfrm>
            <a:off x="87884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 </a:t>
            </a:r>
            <a:r>
              <a:rPr lang="en-US" altLang="zh-CN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A6D462B-5A5F-0BA9-3C6A-6D7AF465C757}"/>
              </a:ext>
            </a:extLst>
          </p:cNvPr>
          <p:cNvSpPr txBox="1"/>
          <p:nvPr/>
        </p:nvSpPr>
        <p:spPr>
          <a:xfrm>
            <a:off x="87884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扣共同位移，再关联轨迹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E3F3FEC-E3F8-DA67-0F63-AB123BA66142}"/>
              </a:ext>
            </a:extLst>
          </p:cNvPr>
          <p:cNvCxnSpPr/>
          <p:nvPr/>
        </p:nvCxnSpPr>
        <p:spPr>
          <a:xfrm>
            <a:off x="10033000" y="3187700"/>
            <a:ext cx="139700" cy="0"/>
          </a:xfrm>
          <a:prstGeom prst="line">
            <a:avLst/>
          </a:prstGeom>
          <a:ln w="16510">
            <a:solidFill>
              <a:srgbClr val="7BE0B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F551CF3-A5A4-657B-A1CB-5FE260633B6C}"/>
              </a:ext>
            </a:extLst>
          </p:cNvPr>
          <p:cNvSpPr/>
          <p:nvPr/>
        </p:nvSpPr>
        <p:spPr>
          <a:xfrm>
            <a:off x="10210800" y="2171700"/>
            <a:ext cx="1422400" cy="2032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8262BEF-0255-35BB-C471-FBA044876F06}"/>
              </a:ext>
            </a:extLst>
          </p:cNvPr>
          <p:cNvSpPr txBox="1"/>
          <p:nvPr/>
        </p:nvSpPr>
        <p:spPr>
          <a:xfrm>
            <a:off x="10388600" y="2349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7BE0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 b="1">
              <a:solidFill>
                <a:srgbClr val="7BE0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45401C5-0C1D-AF80-FA5C-087269688984}"/>
              </a:ext>
            </a:extLst>
          </p:cNvPr>
          <p:cNvSpPr txBox="1"/>
          <p:nvPr/>
        </p:nvSpPr>
        <p:spPr>
          <a:xfrm>
            <a:off x="103886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导出结果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E2E6DF5-9187-870D-9A52-4804BBF29E26}"/>
              </a:ext>
            </a:extLst>
          </p:cNvPr>
          <p:cNvSpPr txBox="1"/>
          <p:nvPr/>
        </p:nvSpPr>
        <p:spPr>
          <a:xfrm>
            <a:off x="10388600" y="3162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结果、拒绝原因和复现信息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04656EE-7DFE-D734-07F9-06427730CF4C}"/>
              </a:ext>
            </a:extLst>
          </p:cNvPr>
          <p:cNvSpPr/>
          <p:nvPr/>
        </p:nvSpPr>
        <p:spPr>
          <a:xfrm>
            <a:off x="1193800" y="4953000"/>
            <a:ext cx="9804400" cy="8128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9E9DF16-69C8-C519-F4AE-4B02C1303EA2}"/>
              </a:ext>
            </a:extLst>
          </p:cNvPr>
          <p:cNvSpPr txBox="1"/>
          <p:nvPr/>
        </p:nvSpPr>
        <p:spPr>
          <a:xfrm>
            <a:off x="1574800" y="5181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3A91F70-A264-C113-B6ED-520833E0E534}"/>
              </a:ext>
            </a:extLst>
          </p:cNvPr>
          <p:cNvSpPr txBox="1"/>
          <p:nvPr/>
        </p:nvSpPr>
        <p:spPr>
          <a:xfrm>
            <a:off x="3416300" y="5143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≠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AAC1B3-03DB-9271-C0C7-518AB60DE62C}"/>
              </a:ext>
            </a:extLst>
          </p:cNvPr>
          <p:cNvSpPr txBox="1"/>
          <p:nvPr/>
        </p:nvSpPr>
        <p:spPr>
          <a:xfrm>
            <a:off x="4064000" y="518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A0EF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质量通过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09D35DD-40B7-1E60-B799-A5D137AD0837}"/>
              </a:ext>
            </a:extLst>
          </p:cNvPr>
          <p:cNvSpPr txBox="1"/>
          <p:nvPr/>
        </p:nvSpPr>
        <p:spPr>
          <a:xfrm>
            <a:off x="6350000" y="51435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≠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1BC03DD-6554-6537-6810-C0B67090E106}"/>
              </a:ext>
            </a:extLst>
          </p:cNvPr>
          <p:cNvSpPr txBox="1"/>
          <p:nvPr/>
        </p:nvSpPr>
        <p:spPr>
          <a:xfrm>
            <a:off x="6985000" y="5181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D989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星表匹配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7363B2C-6DEF-57B0-1FA8-B8AECEA35359}"/>
              </a:ext>
            </a:extLst>
          </p:cNvPr>
          <p:cNvSpPr txBox="1"/>
          <p:nvPr/>
        </p:nvSpPr>
        <p:spPr>
          <a:xfrm>
            <a:off x="9194800" y="5181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58B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≠ 物理真值</a:t>
            </a:r>
          </a:p>
        </p:txBody>
      </p:sp>
    </p:spTree>
    <p:extLst>
      <p:ext uri="{BB962C8B-B14F-4D97-AF65-F5344CB8AC3E}">
        <p14:creationId xmlns:p14="http://schemas.microsoft.com/office/powerpoint/2010/main" val="142293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EECDB0-5918-68E6-B8D8-FB90FA28E4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DA74B0-8214-5EBD-CB4B-74E9B7E8E6B0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E26191-6CD8-8F61-7233-429EE6991548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星点识别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882FA2-9DDA-A60F-3B1D-E620B17B24B5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星点怎么数：先尽量找全，再逐个筛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AB904-0754-BCC8-88F9-7FF358A8E2E9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第一遍不急着下结论，第二遍才判断它像不像一个点源。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17D7F3-B02B-B3C0-2AFE-73EE9F5C3B0F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0B0E32-1F2F-2898-6605-93CD6D14F971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0F52EA7-18E4-FC79-4FCF-DE1C073E3022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4B8DFA-FE0B-B831-8362-92128043D095}"/>
              </a:ext>
            </a:extLst>
          </p:cNvPr>
          <p:cNvSpPr/>
          <p:nvPr/>
        </p:nvSpPr>
        <p:spPr>
          <a:xfrm>
            <a:off x="584200" y="2032000"/>
            <a:ext cx="4318000" cy="36322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FBAF2D-FA61-5D00-7EB2-9B084EACAD55}"/>
              </a:ext>
            </a:extLst>
          </p:cNvPr>
          <p:cNvSpPr txBox="1"/>
          <p:nvPr/>
        </p:nvSpPr>
        <p:spPr>
          <a:xfrm>
            <a:off x="889000" y="2286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首帧当前结果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B2210B-6279-BE7C-2B35-4C836207B6C9}"/>
              </a:ext>
            </a:extLst>
          </p:cNvPr>
          <p:cNvSpPr/>
          <p:nvPr/>
        </p:nvSpPr>
        <p:spPr>
          <a:xfrm>
            <a:off x="762000" y="2768600"/>
            <a:ext cx="50800" cy="431800"/>
          </a:xfrm>
          <a:prstGeom prst="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ED196E-19C6-2715-8789-09A0614D633D}"/>
              </a:ext>
            </a:extLst>
          </p:cNvPr>
          <p:cNvSpPr txBox="1"/>
          <p:nvPr/>
        </p:nvSpPr>
        <p:spPr>
          <a:xfrm>
            <a:off x="990600" y="2794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宽筛候选 </a:t>
            </a:r>
            <a:r>
              <a:rPr lang="en-US" altLang="zh-CN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N_wide</a:t>
            </a:r>
            <a:endParaRPr lang="zh-CN" altLang="en-US" sz="12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A6108E-F7C2-14E1-9EEE-4DBE129CA07E}"/>
              </a:ext>
            </a:extLst>
          </p:cNvPr>
          <p:cNvSpPr txBox="1"/>
          <p:nvPr/>
        </p:nvSpPr>
        <p:spPr>
          <a:xfrm>
            <a:off x="3175000" y="2743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84,594</a:t>
            </a:r>
            <a:endParaRPr lang="zh-CN" altLang="en-US" sz="27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5E2FDC0-CB3B-0417-7034-C289AA3D0022}"/>
              </a:ext>
            </a:extLst>
          </p:cNvPr>
          <p:cNvCxnSpPr/>
          <p:nvPr/>
        </p:nvCxnSpPr>
        <p:spPr>
          <a:xfrm>
            <a:off x="990600" y="3454400"/>
            <a:ext cx="33782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75BAC4E-F646-CD15-B95F-4440706ED54C}"/>
              </a:ext>
            </a:extLst>
          </p:cNvPr>
          <p:cNvCxnSpPr/>
          <p:nvPr/>
        </p:nvCxnSpPr>
        <p:spPr>
          <a:xfrm>
            <a:off x="2628900" y="3733800"/>
            <a:ext cx="0" cy="469900"/>
          </a:xfrm>
          <a:prstGeom prst="line">
            <a:avLst/>
          </a:prstGeom>
          <a:ln w="38100">
            <a:solidFill>
              <a:srgbClr val="F4B6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7CE318AD-07F8-4EFA-17FD-1DF85E166187}"/>
              </a:ext>
            </a:extLst>
          </p:cNvPr>
          <p:cNvSpPr/>
          <p:nvPr/>
        </p:nvSpPr>
        <p:spPr>
          <a:xfrm>
            <a:off x="762000" y="4381500"/>
            <a:ext cx="50800" cy="4318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136DCA-13FD-E5AC-B59E-E7256C1A7C32}"/>
              </a:ext>
            </a:extLst>
          </p:cNvPr>
          <p:cNvSpPr txBox="1"/>
          <p:nvPr/>
        </p:nvSpPr>
        <p:spPr>
          <a:xfrm>
            <a:off x="990600" y="44069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质量通过 </a:t>
            </a:r>
            <a:r>
              <a:rPr lang="en-US" altLang="zh-CN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N_fine</a:t>
            </a:r>
            <a:endParaRPr lang="zh-CN" altLang="en-US" sz="12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BFA8FC-E6E6-4B93-9FC7-C4DB0F3780C7}"/>
              </a:ext>
            </a:extLst>
          </p:cNvPr>
          <p:cNvSpPr txBox="1"/>
          <p:nvPr/>
        </p:nvSpPr>
        <p:spPr>
          <a:xfrm>
            <a:off x="3175000" y="43561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29,260</a:t>
            </a:r>
            <a:endParaRPr lang="zh-CN" altLang="en-US" sz="27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C2586B-055D-6A51-DDE4-E2824545D4D1}"/>
              </a:ext>
            </a:extLst>
          </p:cNvPr>
          <p:cNvSpPr/>
          <p:nvPr/>
        </p:nvSpPr>
        <p:spPr>
          <a:xfrm>
            <a:off x="889000" y="5168900"/>
            <a:ext cx="1905000" cy="279400"/>
          </a:xfrm>
          <a:prstGeom prst="roundRect">
            <a:avLst/>
          </a:prstGeom>
          <a:solidFill>
            <a:srgbClr val="F58B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3FC92C-31DA-17B4-80D6-A8AE2F31143E}"/>
              </a:ext>
            </a:extLst>
          </p:cNvPr>
          <p:cNvSpPr txBox="1"/>
          <p:nvPr/>
        </p:nvSpPr>
        <p:spPr>
          <a:xfrm>
            <a:off x="990600" y="51689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不是官方逐星真值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D0BF520-0FD9-2501-B393-20B82E6B41E4}"/>
              </a:ext>
            </a:extLst>
          </p:cNvPr>
          <p:cNvSpPr/>
          <p:nvPr/>
        </p:nvSpPr>
        <p:spPr>
          <a:xfrm>
            <a:off x="5334000" y="2032000"/>
            <a:ext cx="6299200" cy="36322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46FC6B-D18C-C99C-F60A-2D7D3AE52637}"/>
              </a:ext>
            </a:extLst>
          </p:cNvPr>
          <p:cNvSpPr txBox="1"/>
          <p:nvPr/>
        </p:nvSpPr>
        <p:spPr>
          <a:xfrm>
            <a:off x="5715000" y="2336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第一遍：找全可能的点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664BA1-44CB-A3E6-6935-6CBB48FB551B}"/>
              </a:ext>
            </a:extLst>
          </p:cNvPr>
          <p:cNvSpPr txBox="1"/>
          <p:nvPr/>
        </p:nvSpPr>
        <p:spPr>
          <a:xfrm>
            <a:off x="5715000" y="26543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Gaussian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DoG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Starlet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一起找
按位置合并；保留每个候选来自哪种方法。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201883-3070-C66B-0328-0F7C889109F6}"/>
              </a:ext>
            </a:extLst>
          </p:cNvPr>
          <p:cNvSpPr txBox="1"/>
          <p:nvPr/>
        </p:nvSpPr>
        <p:spPr>
          <a:xfrm>
            <a:off x="5715000" y="3581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A0EF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第二遍：排掉不像星的响应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34A6AD-2C67-6C0D-F025-69A5DC3E4B0F}"/>
              </a:ext>
            </a:extLst>
          </p:cNvPr>
          <p:cNvSpPr txBox="1"/>
          <p:nvPr/>
        </p:nvSpPr>
        <p:spPr>
          <a:xfrm>
            <a:off x="5715000" y="38989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flux SNR ≥ 5 · FWHM /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椭圆率 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sharpness
3×3 PSF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 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掩膜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饱和
线状结构 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极端值域 </a:t>
            </a:r>
            <a:r>
              <a:rPr lang="en-US" altLang="zh-CN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局部背景环有效性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C7AFAE-7AE0-6354-900E-B3FABA05B97F}"/>
              </a:ext>
            </a:extLst>
          </p:cNvPr>
          <p:cNvCxnSpPr/>
          <p:nvPr/>
        </p:nvCxnSpPr>
        <p:spPr>
          <a:xfrm>
            <a:off x="5715000" y="5130800"/>
            <a:ext cx="53086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F9D28296-2425-B88C-A2D2-2C4D6237CE8D}"/>
              </a:ext>
            </a:extLst>
          </p:cNvPr>
          <p:cNvSpPr txBox="1"/>
          <p:nvPr/>
        </p:nvSpPr>
        <p:spPr>
          <a:xfrm>
            <a:off x="5715000" y="5283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29,260 </a:t>
            </a:r>
            <a:r>
              <a:rPr lang="zh-CN" altLang="en-US" sz="12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不是主办方公布的星数，而是按当前规则留下的可信点源候选。</a:t>
            </a:r>
          </a:p>
        </p:txBody>
      </p:sp>
    </p:spTree>
    <p:extLst>
      <p:ext uri="{BB962C8B-B14F-4D97-AF65-F5344CB8AC3E}">
        <p14:creationId xmlns:p14="http://schemas.microsoft.com/office/powerpoint/2010/main" val="310440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575F0F-9B21-BE34-43C9-3AFF532CC7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281766-0419-123F-E627-4581CE036AF0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E545E4-FB7E-369A-ED0C-BB071FADB653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AE4080-B681-C0DB-A283-D6F7B0F5C8C9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最暗的星，星等到底怎么算？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272A62-B06E-C1C9-BBEE-E4F9F149192F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先算图像里的相对亮度，再用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参考星把它换成表观星等。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67EA16-EDDF-DF59-7FAF-E00B3459BF08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8AF692-FF90-5A89-7574-DE4C0B2002DF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C84F37-3641-AAC3-CE72-4C4CE2E316BC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7EB11E-B970-7D9F-D6DE-A8E7BB9032BA}"/>
              </a:ext>
            </a:extLst>
          </p:cNvPr>
          <p:cNvSpPr/>
          <p:nvPr/>
        </p:nvSpPr>
        <p:spPr>
          <a:xfrm>
            <a:off x="584200" y="2006600"/>
            <a:ext cx="5486400" cy="36830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163B1E-B75D-1BDD-096E-FA36C79E8800}"/>
              </a:ext>
            </a:extLst>
          </p:cNvPr>
          <p:cNvSpPr txBox="1"/>
          <p:nvPr/>
        </p:nvSpPr>
        <p:spPr>
          <a:xfrm>
            <a:off x="889000" y="2298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三个量，分别代表什么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4FFBCF-0091-BECA-B6A9-65BF82F12CA7}"/>
              </a:ext>
            </a:extLst>
          </p:cNvPr>
          <p:cNvSpPr txBox="1"/>
          <p:nvPr/>
        </p:nvSpPr>
        <p:spPr>
          <a:xfrm>
            <a:off x="889000" y="29464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m_inst</a:t>
            </a:r>
            <a:endParaRPr lang="zh-CN" altLang="en-US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99BEA8-2ACC-D2B5-1D4B-0D4B1F4D3B7E}"/>
              </a:ext>
            </a:extLst>
          </p:cNvPr>
          <p:cNvSpPr txBox="1"/>
          <p:nvPr/>
        </p:nvSpPr>
        <p:spPr>
          <a:xfrm>
            <a:off x="2209800" y="29337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−2.5 log₁₀(F / t_exp)</a:t>
            </a:r>
            <a:endParaRPr lang="zh-CN" altLang="en-US" sz="17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FC51BA-4CAA-F1D7-5E31-C26E5FB9B3B1}"/>
              </a:ext>
            </a:extLst>
          </p:cNvPr>
          <p:cNvSpPr txBox="1"/>
          <p:nvPr/>
        </p:nvSpPr>
        <p:spPr>
          <a:xfrm>
            <a:off x="889000" y="37084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D989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</a:t>
            </a:r>
            <a:endParaRPr lang="zh-CN" altLang="en-US" b="1">
              <a:solidFill>
                <a:srgbClr val="D989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CAA635-18CF-2301-E537-F3DDBE178F19}"/>
              </a:ext>
            </a:extLst>
          </p:cNvPr>
          <p:cNvSpPr txBox="1"/>
          <p:nvPr/>
        </p:nvSpPr>
        <p:spPr>
          <a:xfrm>
            <a:off x="2209800" y="36957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m_inst + ZP + C₁(BP−RP) + C₂(BP−RP)²</a:t>
            </a:r>
            <a:endParaRPr lang="zh-CN" altLang="en-US" sz="14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BB942D-6331-998B-D811-5D2A6BA93F42}"/>
              </a:ext>
            </a:extLst>
          </p:cNvPr>
          <p:cNvSpPr txBox="1"/>
          <p:nvPr/>
        </p:nvSpPr>
        <p:spPr>
          <a:xfrm>
            <a:off x="889000" y="4648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7BE0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</a:t>
            </a:r>
            <a:endParaRPr lang="zh-CN" altLang="en-US" b="1">
              <a:solidFill>
                <a:srgbClr val="7BE0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CCFB5B-0ED6-E100-50D2-CF1C18C33197}"/>
              </a:ext>
            </a:extLst>
          </p:cNvPr>
          <p:cNvSpPr txBox="1"/>
          <p:nvPr/>
        </p:nvSpPr>
        <p:spPr>
          <a:xfrm>
            <a:off x="2209800" y="46355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m_G − 5 log₁₀(d / 10 pc) − A_G</a:t>
            </a:r>
            <a:endParaRPr lang="zh-CN" altLang="en-US" sz="15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EE5F37-A822-3CA4-C356-4A83B5CCD76E}"/>
              </a:ext>
            </a:extLst>
          </p:cNvPr>
          <p:cNvSpPr txBox="1"/>
          <p:nvPr/>
        </p:nvSpPr>
        <p:spPr>
          <a:xfrm>
            <a:off x="889000" y="53721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：孔径净通量；</a:t>
            </a:r>
            <a:r>
              <a:rPr lang="en-US" altLang="zh-CN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t_exp</a:t>
            </a:r>
            <a:r>
              <a:rPr lang="zh-CN" altLang="en-US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：曝光时间；</a:t>
            </a:r>
            <a:r>
              <a:rPr lang="en-US" altLang="zh-CN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ZP / C</a:t>
            </a:r>
            <a:r>
              <a:rPr lang="zh-CN" altLang="en-US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：外部标定项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6CC4CC4-4602-8318-6FCB-A238BA1509E8}"/>
              </a:ext>
            </a:extLst>
          </p:cNvPr>
          <p:cNvSpPr/>
          <p:nvPr/>
        </p:nvSpPr>
        <p:spPr>
          <a:xfrm>
            <a:off x="6527800" y="2006600"/>
            <a:ext cx="5105400" cy="36830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E6DE0C-7623-2CD3-93B9-1BDBA7C9C340}"/>
              </a:ext>
            </a:extLst>
          </p:cNvPr>
          <p:cNvSpPr txBox="1"/>
          <p:nvPr/>
        </p:nvSpPr>
        <p:spPr>
          <a:xfrm>
            <a:off x="6858000" y="2298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当前能给出的结果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B70A82-DFDA-898A-FDEC-D9C42DAA8327}"/>
              </a:ext>
            </a:extLst>
          </p:cNvPr>
          <p:cNvSpPr/>
          <p:nvPr/>
        </p:nvSpPr>
        <p:spPr>
          <a:xfrm>
            <a:off x="6858000" y="2730500"/>
            <a:ext cx="1270000" cy="279400"/>
          </a:xfrm>
          <a:prstGeom prst="round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47DE6E-B424-5072-CCC8-AD23A180BF85}"/>
              </a:ext>
            </a:extLst>
          </p:cNvPr>
          <p:cNvSpPr txBox="1"/>
          <p:nvPr/>
        </p:nvSpPr>
        <p:spPr>
          <a:xfrm>
            <a:off x="6959600" y="2730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图像亮度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D2A80B-A076-E462-CDC6-AC62849D0FF6}"/>
              </a:ext>
            </a:extLst>
          </p:cNvPr>
          <p:cNvSpPr txBox="1"/>
          <p:nvPr/>
        </p:nvSpPr>
        <p:spPr>
          <a:xfrm>
            <a:off x="8204200" y="27305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m_inst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：同一张图里可以比较亮暗，但还不是标准星等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D508D83-2FE5-F846-40E0-70B272398754}"/>
              </a:ext>
            </a:extLst>
          </p:cNvPr>
          <p:cNvSpPr/>
          <p:nvPr/>
        </p:nvSpPr>
        <p:spPr>
          <a:xfrm>
            <a:off x="6858000" y="3416300"/>
            <a:ext cx="1168400" cy="279400"/>
          </a:xfrm>
          <a:prstGeom prst="roundRect">
            <a:avLst/>
          </a:prstGeom>
          <a:solidFill>
            <a:srgbClr val="D989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B43448-E528-23CA-315D-B2DF2397BAF9}"/>
              </a:ext>
            </a:extLst>
          </p:cNvPr>
          <p:cNvSpPr txBox="1"/>
          <p:nvPr/>
        </p:nvSpPr>
        <p:spPr>
          <a:xfrm>
            <a:off x="6959600" y="34163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Gaia G</a:t>
            </a:r>
            <a:endParaRPr lang="zh-CN" altLang="en-US" sz="1100" b="1">
              <a:solidFill>
                <a:srgbClr val="0A14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158086-ED9C-F124-B114-2DA245B2F815}"/>
              </a:ext>
            </a:extLst>
          </p:cNvPr>
          <p:cNvSpPr txBox="1"/>
          <p:nvPr/>
        </p:nvSpPr>
        <p:spPr>
          <a:xfrm>
            <a:off x="8204200" y="3378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11,721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参考源 →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15,234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
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当前校准样本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ZP≈20.045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C≈−0.139
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最暗已标定子集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m_G≈13.99</a:t>
            </a:r>
            <a:endParaRPr lang="zh-CN" altLang="en-US" sz="1300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D52EFE3-576F-8274-C279-8FB9F9F4CFBA}"/>
              </a:ext>
            </a:extLst>
          </p:cNvPr>
          <p:cNvSpPr/>
          <p:nvPr/>
        </p:nvSpPr>
        <p:spPr>
          <a:xfrm>
            <a:off x="6858000" y="4495800"/>
            <a:ext cx="1422400" cy="279400"/>
          </a:xfrm>
          <a:prstGeom prst="roundRect">
            <a:avLst/>
          </a:prstGeom>
          <a:solidFill>
            <a:srgbClr val="7BE0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3E1562-4EC6-0B06-5600-C000BD6E7542}"/>
              </a:ext>
            </a:extLst>
          </p:cNvPr>
          <p:cNvSpPr txBox="1"/>
          <p:nvPr/>
        </p:nvSpPr>
        <p:spPr>
          <a:xfrm>
            <a:off x="6959600" y="44958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绝对星等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AB70A1-92CA-45B3-EFDE-C2E79187557F}"/>
              </a:ext>
            </a:extLst>
          </p:cNvPr>
          <p:cNvSpPr txBox="1"/>
          <p:nvPr/>
        </p:nvSpPr>
        <p:spPr>
          <a:xfrm>
            <a:off x="8204200" y="44577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严格结果暂不强报：距离与同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波段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A_G
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必须同时有可靠证据；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G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也不等于相机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450–750 nm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230993B-2E8E-1F0D-E6A5-7601108DD514}"/>
              </a:ext>
            </a:extLst>
          </p:cNvPr>
          <p:cNvSpPr/>
          <p:nvPr/>
        </p:nvSpPr>
        <p:spPr>
          <a:xfrm>
            <a:off x="6858000" y="5334000"/>
            <a:ext cx="4368800" cy="254000"/>
          </a:xfrm>
          <a:prstGeom prst="roundRect">
            <a:avLst/>
          </a:prstGeom>
          <a:solidFill>
            <a:srgbClr val="F58B97"/>
          </a:solidFill>
          <a:ln w="0">
            <a:solidFill>
              <a:srgbClr val="0A14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34D64AD-F2AC-7FF4-AFEF-3C5590A9AAF6}"/>
              </a:ext>
            </a:extLst>
          </p:cNvPr>
          <p:cNvSpPr txBox="1"/>
          <p:nvPr/>
        </p:nvSpPr>
        <p:spPr>
          <a:xfrm>
            <a:off x="6985000" y="533400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现在能给 </a:t>
            </a:r>
            <a:r>
              <a:rPr lang="en-US" altLang="zh-CN" sz="10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</a:t>
            </a:r>
            <a:r>
              <a:rPr lang="zh-CN" altLang="en-US" sz="10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0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 </a:t>
            </a:r>
            <a:r>
              <a:rPr lang="zh-CN" altLang="en-US" sz="10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条件不齐就不硬算</a:t>
            </a:r>
          </a:p>
        </p:txBody>
      </p:sp>
    </p:spTree>
    <p:extLst>
      <p:ext uri="{BB962C8B-B14F-4D97-AF65-F5344CB8AC3E}">
        <p14:creationId xmlns:p14="http://schemas.microsoft.com/office/powerpoint/2010/main" val="243912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8C8A32-5835-0F44-E70B-1B678DA6C8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5DA547-D9A8-0A07-6A48-37115DE0C1A2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DBAFC9-B6E3-7B7D-4484-34D3BECD7445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运动目标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BF08B6-F719-2859-4213-8BBA980573D7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帧里怎么找运动目标？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B54741-17B2-CF68-96DC-4E01CF568163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先把整幅星图的共同移动扣掉，再看有没有真正留下来的结构。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0EBA3C-ABB2-D3AA-9C64-FB1E36817C5D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45B5859-620D-2EDD-476C-F97C4DA57DFD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7AE966E-6DCD-A758-3B66-449DFFABA340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3485308-788E-CADF-593D-E4B74E82FF9F}"/>
              </a:ext>
            </a:extLst>
          </p:cNvPr>
          <p:cNvSpPr/>
          <p:nvPr/>
        </p:nvSpPr>
        <p:spPr>
          <a:xfrm>
            <a:off x="584200" y="2006600"/>
            <a:ext cx="6527800" cy="37084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B5D4FC-CC1F-C0FE-FC6F-824A924B9A4B}"/>
              </a:ext>
            </a:extLst>
          </p:cNvPr>
          <p:cNvSpPr txBox="1"/>
          <p:nvPr/>
        </p:nvSpPr>
        <p:spPr>
          <a:xfrm>
            <a:off x="889000" y="2298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配准后的图像坐标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6FC2120-DAC0-A020-4239-7FED696CC078}"/>
              </a:ext>
            </a:extLst>
          </p:cNvPr>
          <p:cNvCxnSpPr/>
          <p:nvPr/>
        </p:nvCxnSpPr>
        <p:spPr>
          <a:xfrm>
            <a:off x="1270000" y="4495800"/>
            <a:ext cx="5041900" cy="0"/>
          </a:xfrm>
          <a:prstGeom prst="line">
            <a:avLst/>
          </a:prstGeom>
          <a:ln w="1905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DD4926F-4626-FF59-7EC3-450BAAEC6237}"/>
              </a:ext>
            </a:extLst>
          </p:cNvPr>
          <p:cNvSpPr txBox="1"/>
          <p:nvPr/>
        </p:nvSpPr>
        <p:spPr>
          <a:xfrm>
            <a:off x="1295400" y="4635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30ABDA-6157-990B-5AFB-A35E78BE3708}"/>
              </a:ext>
            </a:extLst>
          </p:cNvPr>
          <p:cNvSpPr/>
          <p:nvPr/>
        </p:nvSpPr>
        <p:spPr>
          <a:xfrm>
            <a:off x="1435100" y="4432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1D260EE-9E70-B9B5-0082-8A97AF3B8500}"/>
              </a:ext>
            </a:extLst>
          </p:cNvPr>
          <p:cNvSpPr/>
          <p:nvPr/>
        </p:nvSpPr>
        <p:spPr>
          <a:xfrm>
            <a:off x="2032000" y="4432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B598BC-25FF-4878-75B1-7EAC7A9FF6BD}"/>
              </a:ext>
            </a:extLst>
          </p:cNvPr>
          <p:cNvSpPr txBox="1"/>
          <p:nvPr/>
        </p:nvSpPr>
        <p:spPr>
          <a:xfrm>
            <a:off x="2717800" y="4635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AF55145-8587-4877-748D-4D28AC5F33FC}"/>
              </a:ext>
            </a:extLst>
          </p:cNvPr>
          <p:cNvSpPr/>
          <p:nvPr/>
        </p:nvSpPr>
        <p:spPr>
          <a:xfrm>
            <a:off x="2857500" y="4432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142877C-C065-7F7C-AB10-DE3DE879CC28}"/>
              </a:ext>
            </a:extLst>
          </p:cNvPr>
          <p:cNvSpPr/>
          <p:nvPr/>
        </p:nvSpPr>
        <p:spPr>
          <a:xfrm>
            <a:off x="3454400" y="41148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D9D032-BAED-6D29-EE3F-EA8F432AD297}"/>
              </a:ext>
            </a:extLst>
          </p:cNvPr>
          <p:cNvSpPr txBox="1"/>
          <p:nvPr/>
        </p:nvSpPr>
        <p:spPr>
          <a:xfrm>
            <a:off x="4140200" y="4635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F09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7263930-2095-3C0D-7087-ACAD364A1EA7}"/>
              </a:ext>
            </a:extLst>
          </p:cNvPr>
          <p:cNvSpPr/>
          <p:nvPr/>
        </p:nvSpPr>
        <p:spPr>
          <a:xfrm>
            <a:off x="4279900" y="4432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6FCDB4F-302A-1945-5550-D554674369D0}"/>
              </a:ext>
            </a:extLst>
          </p:cNvPr>
          <p:cNvSpPr/>
          <p:nvPr/>
        </p:nvSpPr>
        <p:spPr>
          <a:xfrm>
            <a:off x="4876800" y="37973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B079FE-3EE2-4D38-CF3F-321225801CCE}"/>
              </a:ext>
            </a:extLst>
          </p:cNvPr>
          <p:cNvSpPr txBox="1"/>
          <p:nvPr/>
        </p:nvSpPr>
        <p:spPr>
          <a:xfrm>
            <a:off x="5562600" y="4635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F15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C1C7877-3D73-A64B-2F09-ED3D757956EA}"/>
              </a:ext>
            </a:extLst>
          </p:cNvPr>
          <p:cNvSpPr/>
          <p:nvPr/>
        </p:nvSpPr>
        <p:spPr>
          <a:xfrm>
            <a:off x="5702300" y="4432300"/>
            <a:ext cx="127000" cy="127000"/>
          </a:xfrm>
          <a:prstGeom prst="ellipse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793B5A6-661F-CA24-67BC-7AF99C09816D}"/>
              </a:ext>
            </a:extLst>
          </p:cNvPr>
          <p:cNvSpPr/>
          <p:nvPr/>
        </p:nvSpPr>
        <p:spPr>
          <a:xfrm>
            <a:off x="6299200" y="3479800"/>
            <a:ext cx="127000" cy="127000"/>
          </a:xfrm>
          <a:prstGeom prst="ellipse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D144BCF-BD16-50C1-D149-525C6C18D520}"/>
              </a:ext>
            </a:extLst>
          </p:cNvPr>
          <p:cNvCxnSpPr/>
          <p:nvPr/>
        </p:nvCxnSpPr>
        <p:spPr>
          <a:xfrm>
            <a:off x="1435100" y="4368800"/>
            <a:ext cx="4330700" cy="0"/>
          </a:xfrm>
          <a:prstGeom prst="line">
            <a:avLst/>
          </a:prstGeom>
          <a:ln w="20320">
            <a:solidFill>
              <a:srgbClr val="69D7E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017DA68-E465-A61F-5C2D-7C6528204B46}"/>
              </a:ext>
            </a:extLst>
          </p:cNvPr>
          <p:cNvCxnSpPr/>
          <p:nvPr/>
        </p:nvCxnSpPr>
        <p:spPr>
          <a:xfrm flipV="1">
            <a:off x="2032000" y="3416300"/>
            <a:ext cx="3733800" cy="952500"/>
          </a:xfrm>
          <a:prstGeom prst="line">
            <a:avLst/>
          </a:prstGeom>
          <a:ln w="31750">
            <a:solidFill>
              <a:srgbClr val="F4B6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B141231-B53C-E73C-402F-F78C01B4E11A}"/>
              </a:ext>
            </a:extLst>
          </p:cNvPr>
          <p:cNvSpPr txBox="1"/>
          <p:nvPr/>
        </p:nvSpPr>
        <p:spPr>
          <a:xfrm>
            <a:off x="1143000" y="3797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A0EF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稳定星场：扣掉共同位移后基本不动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644A1EC-5191-418A-C943-9BA464BA861E}"/>
              </a:ext>
            </a:extLst>
          </p:cNvPr>
          <p:cNvSpPr txBox="1"/>
          <p:nvPr/>
        </p:nvSpPr>
        <p:spPr>
          <a:xfrm>
            <a:off x="3556000" y="30861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运动候选：没有跟着星场一起走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9214F6-3C2D-B25B-6F7C-C854D31CFC30}"/>
              </a:ext>
            </a:extLst>
          </p:cNvPr>
          <p:cNvSpPr txBox="1"/>
          <p:nvPr/>
        </p:nvSpPr>
        <p:spPr>
          <a:xfrm>
            <a:off x="889000" y="52197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先用高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SNR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星点估共同位移，再做关联和直线拟合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013C9A9-4D1E-D385-E026-C1DA90C94BB6}"/>
              </a:ext>
            </a:extLst>
          </p:cNvPr>
          <p:cNvSpPr/>
          <p:nvPr/>
        </p:nvSpPr>
        <p:spPr>
          <a:xfrm>
            <a:off x="7493000" y="2006600"/>
            <a:ext cx="4140200" cy="37084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5138BA0-AFD4-F69C-6C43-535F4CF1F142}"/>
              </a:ext>
            </a:extLst>
          </p:cNvPr>
          <p:cNvSpPr txBox="1"/>
          <p:nvPr/>
        </p:nvSpPr>
        <p:spPr>
          <a:xfrm>
            <a:off x="7823200" y="2298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当前结果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3BCBCC9-0F4F-9FFB-CCBB-0EB96011C650}"/>
              </a:ext>
            </a:extLst>
          </p:cNvPr>
          <p:cNvSpPr txBox="1"/>
          <p:nvPr/>
        </p:nvSpPr>
        <p:spPr>
          <a:xfrm>
            <a:off x="7823200" y="2768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点源 </a:t>
            </a:r>
            <a:r>
              <a:rPr lang="en-US" altLang="zh-CN" sz="13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moving</a:t>
            </a:r>
            <a:endParaRPr lang="zh-CN" altLang="en-US" sz="13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5440DE5-AAA3-7CDB-E33C-CFA4712E5C32}"/>
              </a:ext>
            </a:extLst>
          </p:cNvPr>
          <p:cNvSpPr txBox="1"/>
          <p:nvPr/>
        </p:nvSpPr>
        <p:spPr>
          <a:xfrm>
            <a:off x="10363200" y="2603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4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24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6D0FBF4-EAF9-8353-3F7B-0CEB8A566C25}"/>
              </a:ext>
            </a:extLst>
          </p:cNvPr>
          <p:cNvCxnSpPr/>
          <p:nvPr/>
        </p:nvCxnSpPr>
        <p:spPr>
          <a:xfrm>
            <a:off x="7823200" y="3225800"/>
            <a:ext cx="32258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6023D3A-4AC4-EE86-6604-D18D182BAC07}"/>
              </a:ext>
            </a:extLst>
          </p:cNvPr>
          <p:cNvSpPr txBox="1"/>
          <p:nvPr/>
        </p:nvSpPr>
        <p:spPr>
          <a:xfrm>
            <a:off x="7823200" y="3467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独立线状候选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CB9CF99-9F64-F9A7-B74B-74EADC379CF0}"/>
              </a:ext>
            </a:extLst>
          </p:cNvPr>
          <p:cNvSpPr txBox="1"/>
          <p:nvPr/>
        </p:nvSpPr>
        <p:spPr>
          <a:xfrm>
            <a:off x="9880600" y="33020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F09–F15</a:t>
            </a:r>
            <a:endParaRPr lang="zh-CN" altLang="en-US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7E807F2-D1D5-9862-DC5A-5F3B0EDB9B04}"/>
              </a:ext>
            </a:extLst>
          </p:cNvPr>
          <p:cNvSpPr txBox="1"/>
          <p:nvPr/>
        </p:nvSpPr>
        <p:spPr>
          <a:xfrm>
            <a:off x="7823200" y="3937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位移 ≈ </a:t>
            </a:r>
            <a:r>
              <a:rPr lang="en-US" altLang="zh-CN" sz="15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340.689 px
DATE-OBS OLS RMS ≈ 2.213 px</a:t>
            </a:r>
            <a:endParaRPr lang="zh-CN" altLang="en-US" sz="15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115886-DEC1-A216-2806-6A1475E612F6}"/>
              </a:ext>
            </a:extLst>
          </p:cNvPr>
          <p:cNvCxnSpPr/>
          <p:nvPr/>
        </p:nvCxnSpPr>
        <p:spPr>
          <a:xfrm>
            <a:off x="7823200" y="4699000"/>
            <a:ext cx="32258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C664DFD-E262-0892-6D22-ED70FA8F29CB}"/>
              </a:ext>
            </a:extLst>
          </p:cNvPr>
          <p:cNvSpPr txBox="1"/>
          <p:nvPr/>
        </p:nvSpPr>
        <p:spPr>
          <a:xfrm>
            <a:off x="7823200" y="4927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点源门槛：≥</a:t>
            </a:r>
            <a:r>
              <a:rPr lang="en-US" altLang="zh-CN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12/15 </a:t>
            </a:r>
            <a:r>
              <a:rPr lang="zh-CN" altLang="en-US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帧；位移 ≥</a:t>
            </a:r>
            <a:r>
              <a:rPr lang="en-US" altLang="zh-CN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px</a:t>
            </a:r>
            <a:r>
              <a:rPr lang="zh-CN" altLang="en-US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；拟合 </a:t>
            </a:r>
            <a:r>
              <a:rPr lang="en-US" altLang="zh-CN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 ≤0.75 px</a:t>
            </a:r>
            <a:endParaRPr lang="zh-CN" altLang="en-US" sz="1200">
              <a:solidFill>
                <a:srgbClr val="D4E0F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C91793D-7E9F-DC15-AB5F-8E13C6C869BB}"/>
              </a:ext>
            </a:extLst>
          </p:cNvPr>
          <p:cNvSpPr txBox="1"/>
          <p:nvPr/>
        </p:nvSpPr>
        <p:spPr>
          <a:xfrm>
            <a:off x="7823200" y="5359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 b="1">
                <a:solidFill>
                  <a:srgbClr val="F58B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线状和点源分开统计；目前仍是图像候选。</a:t>
            </a:r>
          </a:p>
        </p:txBody>
      </p:sp>
    </p:spTree>
    <p:extLst>
      <p:ext uri="{BB962C8B-B14F-4D97-AF65-F5344CB8AC3E}">
        <p14:creationId xmlns:p14="http://schemas.microsoft.com/office/powerpoint/2010/main" val="33184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7BD734-9C39-8BC2-BB42-879E66E747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7FF8B6-46A4-E551-01A9-4BF582D1ACAC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E8A3D0-70B3-B009-103D-6FF70B50F34F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436B6E-066E-8426-074C-572B57EC71E6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除了比赛要求，还能给什么数据？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1DA565-488D-39D0-6C0E-84EFAE2248D2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这些数据都来自图像和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帧关系，可以追溯到具体计算。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3FFBA-EE51-AC92-B6BB-3C41417E2F9F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4903DB-39E3-491A-97D0-573834562458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18DF58E-3DC8-FE15-79A5-42538A0DDB7F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F0EB0F9-486A-41D0-64EE-B0B5351FA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99122"/>
              </p:ext>
            </p:extLst>
          </p:nvPr>
        </p:nvGraphicFramePr>
        <p:xfrm>
          <a:off x="584200" y="1955800"/>
          <a:ext cx="11049000" cy="398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10672246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852850739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4098808571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627478977"/>
                    </a:ext>
                  </a:extLst>
                </a:gridCol>
              </a:tblGrid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输出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能回答什么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边界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775154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轨迹速度 </a:t>
                      </a:r>
                      <a:r>
                        <a:rPr lang="en-US" altLang="zh-CN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 </a:t>
                      </a:r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帧配准后做线</a:t>
                      </a:r>
                      <a:r>
                        <a:rPr lang="en-US" altLang="zh-CN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点拟合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有没有相对运动结构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只有像素位移；暂不报轨道参数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04474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时序持久性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统计每个候选出现了几帧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稳定星场还是瞬态响应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重复出现不等于真星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406389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相对光度变化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孔径通量和帧间归一化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亮度有没有变化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不是绝对通量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67176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注入回收率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在真实背景里放入已知源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哪些亮度和背景最容易漏检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只是条件结果，不是全场准确率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618143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覆盖和离散度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注册叠加后统计 </a:t>
                      </a:r>
                      <a:r>
                        <a:rPr lang="en-US" altLang="zh-CN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coverage / scatter</a:t>
                      </a:r>
                      <a:endParaRPr lang="zh-CN" altLang="en-US" sz="1150" b="0">
                        <a:solidFill>
                          <a:srgbClr val="D4E0F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这组数据质量如何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目前只做平移注册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036640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9015D94-D16B-AA6F-3475-CF0337E9A248}"/>
              </a:ext>
            </a:extLst>
          </p:cNvPr>
          <p:cNvSpPr/>
          <p:nvPr/>
        </p:nvSpPr>
        <p:spPr>
          <a:xfrm>
            <a:off x="584200" y="6096000"/>
            <a:ext cx="2082800" cy="279400"/>
          </a:xfrm>
          <a:prstGeom prst="round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2DF77C-388F-03EA-ED2A-1F283298D448}"/>
              </a:ext>
            </a:extLst>
          </p:cNvPr>
          <p:cNvSpPr txBox="1"/>
          <p:nvPr/>
        </p:nvSpPr>
        <p:spPr>
          <a:xfrm>
            <a:off x="685800" y="6096000"/>
            <a:ext cx="187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≥</a:t>
            </a:r>
            <a:r>
              <a:rPr lang="en-US" altLang="zh-CN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类创新有效数据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4A63AB-6383-40A2-AD3A-2DA4BD2435AF}"/>
              </a:ext>
            </a:extLst>
          </p:cNvPr>
          <p:cNvSpPr txBox="1"/>
          <p:nvPr/>
        </p:nvSpPr>
        <p:spPr>
          <a:xfrm>
            <a:off x="2895600" y="60960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这几项都能单独导出数据，也能说明它们能用在什么地方、不能用在什么地方。</a:t>
            </a:r>
          </a:p>
        </p:txBody>
      </p:sp>
    </p:spTree>
    <p:extLst>
      <p:ext uri="{BB962C8B-B14F-4D97-AF65-F5344CB8AC3E}">
        <p14:creationId xmlns:p14="http://schemas.microsoft.com/office/powerpoint/2010/main" val="13231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7C90FF-190A-C2B4-AD6E-9E55E9740D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6ED236-285D-D98E-1D1E-4E62D5650FC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3C7B5-0796-DA37-EDB2-C6BDCE92ADBD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单张结果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B85883-6601-331F-5432-4F2A487F8915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现在一键分析到底多了什么？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C22954-BC9D-F4F6-649F-04B73F97C0F5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以前只做检测；现在单张分析会继续走到 </a:t>
            </a:r>
            <a:r>
              <a:rPr lang="en-US" altLang="zh-CN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</a:t>
            </a:r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测光，并把状态写回界面。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28772B-ED12-598D-E7B1-02959663C9BF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6F5517D-664E-34A0-DF6C-C542B35FC445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E3731E-A18D-EE89-D20C-6C4D309C3DCD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5DB152E-EC17-9523-24F3-64579BA9E7A1}"/>
              </a:ext>
            </a:extLst>
          </p:cNvPr>
          <p:cNvSpPr/>
          <p:nvPr/>
        </p:nvSpPr>
        <p:spPr>
          <a:xfrm>
            <a:off x="584200" y="2006600"/>
            <a:ext cx="4470400" cy="36322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C60785-40E3-E07E-9D91-D3DB4DC7D7EB}"/>
              </a:ext>
            </a:extLst>
          </p:cNvPr>
          <p:cNvSpPr txBox="1"/>
          <p:nvPr/>
        </p:nvSpPr>
        <p:spPr>
          <a:xfrm>
            <a:off x="838200" y="22733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F58B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之前的界面：</a:t>
            </a:r>
            <a:r>
              <a:rPr lang="en-US" altLang="zh-CN" sz="1100" b="1">
                <a:solidFill>
                  <a:srgbClr val="F58B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m_cal </a:t>
            </a:r>
            <a:r>
              <a:rPr lang="zh-CN" altLang="en-US" sz="1100" b="1">
                <a:solidFill>
                  <a:srgbClr val="F58B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不可用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5ABA0B7-A8EF-88C5-3D12-A72CE961FF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2667000"/>
            <a:ext cx="4064000" cy="2413000"/>
          </a:xfrm>
          <a:prstGeom prst="rect">
            <a:avLst/>
          </a:prstGeom>
          <a:ln w="12700">
            <a:solidFill>
              <a:srgbClr val="2B456B"/>
            </a:solidFill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8D96A84-B10D-CFCD-B5B3-352BE538558B}"/>
              </a:ext>
            </a:extLst>
          </p:cNvPr>
          <p:cNvSpPr txBox="1"/>
          <p:nvPr/>
        </p:nvSpPr>
        <p:spPr>
          <a:xfrm>
            <a:off x="838200" y="5219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旧状态：</a:t>
            </a:r>
            <a:r>
              <a:rPr lang="en-US" altLang="zh-CN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m_cal </a:t>
            </a:r>
            <a:r>
              <a:rPr lang="zh-CN" altLang="en-US" sz="11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不可用
根因：默认按钮没有走完整测光链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CB74ED-44BA-4055-AD43-E047200F1CF9}"/>
              </a:ext>
            </a:extLst>
          </p:cNvPr>
          <p:cNvSpPr/>
          <p:nvPr/>
        </p:nvSpPr>
        <p:spPr>
          <a:xfrm>
            <a:off x="5461000" y="2006600"/>
            <a:ext cx="6172200" cy="36322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F45657-4937-58E0-09F3-BD1AAB857360}"/>
              </a:ext>
            </a:extLst>
          </p:cNvPr>
          <p:cNvSpPr txBox="1"/>
          <p:nvPr/>
        </p:nvSpPr>
        <p:spPr>
          <a:xfrm>
            <a:off x="5791200" y="22733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现在的一键分析 </a:t>
            </a:r>
            <a:r>
              <a:rPr lang="en-US" altLang="zh-CN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5B342E-394A-875A-FFDB-7759BB6E3545}"/>
              </a:ext>
            </a:extLst>
          </p:cNvPr>
          <p:cNvSpPr/>
          <p:nvPr/>
        </p:nvSpPr>
        <p:spPr>
          <a:xfrm>
            <a:off x="5461000" y="2667000"/>
            <a:ext cx="50800" cy="431800"/>
          </a:xfrm>
          <a:prstGeom prst="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1F99E0-C87D-E74C-4EBB-F7B5C34AF3B7}"/>
              </a:ext>
            </a:extLst>
          </p:cNvPr>
          <p:cNvSpPr txBox="1"/>
          <p:nvPr/>
        </p:nvSpPr>
        <p:spPr>
          <a:xfrm>
            <a:off x="5689600" y="26924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宽筛候选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87C69D-9591-61EC-75C9-7B256D79838C}"/>
              </a:ext>
            </a:extLst>
          </p:cNvPr>
          <p:cNvSpPr txBox="1"/>
          <p:nvPr/>
        </p:nvSpPr>
        <p:spPr>
          <a:xfrm>
            <a:off x="8890000" y="2641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84,594</a:t>
            </a:r>
            <a:endParaRPr lang="zh-CN" altLang="en-US" sz="23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0FDE13-804E-2F98-1597-7AD9795B1CDC}"/>
              </a:ext>
            </a:extLst>
          </p:cNvPr>
          <p:cNvSpPr/>
          <p:nvPr/>
        </p:nvSpPr>
        <p:spPr>
          <a:xfrm>
            <a:off x="5461000" y="3200400"/>
            <a:ext cx="50800" cy="4318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D053A7-454D-1C42-AADD-E7E2CA64FFFE}"/>
              </a:ext>
            </a:extLst>
          </p:cNvPr>
          <p:cNvSpPr txBox="1"/>
          <p:nvPr/>
        </p:nvSpPr>
        <p:spPr>
          <a:xfrm>
            <a:off x="5689600" y="3225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质量通过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9B8EAD-FED5-8811-779E-96F827FF36D2}"/>
              </a:ext>
            </a:extLst>
          </p:cNvPr>
          <p:cNvSpPr txBox="1"/>
          <p:nvPr/>
        </p:nvSpPr>
        <p:spPr>
          <a:xfrm>
            <a:off x="88900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29,260</a:t>
            </a:r>
            <a:endParaRPr lang="zh-CN" altLang="en-US" sz="23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D1EB27-59AE-4E22-9FFE-4A6627BA72A4}"/>
              </a:ext>
            </a:extLst>
          </p:cNvPr>
          <p:cNvSpPr/>
          <p:nvPr/>
        </p:nvSpPr>
        <p:spPr>
          <a:xfrm>
            <a:off x="5461000" y="3733800"/>
            <a:ext cx="50800" cy="431800"/>
          </a:xfrm>
          <a:prstGeom prst="rect">
            <a:avLst/>
          </a:prstGeom>
          <a:solidFill>
            <a:srgbClr val="D989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694D22-7F36-84B5-D574-D1C48A95FC76}"/>
              </a:ext>
            </a:extLst>
          </p:cNvPr>
          <p:cNvSpPr txBox="1"/>
          <p:nvPr/>
        </p:nvSpPr>
        <p:spPr>
          <a:xfrm>
            <a:off x="5689600" y="3759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</a:t>
            </a:r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B8E87B-DAAC-6936-4FF5-43F5D25FB5CC}"/>
              </a:ext>
            </a:extLst>
          </p:cNvPr>
          <p:cNvSpPr txBox="1"/>
          <p:nvPr/>
        </p:nvSpPr>
        <p:spPr>
          <a:xfrm>
            <a:off x="8890000" y="3708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11,721</a:t>
            </a:r>
            <a:endParaRPr lang="zh-CN" altLang="en-US" sz="23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81D95A-C746-AE86-3736-B34999E2CF43}"/>
              </a:ext>
            </a:extLst>
          </p:cNvPr>
          <p:cNvSpPr/>
          <p:nvPr/>
        </p:nvSpPr>
        <p:spPr>
          <a:xfrm>
            <a:off x="5461000" y="4267200"/>
            <a:ext cx="50800" cy="431800"/>
          </a:xfrm>
          <a:prstGeom prst="rect">
            <a:avLst/>
          </a:prstGeom>
          <a:solidFill>
            <a:srgbClr val="7BE0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E7EC17-E168-E67B-A2E8-4EF47283AB5E}"/>
              </a:ext>
            </a:extLst>
          </p:cNvPr>
          <p:cNvSpPr txBox="1"/>
          <p:nvPr/>
        </p:nvSpPr>
        <p:spPr>
          <a:xfrm>
            <a:off x="5689600" y="42926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 </a:t>
            </a:r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标定源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224E3BC-D9EB-7A50-28E2-EE315C3FA7AB}"/>
              </a:ext>
            </a:extLst>
          </p:cNvPr>
          <p:cNvSpPr txBox="1"/>
          <p:nvPr/>
        </p:nvSpPr>
        <p:spPr>
          <a:xfrm>
            <a:off x="8890000" y="4241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23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15,234</a:t>
            </a:r>
            <a:endParaRPr lang="zh-CN" altLang="en-US" sz="2300" b="1">
              <a:solidFill>
                <a:srgbClr val="F2F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3336F9-5FAA-5296-C14F-D9F5CACCA28E}"/>
              </a:ext>
            </a:extLst>
          </p:cNvPr>
          <p:cNvSpPr/>
          <p:nvPr/>
        </p:nvSpPr>
        <p:spPr>
          <a:xfrm>
            <a:off x="5461000" y="4800600"/>
            <a:ext cx="50800" cy="431800"/>
          </a:xfrm>
          <a:prstGeom prst="rect">
            <a:avLst/>
          </a:prstGeom>
          <a:solidFill>
            <a:srgbClr val="F58B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9A67F9-3C9F-7104-D64F-1CDB6E113C9D}"/>
              </a:ext>
            </a:extLst>
          </p:cNvPr>
          <p:cNvSpPr txBox="1"/>
          <p:nvPr/>
        </p:nvSpPr>
        <p:spPr>
          <a:xfrm>
            <a:off x="5689600" y="4826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 </a:t>
            </a:r>
            <a:r>
              <a:rPr lang="en-US" altLang="zh-CN" sz="12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</a:t>
            </a:r>
            <a:endParaRPr lang="zh-CN" altLang="en-US" sz="12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332DD8B-C794-E9AF-BFBE-18E03C8B2042}"/>
              </a:ext>
            </a:extLst>
          </p:cNvPr>
          <p:cNvSpPr txBox="1"/>
          <p:nvPr/>
        </p:nvSpPr>
        <p:spPr>
          <a:xfrm>
            <a:off x="8890000" y="4775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zh-CN" altLang="en-US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暂不强报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752E904-78B3-7A99-F31A-1FA2B6DFE1E3}"/>
              </a:ext>
            </a:extLst>
          </p:cNvPr>
          <p:cNvCxnSpPr/>
          <p:nvPr/>
        </p:nvCxnSpPr>
        <p:spPr>
          <a:xfrm>
            <a:off x="5791200" y="5346700"/>
            <a:ext cx="53340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D840504-1AEE-4A91-71B8-C68642E4A28F}"/>
              </a:ext>
            </a:extLst>
          </p:cNvPr>
          <p:cNvSpPr txBox="1"/>
          <p:nvPr/>
        </p:nvSpPr>
        <p:spPr>
          <a:xfrm>
            <a:off x="5791200" y="5435600"/>
            <a:ext cx="535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m_G≈13.99 </a:t>
            </a:r>
            <a:r>
              <a:rPr lang="zh-CN" altLang="en-US" sz="115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是“已标定子集中的最暗表观星等”，不是全场无条件极限；</a:t>
            </a:r>
            <a:r>
              <a:rPr lang="en-US" altLang="zh-CN" sz="115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 </a:t>
            </a:r>
            <a:r>
              <a:rPr lang="zh-CN" altLang="en-US" sz="115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仍等待距离与同波段消光证据。</a:t>
            </a:r>
          </a:p>
        </p:txBody>
      </p:sp>
    </p:spTree>
    <p:extLst>
      <p:ext uri="{BB962C8B-B14F-4D97-AF65-F5344CB8AC3E}">
        <p14:creationId xmlns:p14="http://schemas.microsoft.com/office/powerpoint/2010/main" val="105815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5CB495-90F0-5CB5-3D90-D2D4151C3A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C94034-D6C6-0192-EFF6-F6D993791A88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15AD1-D46C-4B8F-AF87-F0B1E08AEDC2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答辩准备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F51756-0E83-EB01-EE9A-0562580F39C3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评委可能会问什么？我们怎么答？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F55330-41FF-B008-BE76-07ADFC221A68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下面的回答都按当前数据说，不把没证明的说成已经证明。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3BB5DD-3EBA-B332-01A9-264495E37AF1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A11E7FC-C319-2DDA-255C-E6FC430D1E7A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36D5B25-96D6-1342-C82A-F13CD0D057B4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83662BA-2D0F-20C6-0B3E-5605FC9A6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63465"/>
              </p:ext>
            </p:extLst>
          </p:nvPr>
        </p:nvGraphicFramePr>
        <p:xfrm>
          <a:off x="584200" y="1943100"/>
          <a:ext cx="11049000" cy="414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1231092688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304049407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13874204"/>
                    </a:ext>
                  </a:extLst>
                </a:gridCol>
              </a:tblGrid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评委可能会问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我们可以这样答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solidFill>
                            <a:srgbClr val="F2F6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手里有什么依据</a:t>
                      </a:r>
                    </a:p>
                  </a:txBody>
                  <a:tcPr marL="88900" marR="88900" marT="50800" marB="50800" anchor="ctr">
                    <a:solidFill>
                      <a:srgbClr val="16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860970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为什么候选数比别人多？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我们把“找出来的候选”和“筛完留下的源”分开报；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84,594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不是星数。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84,594 → 29,260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；没有逐星真值，不拿外部数量硬调参数。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18622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SNR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阈值是不是拍脑袋？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SNR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只说明它比附近背景突出，还要看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PSF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、形状、支持像素、值域和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帧。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注入回收和负峰对照；阈值是当前折中，不是恒星概率。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155736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特殊亮点是真星还是噪点？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只看截图不能下结论，要回看原始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ADU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PSF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、双源模型、掩膜和跨帧表现。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异常码、线状、拥挤候选先留在审计表里，不硬说成普通噪声。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0560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m_G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是相机真实星等吗？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它是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Gaia G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波段的表观星等，不等于相机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450–750 nm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的严格响应。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WCS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Gaia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参考星、零点和颜色项；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m_inst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也保留。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49663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为什么没有绝对星等？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还缺可靠距离和同 </a:t>
                      </a:r>
                      <a:r>
                        <a:rPr lang="en-US" altLang="zh-CN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 </a:t>
                      </a:r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波段的消光；条件不齐就不硬算。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D4E0F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软件显示不可用是科学边界，不是程序出错。</a:t>
                      </a:r>
                    </a:p>
                  </a:txBody>
                  <a:tcPr marL="88900" marR="88900" marT="50800" marB="50800" anchor="ctr">
                    <a:solidFill>
                      <a:srgbClr val="10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415112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E2C3894-881F-85C7-86F7-C08B1603A8D6}"/>
              </a:ext>
            </a:extLst>
          </p:cNvPr>
          <p:cNvSpPr/>
          <p:nvPr/>
        </p:nvSpPr>
        <p:spPr>
          <a:xfrm>
            <a:off x="584200" y="6223000"/>
            <a:ext cx="1117600" cy="279400"/>
          </a:xfrm>
          <a:prstGeom prst="roundRect">
            <a:avLst/>
          </a:prstGeom>
          <a:solidFill>
            <a:srgbClr val="F4B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1C51FE-6AD6-DE6A-B784-1248313C1E5A}"/>
              </a:ext>
            </a:extLst>
          </p:cNvPr>
          <p:cNvSpPr txBox="1"/>
          <p:nvPr/>
        </p:nvSpPr>
        <p:spPr>
          <a:xfrm>
            <a:off x="685800" y="62230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回答顺序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CFA323-DDAF-0597-28BE-1C0263A18BDD}"/>
              </a:ext>
            </a:extLst>
          </p:cNvPr>
          <p:cNvSpPr txBox="1"/>
          <p:nvPr/>
        </p:nvSpPr>
        <p:spPr>
          <a:xfrm>
            <a:off x="1905000" y="6223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先说是什么，再说数字、依据和还缺什么</a:t>
            </a:r>
          </a:p>
        </p:txBody>
      </p:sp>
    </p:spTree>
    <p:extLst>
      <p:ext uri="{BB962C8B-B14F-4D97-AF65-F5344CB8AC3E}">
        <p14:creationId xmlns:p14="http://schemas.microsoft.com/office/powerpoint/2010/main" val="88479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84247C-F1E1-4EAC-942D-49FCC1EED7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749FA7-FCFC-2D80-0877-B98DE9C247B1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C810CE-478C-4333-D3D1-B07F1F820A23}"/>
              </a:ext>
            </a:extLst>
          </p:cNvPr>
          <p:cNvSpPr txBox="1"/>
          <p:nvPr/>
        </p:nvSpPr>
        <p:spPr>
          <a:xfrm>
            <a:off x="558800" y="304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· </a:t>
            </a:r>
            <a:r>
              <a:rPr lang="zh-CN" altLang="en-US" sz="10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D309B2-ACF3-99FD-B077-2822B15134E1}"/>
              </a:ext>
            </a:extLst>
          </p:cNvPr>
          <p:cNvSpPr txBox="1"/>
          <p:nvPr/>
        </p:nvSpPr>
        <p:spPr>
          <a:xfrm>
            <a:off x="558800" y="647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最后怎么收尾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2C9597-68C6-5079-E6C3-EF3FF0E3A8FD}"/>
              </a:ext>
            </a:extLst>
          </p:cNvPr>
          <p:cNvSpPr txBox="1"/>
          <p:nvPr/>
        </p:nvSpPr>
        <p:spPr>
          <a:xfrm>
            <a:off x="558800" y="1193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把已经做到的说清楚，把还缺的也说清楚。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4BB33A-E836-2D73-844C-D54150616503}"/>
              </a:ext>
            </a:extLst>
          </p:cNvPr>
          <p:cNvSpPr txBox="1"/>
          <p:nvPr/>
        </p:nvSpPr>
        <p:spPr>
          <a:xfrm>
            <a:off x="10820400" y="3048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00" b="1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11</a:t>
            </a:r>
            <a:endParaRPr lang="zh-CN" altLang="en-US" sz="1000" b="1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E1E3ED4-5AB8-287B-F861-79DC27522ACB}"/>
              </a:ext>
            </a:extLst>
          </p:cNvPr>
          <p:cNvCxnSpPr/>
          <p:nvPr/>
        </p:nvCxnSpPr>
        <p:spPr>
          <a:xfrm>
            <a:off x="558800" y="1600200"/>
            <a:ext cx="110744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3735CCB-8300-8B77-8B20-71867415FC16}"/>
              </a:ext>
            </a:extLst>
          </p:cNvPr>
          <p:cNvSpPr txBox="1"/>
          <p:nvPr/>
        </p:nvSpPr>
        <p:spPr>
          <a:xfrm>
            <a:off x="5588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RST19-SOL · </a:t>
            </a:r>
            <a:r>
              <a:rPr lang="zh-CN" altLang="en-US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可审计研究稿 </a:t>
            </a:r>
            <a:r>
              <a:rPr lang="en-US" altLang="zh-CN" sz="900">
                <a:solidFill>
                  <a:srgbClr val="91A5C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2026-09</a:t>
            </a:r>
            <a:endParaRPr lang="zh-CN" altLang="en-US" sz="900">
              <a:solidFill>
                <a:srgbClr val="91A5C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6C2B37-29A8-B9BC-EB7A-E2C6F66EB400}"/>
              </a:ext>
            </a:extLst>
          </p:cNvPr>
          <p:cNvSpPr/>
          <p:nvPr/>
        </p:nvSpPr>
        <p:spPr>
          <a:xfrm>
            <a:off x="584200" y="2032000"/>
            <a:ext cx="6248400" cy="358140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8BEE85-81F2-243B-DF06-93E5ACC833AE}"/>
              </a:ext>
            </a:extLst>
          </p:cNvPr>
          <p:cNvSpPr txBox="1"/>
          <p:nvPr/>
        </p:nvSpPr>
        <p:spPr>
          <a:xfrm>
            <a:off x="889000" y="23241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三句话记住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E37630-9E21-E3FE-CF54-9590CCFDCC24}"/>
              </a:ext>
            </a:extLst>
          </p:cNvPr>
          <p:cNvSpPr txBox="1"/>
          <p:nvPr/>
        </p:nvSpPr>
        <p:spPr>
          <a:xfrm>
            <a:off x="889000" y="2895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99B572-7117-532E-8951-7EAE7BE60640}"/>
              </a:ext>
            </a:extLst>
          </p:cNvPr>
          <p:cNvSpPr txBox="1"/>
          <p:nvPr/>
        </p:nvSpPr>
        <p:spPr>
          <a:xfrm>
            <a:off x="1473200" y="28575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单张图：先找点，再筛选，最后接 </a:t>
            </a:r>
            <a:r>
              <a:rPr lang="en-US" altLang="zh-CN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</a:t>
            </a:r>
            <a:r>
              <a:rPr lang="zh-CN" altLang="en-US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算表观星等。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929FAE-CFF4-3A5A-1B76-E27BB3FFD061}"/>
              </a:ext>
            </a:extLst>
          </p:cNvPr>
          <p:cNvSpPr txBox="1"/>
          <p:nvPr/>
        </p:nvSpPr>
        <p:spPr>
          <a:xfrm>
            <a:off x="889000" y="3708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E05794-5D66-A5AB-6CBC-DC8045B513F5}"/>
              </a:ext>
            </a:extLst>
          </p:cNvPr>
          <p:cNvSpPr txBox="1"/>
          <p:nvPr/>
        </p:nvSpPr>
        <p:spPr>
          <a:xfrm>
            <a:off x="1473200" y="3670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张图：先扣掉星场共同移动，再找运动目标。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AEEA2A-591B-FBD8-1D39-B9FCE02FD6D8}"/>
              </a:ext>
            </a:extLst>
          </p:cNvPr>
          <p:cNvSpPr txBox="1"/>
          <p:nvPr/>
        </p:nvSpPr>
        <p:spPr>
          <a:xfrm>
            <a:off x="889000" y="4521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FD4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7B40D4-1866-498A-7AB8-9DBD2EF052B3}"/>
              </a:ext>
            </a:extLst>
          </p:cNvPr>
          <p:cNvSpPr txBox="1"/>
          <p:nvPr/>
        </p:nvSpPr>
        <p:spPr>
          <a:xfrm>
            <a:off x="1473200" y="44831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创新：把持久性、相对亮度、注入回收等做成数据。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52CDD49-9F4B-E6BE-B911-E4C1BA4DD011}"/>
              </a:ext>
            </a:extLst>
          </p:cNvPr>
          <p:cNvSpPr/>
          <p:nvPr/>
        </p:nvSpPr>
        <p:spPr>
          <a:xfrm>
            <a:off x="7289800" y="2032000"/>
            <a:ext cx="4343400" cy="3581400"/>
          </a:xfrm>
          <a:prstGeom prst="roundRect">
            <a:avLst/>
          </a:prstGeom>
          <a:solidFill>
            <a:srgbClr val="162A4B"/>
          </a:solidFill>
          <a:ln w="12700">
            <a:solidFill>
              <a:srgbClr val="2B45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49D66E-EF29-23FD-617C-65FC9A48F217}"/>
              </a:ext>
            </a:extLst>
          </p:cNvPr>
          <p:cNvSpPr txBox="1"/>
          <p:nvPr/>
        </p:nvSpPr>
        <p:spPr>
          <a:xfrm>
            <a:off x="7620000" y="23241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100" b="1">
                <a:solidFill>
                  <a:srgbClr val="FFD4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秒说法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4A5462-D4C5-5E72-FD3F-DA7C8F5507A0}"/>
              </a:ext>
            </a:extLst>
          </p:cNvPr>
          <p:cNvSpPr txBox="1"/>
          <p:nvPr/>
        </p:nvSpPr>
        <p:spPr>
          <a:xfrm>
            <a:off x="7620000" y="27940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“我们先把图上的局部响应找出来，再用 </a:t>
            </a:r>
            <a:r>
              <a:rPr lang="en-US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SNR</a:t>
            </a:r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PSF </a:t>
            </a:r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帧检查它像不像一个点源。能做 </a:t>
            </a:r>
            <a:r>
              <a:rPr lang="en-US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Gaia </a:t>
            </a:r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表观星等就写 </a:t>
            </a:r>
            <a:r>
              <a:rPr lang="en-US" altLang="zh-CN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m_G</a:t>
            </a:r>
            <a:r>
              <a:rPr lang="zh-CN" altLang="en-US" sz="1700" b="1">
                <a:solidFill>
                  <a:srgbClr val="F2F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；距离和同波段消光没齐，就不把它说成绝对星等。”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3D94B3E-76D0-EF4D-95CC-3CD498BD11DE}"/>
              </a:ext>
            </a:extLst>
          </p:cNvPr>
          <p:cNvCxnSpPr/>
          <p:nvPr/>
        </p:nvCxnSpPr>
        <p:spPr>
          <a:xfrm>
            <a:off x="7620000" y="4368800"/>
            <a:ext cx="3505200" cy="0"/>
          </a:xfrm>
          <a:prstGeom prst="line">
            <a:avLst/>
          </a:prstGeom>
          <a:ln w="12700">
            <a:solidFill>
              <a:srgbClr val="2B4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64F9A7A-EC27-CA63-8599-5A6A8C4D57D0}"/>
              </a:ext>
            </a:extLst>
          </p:cNvPr>
          <p:cNvSpPr txBox="1"/>
          <p:nvPr/>
        </p:nvSpPr>
        <p:spPr>
          <a:xfrm>
            <a:off x="7620000" y="45847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00" b="1">
                <a:solidFill>
                  <a:srgbClr val="69D7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后面还要补的材料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5509CF-2796-A144-9506-C9F813114B4C}"/>
              </a:ext>
            </a:extLst>
          </p:cNvPr>
          <p:cNvSpPr txBox="1"/>
          <p:nvPr/>
        </p:nvSpPr>
        <p:spPr>
          <a:xfrm>
            <a:off x="7620000" y="49403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官方逐星真值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相机响应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标准星
增益与读出噪声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 </a:t>
            </a:r>
            <a:r>
              <a:rPr lang="en-US" altLang="zh-CN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WCS · </a:t>
            </a:r>
            <a:r>
              <a:rPr lang="zh-CN" altLang="en-US" sz="1300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消光来源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E90C2D0-D9E6-2FCE-199E-64F271F51D05}"/>
              </a:ext>
            </a:extLst>
          </p:cNvPr>
          <p:cNvSpPr/>
          <p:nvPr/>
        </p:nvSpPr>
        <p:spPr>
          <a:xfrm>
            <a:off x="584200" y="6032500"/>
            <a:ext cx="2159000" cy="279400"/>
          </a:xfrm>
          <a:prstGeom prst="roundRect">
            <a:avLst/>
          </a:prstGeom>
          <a:solidFill>
            <a:srgbClr val="69D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CACEA9-372D-9EF6-C5E4-C0A60B59A30A}"/>
              </a:ext>
            </a:extLst>
          </p:cNvPr>
          <p:cNvSpPr txBox="1"/>
          <p:nvPr/>
        </p:nvSpPr>
        <p:spPr>
          <a:xfrm>
            <a:off x="685800" y="60325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可复现 </a:t>
            </a:r>
            <a:r>
              <a:rPr lang="en-US" altLang="zh-CN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可解释 </a:t>
            </a:r>
            <a:r>
              <a:rPr lang="en-US" altLang="zh-CN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0A14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有边界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873AE0-6E53-DA36-A95D-2AE1A63BBB5C}"/>
              </a:ext>
            </a:extLst>
          </p:cNvPr>
          <p:cNvSpPr txBox="1"/>
          <p:nvPr/>
        </p:nvSpPr>
        <p:spPr>
          <a:xfrm>
            <a:off x="2997200" y="60706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D4E0F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能做的讲清楚，不能做的讲明白，这就是答辩时的底气。</a:t>
            </a:r>
          </a:p>
        </p:txBody>
      </p:sp>
    </p:spTree>
    <p:extLst>
      <p:ext uri="{BB962C8B-B14F-4D97-AF65-F5344CB8AC3E}">
        <p14:creationId xmlns:p14="http://schemas.microsoft.com/office/powerpoint/2010/main" val="381660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2513</Words>
  <Application>Microsoft Office PowerPoint</Application>
  <PresentationFormat>自定义</PresentationFormat>
  <Paragraphs>274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DawnDream 晓梦</dc:creator>
  <cp:lastModifiedBy>DawnDream 晓梦</cp:lastModifiedBy>
  <cp:revision>1</cp:revision>
  <dcterms:created xsi:type="dcterms:W3CDTF">2026-09-12T17:40:16Z</dcterms:created>
  <dcterms:modified xsi:type="dcterms:W3CDTF">2026-09-12T17:40:16Z</dcterms:modified>
</cp:coreProperties>
</file>