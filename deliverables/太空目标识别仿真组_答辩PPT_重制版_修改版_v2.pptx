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3b581a98d5494d" /><Relationship Type="http://schemas.openxmlformats.org/officeDocument/2006/relationships/extended-properties" Target="/docProps/app.xml" Id="Rb9ae64e6867f47eb" /><Relationship Type="http://schemas.openxmlformats.org/officeDocument/2006/relationships/officeDocument" Target="/ppt/presentation.xml" Id="Rf7c60debc09a4f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31b3ef16a84db0"/>
  </p:sldMasterIdLst>
  <p:notesMasterIdLst>
    <p:notesMasterId xmlns:r="http://schemas.openxmlformats.org/officeDocument/2006/relationships" r:id="R38c02edef181403b"/>
  </p:notesMasterIdLst>
  <p:sldIdLst>
    <p:sldId xmlns:r="http://schemas.openxmlformats.org/officeDocument/2006/relationships" id="256" r:id="R39c3d5ca269a4dd2"/>
    <p:sldId xmlns:r="http://schemas.openxmlformats.org/officeDocument/2006/relationships" id="257" r:id="R1f78f59fc7514352"/>
    <p:sldId xmlns:r="http://schemas.openxmlformats.org/officeDocument/2006/relationships" id="258" r:id="Rccdd14ef4e9a4039"/>
    <p:sldId xmlns:r="http://schemas.openxmlformats.org/officeDocument/2006/relationships" id="259" r:id="R708ec77fba104cf7"/>
    <p:sldId xmlns:r="http://schemas.openxmlformats.org/officeDocument/2006/relationships" id="260" r:id="R3934eaa7276c44dc"/>
    <p:sldId xmlns:r="http://schemas.openxmlformats.org/officeDocument/2006/relationships" id="261" r:id="R3a115e7355b4494f"/>
    <p:sldId xmlns:r="http://schemas.openxmlformats.org/officeDocument/2006/relationships" id="262" r:id="Reb6e47107f6946de"/>
    <p:sldId xmlns:r="http://schemas.openxmlformats.org/officeDocument/2006/relationships" id="263" r:id="R168533d4376b4877"/>
    <p:sldId xmlns:r="http://schemas.openxmlformats.org/officeDocument/2006/relationships" id="264" r:id="R09e52a823230445f"/>
    <p:sldId xmlns:r="http://schemas.openxmlformats.org/officeDocument/2006/relationships" id="265" r:id="R3efa0ed93ca24668"/>
    <p:sldId xmlns:r="http://schemas.openxmlformats.org/officeDocument/2006/relationships" id="266" r:id="Re1f4977496334879"/>
    <p:sldId xmlns:r="http://schemas.openxmlformats.org/officeDocument/2006/relationships" id="267" r:id="R1ebf95b476e44525"/>
    <p:sldId xmlns:r="http://schemas.openxmlformats.org/officeDocument/2006/relationships" id="268" r:id="R568180cd283140e1"/>
    <p:sldId xmlns:r="http://schemas.openxmlformats.org/officeDocument/2006/relationships" id="269" r:id="R22935b94a1344d81"/>
    <p:sldId xmlns:r="http://schemas.openxmlformats.org/officeDocument/2006/relationships" id="270" r:id="R7ee8582ccc7a4f3d"/>
    <p:sldId xmlns:r="http://schemas.openxmlformats.org/officeDocument/2006/relationships" id="271" r:id="R02a977d1ff3b423c"/>
    <p:sldId xmlns:r="http://schemas.openxmlformats.org/officeDocument/2006/relationships" id="272" r:id="Rae08efd8918340c5"/>
    <p:sldId xmlns:r="http://schemas.openxmlformats.org/officeDocument/2006/relationships" id="273" r:id="Rc8bfc1567c7d43a3"/>
    <p:sldId xmlns:r="http://schemas.openxmlformats.org/officeDocument/2006/relationships" id="274" r:id="R7a2e4f9b1fe948f9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e452e355cb4175" /><Relationship Type="http://schemas.openxmlformats.org/officeDocument/2006/relationships/slideMaster" Target="/ppt/slideMasters/slideMaster1.xml" Id="Raa31b3ef16a84db0" /><Relationship Type="http://schemas.openxmlformats.org/officeDocument/2006/relationships/notesMaster" Target="/ppt/notesMasters/notesMaster1.xml" Id="R38c02edef181403b" /><Relationship Type="http://schemas.openxmlformats.org/officeDocument/2006/relationships/presProps" Target="/ppt/presProps.xml" Id="Red962fb112874663" /><Relationship Type="http://schemas.openxmlformats.org/officeDocument/2006/relationships/viewProps" Target="/ppt/viewProps.xml" Id="R0894954e7508498d" /><Relationship Type="http://schemas.openxmlformats.org/officeDocument/2006/relationships/tableStyles" Target="/ppt/tableStyles.xml" Id="Rde449fe49976402e" /><Relationship Type="http://schemas.openxmlformats.org/officeDocument/2006/relationships/slide" Target="/ppt/slides/slide1.xml" Id="R39c3d5ca269a4dd2" /><Relationship Type="http://schemas.openxmlformats.org/officeDocument/2006/relationships/slide" Target="/ppt/slides/slide2.xml" Id="R1f78f59fc7514352" /><Relationship Type="http://schemas.openxmlformats.org/officeDocument/2006/relationships/slide" Target="/ppt/slides/slide3.xml" Id="Rccdd14ef4e9a4039" /><Relationship Type="http://schemas.openxmlformats.org/officeDocument/2006/relationships/slide" Target="/ppt/slides/slide4.xml" Id="R708ec77fba104cf7" /><Relationship Type="http://schemas.openxmlformats.org/officeDocument/2006/relationships/slide" Target="/ppt/slides/slide5.xml" Id="R3934eaa7276c44dc" /><Relationship Type="http://schemas.openxmlformats.org/officeDocument/2006/relationships/slide" Target="/ppt/slides/slide6.xml" Id="R3a115e7355b4494f" /><Relationship Type="http://schemas.openxmlformats.org/officeDocument/2006/relationships/slide" Target="/ppt/slides/slide7.xml" Id="Reb6e47107f6946de" /><Relationship Type="http://schemas.openxmlformats.org/officeDocument/2006/relationships/slide" Target="/ppt/slides/slide8.xml" Id="R168533d4376b4877" /><Relationship Type="http://schemas.openxmlformats.org/officeDocument/2006/relationships/slide" Target="/ppt/slides/slide9.xml" Id="R09e52a823230445f" /><Relationship Type="http://schemas.openxmlformats.org/officeDocument/2006/relationships/slide" Target="/ppt/slides/slide10.xml" Id="R3efa0ed93ca24668" /><Relationship Type="http://schemas.openxmlformats.org/officeDocument/2006/relationships/slide" Target="/ppt/slides/slide11.xml" Id="Re1f4977496334879" /><Relationship Type="http://schemas.openxmlformats.org/officeDocument/2006/relationships/slide" Target="/ppt/slides/slide12.xml" Id="R1ebf95b476e44525" /><Relationship Type="http://schemas.openxmlformats.org/officeDocument/2006/relationships/slide" Target="/ppt/slides/slide13.xml" Id="R568180cd283140e1" /><Relationship Type="http://schemas.openxmlformats.org/officeDocument/2006/relationships/slide" Target="/ppt/slides/slide14.xml" Id="R22935b94a1344d81" /><Relationship Type="http://schemas.openxmlformats.org/officeDocument/2006/relationships/slide" Target="/ppt/slides/slide15.xml" Id="R7ee8582ccc7a4f3d" /><Relationship Type="http://schemas.openxmlformats.org/officeDocument/2006/relationships/slide" Target="/ppt/slides/slide16.xml" Id="R02a977d1ff3b423c" /><Relationship Type="http://schemas.openxmlformats.org/officeDocument/2006/relationships/slide" Target="/ppt/slides/slide17.xml" Id="Rae08efd8918340c5" /><Relationship Type="http://schemas.openxmlformats.org/officeDocument/2006/relationships/slide" Target="/ppt/slides/slide18.xml" Id="Rc8bfc1567c7d43a3" /><Relationship Type="http://schemas.openxmlformats.org/officeDocument/2006/relationships/slide" Target="/ppt/slides/slide19.xml" Id="R7a2e4f9b1fe948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56f452850f4c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282dae0e544e34" /><Relationship Type="http://schemas.openxmlformats.org/officeDocument/2006/relationships/notesMaster" Target="/ppt/notesMasters/notesMaster1.xml" Id="R19a2a67560be49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f85d3589524d62" /><Relationship Type="http://schemas.openxmlformats.org/officeDocument/2006/relationships/notesMaster" Target="/ppt/notesMasters/notesMaster1.xml" Id="R047b7e2b2e404e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723d9e209f4db9" /><Relationship Type="http://schemas.openxmlformats.org/officeDocument/2006/relationships/notesMaster" Target="/ppt/notesMasters/notesMaster1.xml" Id="R16dc3c08ef5c46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07bb12772d45e7" /><Relationship Type="http://schemas.openxmlformats.org/officeDocument/2006/relationships/notesMaster" Target="/ppt/notesMasters/notesMaster1.xml" Id="R70ca117f4d644a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fec3c8586243c9" /><Relationship Type="http://schemas.openxmlformats.org/officeDocument/2006/relationships/notesMaster" Target="/ppt/notesMasters/notesMaster1.xml" Id="Ra7aeb9a79f1540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e2b20739b3446a" /><Relationship Type="http://schemas.openxmlformats.org/officeDocument/2006/relationships/notesMaster" Target="/ppt/notesMasters/notesMaster1.xml" Id="R9662468a945541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1fffe7ce9846b9" /><Relationship Type="http://schemas.openxmlformats.org/officeDocument/2006/relationships/notesMaster" Target="/ppt/notesMasters/notesMaster1.xml" Id="R5bb1a903628144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a19ad9e756416c" /><Relationship Type="http://schemas.openxmlformats.org/officeDocument/2006/relationships/notesMaster" Target="/ppt/notesMasters/notesMaster1.xml" Id="Rc76dff0d943c43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0ceb9e39374da3" /><Relationship Type="http://schemas.openxmlformats.org/officeDocument/2006/relationships/notesMaster" Target="/ppt/notesMasters/notesMaster1.xml" Id="Rae51d807250d43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ea490116a64f8d" /><Relationship Type="http://schemas.openxmlformats.org/officeDocument/2006/relationships/notesMaster" Target="/ppt/notesMasters/notesMaster1.xml" Id="Rcd31cea4a63846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846daf17b9465a" /><Relationship Type="http://schemas.openxmlformats.org/officeDocument/2006/relationships/notesMaster" Target="/ppt/notesMasters/notesMaster1.xml" Id="Reaa716f10c5f46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aa263198684e75" /><Relationship Type="http://schemas.openxmlformats.org/officeDocument/2006/relationships/notesMaster" Target="/ppt/notesMasters/notesMaster1.xml" Id="Re9f45e483bb844b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8f4508dbbe45ea" /><Relationship Type="http://schemas.openxmlformats.org/officeDocument/2006/relationships/notesMaster" Target="/ppt/notesMasters/notesMaster1.xml" Id="R9eb2eba973534ae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74ecb7a6b54a9b" /><Relationship Type="http://schemas.openxmlformats.org/officeDocument/2006/relationships/notesMaster" Target="/ppt/notesMasters/notesMaster1.xml" Id="R43cd5d6873fc43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d633f7e8d6b4ca2" /><Relationship Type="http://schemas.openxmlformats.org/officeDocument/2006/relationships/notesMaster" Target="/ppt/notesMasters/notesMaster1.xml" Id="Rac5cc53f376146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aebf5ded515482c" /><Relationship Type="http://schemas.openxmlformats.org/officeDocument/2006/relationships/notesMaster" Target="/ppt/notesMasters/notesMaster1.xml" Id="R7f0865f16d484fc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863a9dc60f1497c" /><Relationship Type="http://schemas.openxmlformats.org/officeDocument/2006/relationships/notesMaster" Target="/ppt/notesMasters/notesMaster1.xml" Id="R06af9462f9444d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6f2535194954ee9" /><Relationship Type="http://schemas.openxmlformats.org/officeDocument/2006/relationships/notesMaster" Target="/ppt/notesMasters/notesMaster1.xml" Id="R51b8081482fa4b2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b34725cfcc54eaa" /><Relationship Type="http://schemas.openxmlformats.org/officeDocument/2006/relationships/notesMaster" Target="/ppt/notesMasters/notesMaster1.xml" Id="R00f74a67356348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035f749744e6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08eeecf67c43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1d122776849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53bd6a9e449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c20ffcd6044c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aa091a0ad34c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4132051fe4b9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9515420c2648b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1e7379ec6423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db06cf201c45e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40802cd92b496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999110-E0CB-4712-9613-883FAED6683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BD5B97-BC06-4DA1-81B0-F27E5BD218F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283A9E8-859F-4F84-A4EF-4B8BE2BE50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39E3E57-F3E3-4E79-9205-3B630C9E26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E8DC4A-CB7F-4FD9-BBF2-785520D5BC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2CD09E-BB1B-4DA3-88AD-20A4F86868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D833B27-38C2-4510-9256-5F687356D0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B91E1C-B131-4C02-B678-E0346D8498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F8B6B2E-00D0-4B39-B9B9-8CF1A35518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1522E4-4DCB-444C-81DE-1628330C0C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876F74-FBDB-40C2-BC0D-8F2B81B2A6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5E80E1-D2BC-46CD-BF22-2912A8F26C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2C3A8B3-D755-4E58-9C62-281D8539EC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4D14FBF-A2D5-475A-9C51-F1FD2510B2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AEFCBD-62B7-4971-975E-FF4AD8EF7A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20731D-3268-40B7-980F-6602A9B4D2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9C124B-FCB9-4F68-AC93-FE7E95C34E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7BAA867-252E-448B-ADA3-132F0303962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09B9F25-59C3-4156-BB22-AE91566A84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7B38EA8-BBA9-44FC-BCA9-74A31FDB05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61DAF61-CD46-407D-8311-1B7F59BC15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23A25D-8402-4AD0-8735-FC36766551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1D767C2-D6F8-494E-AE64-63145E2891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E4A3A09-47E9-482B-A69B-356A3CFEAC6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2BDC9CB-A7E0-4F85-8195-F59CA7439D0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0EDFBFD-5102-499B-BCDA-8A7DA4F9D8A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1BB24E0-C3EC-4454-B123-9CC8D51DDC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FE00A66-3261-467E-9730-B857C5E96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DAFBA7D-D6A4-4E20-B907-859E53EF7B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1CB797-62E9-4B57-962D-309DD6E4D8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01FE780-2F32-48D4-ADBD-F1A8D467BE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749076B-7D06-41E2-8154-7B5F32E0C0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1E5AFC6-1149-46D4-8CF6-948324FBF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B4AAB33-68A9-401D-9FBE-B767BD2B63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FDA4A3E-2226-4CF3-8211-2B218FBACD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CD680E6-029D-468C-B73E-CA0EA324C2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61F9D6-FAB6-4D1E-8DB6-A09B34E440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1C02D9C-63A5-4BE2-AC3B-7ECE0495C5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E8829EA-977D-4418-A383-AA44BE65E3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720EC74-3D44-43B9-B436-0F38C9F2DD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FB9FADF-8052-4418-9D4B-C311D31EBB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99054BE-1E6B-4DAC-8661-9CA1EA0820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643C24-4F0A-4E8D-8160-DCEBC84EA3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313DD08-EB87-4B62-AB66-772139FF6DF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FA9C839-02B9-4C94-B303-70558FDB25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142F204-34D4-4C13-872C-4F042238C3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105E58A-C0B8-4A6E-BBF4-601EF59580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50F2DDD-F75B-4D71-9415-2B95357B1F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6AA165-BB2E-4E6D-9001-3A9F64F64B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2C9C2A-2C0A-4B53-9678-0D02E502E9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0C3DFE-2CDC-4C03-8797-339A117764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E871AA-EED4-4985-BD46-F7C6FEBB0C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EAA6ED-4EC9-4857-88DB-6D56AE9D03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B576992-9EAA-4A77-82D9-9845D1CEF2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6F23E7-ED05-4B12-93C0-8E73DC9B57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048FE8D-3979-4DBC-B83D-90B2CA6EC8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252DB58-BFD6-47A3-947D-088D9B7959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0B4CF0-1E56-4F9A-A87E-461916F77F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3941214bb54a5b" /><Relationship Type="http://schemas.openxmlformats.org/officeDocument/2006/relationships/slideLayout" Target="/ppt/slideLayouts/slideLayout1.xml" Id="R892e0a8943964a50" /><Relationship Type="http://schemas.openxmlformats.org/officeDocument/2006/relationships/slideLayout" Target="/ppt/slideLayouts/slideLayout2.xml" Id="Rc61388df396745e7" /><Relationship Type="http://schemas.openxmlformats.org/officeDocument/2006/relationships/slideLayout" Target="/ppt/slideLayouts/slideLayout3.xml" Id="Rd61d6399f53f4e67" /><Relationship Type="http://schemas.openxmlformats.org/officeDocument/2006/relationships/slideLayout" Target="/ppt/slideLayouts/slideLayout4.xml" Id="Rb77a7662aca543fe" /><Relationship Type="http://schemas.openxmlformats.org/officeDocument/2006/relationships/slideLayout" Target="/ppt/slideLayouts/slideLayout5.xml" Id="R08f6863f39424e28" /><Relationship Type="http://schemas.openxmlformats.org/officeDocument/2006/relationships/slideLayout" Target="/ppt/slideLayouts/slideLayout6.xml" Id="R91d67c4b029545be" /><Relationship Type="http://schemas.openxmlformats.org/officeDocument/2006/relationships/slideLayout" Target="/ppt/slideLayouts/slideLayout7.xml" Id="R4564695a4ef04c50" /><Relationship Type="http://schemas.openxmlformats.org/officeDocument/2006/relationships/slideLayout" Target="/ppt/slideLayouts/slideLayout8.xml" Id="R494fff23eb4f49f8" /><Relationship Type="http://schemas.openxmlformats.org/officeDocument/2006/relationships/slideLayout" Target="/ppt/slideLayouts/slideLayout9.xml" Id="R760a31a336254db9" /><Relationship Type="http://schemas.openxmlformats.org/officeDocument/2006/relationships/slideLayout" Target="/ppt/slideLayouts/slideLayout10.xml" Id="Ra5420f1ebc7b4396" /><Relationship Type="http://schemas.openxmlformats.org/officeDocument/2006/relationships/slideLayout" Target="/ppt/slideLayouts/slideLayout11.xml" Id="Rec69c57d2f33458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527E7E9-077E-4E89-A53C-C0E3E0C6B2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FFD739B-798C-4DBB-A87E-A28A172F53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CC333A-8C33-4C78-8D2E-3719B1F67DA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431C94-783F-40C3-88C0-95C80919B7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18C9911-8950-4FDE-BBF7-5250000EA3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2e0a8943964a50"/>
    <p:sldLayoutId xmlns:r="http://schemas.openxmlformats.org/officeDocument/2006/relationships" id="2147483650" r:id="Rc61388df396745e7"/>
    <p:sldLayoutId xmlns:r="http://schemas.openxmlformats.org/officeDocument/2006/relationships" id="2147483651" r:id="Rd61d6399f53f4e67"/>
    <p:sldLayoutId xmlns:r="http://schemas.openxmlformats.org/officeDocument/2006/relationships" id="2147483652" r:id="Rb77a7662aca543fe"/>
    <p:sldLayoutId xmlns:r="http://schemas.openxmlformats.org/officeDocument/2006/relationships" id="2147483653" r:id="R08f6863f39424e28"/>
    <p:sldLayoutId xmlns:r="http://schemas.openxmlformats.org/officeDocument/2006/relationships" id="2147483654" r:id="R91d67c4b029545be"/>
    <p:sldLayoutId xmlns:r="http://schemas.openxmlformats.org/officeDocument/2006/relationships" id="2147483655" r:id="R4564695a4ef04c50"/>
    <p:sldLayoutId xmlns:r="http://schemas.openxmlformats.org/officeDocument/2006/relationships" id="2147483656" r:id="R494fff23eb4f49f8"/>
    <p:sldLayoutId xmlns:r="http://schemas.openxmlformats.org/officeDocument/2006/relationships" id="2147483657" r:id="R760a31a336254db9"/>
    <p:sldLayoutId xmlns:r="http://schemas.openxmlformats.org/officeDocument/2006/relationships" id="2147483658" r:id="Ra5420f1ebc7b4396"/>
    <p:sldLayoutId xmlns:r="http://schemas.openxmlformats.org/officeDocument/2006/relationships" id="2147483659" r:id="Rec69c57d2f33458f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f4d0fafef34677" /><Relationship Type="http://schemas.openxmlformats.org/officeDocument/2006/relationships/notesSlide" Target="/ppt/notesSlides/notesSlide1.xml" Id="Rc90f226eb2f34c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002f09d3704cbc" /><Relationship Type="http://schemas.openxmlformats.org/officeDocument/2006/relationships/notesSlide" Target="/ppt/notesSlides/notesSlide2.xml" Id="R7edbc4c1521641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1faad3a8fd4d8f" /><Relationship Type="http://schemas.openxmlformats.org/officeDocument/2006/relationships/notesSlide" Target="/ppt/notesSlides/notesSlide3.xml" Id="R30c95481da0842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b67f9d18914d33" /><Relationship Type="http://schemas.openxmlformats.org/officeDocument/2006/relationships/notesSlide" Target="/ppt/notesSlides/notesSlide4.xml" Id="R9db1bb496e474e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336f02f0ac4fc6" /><Relationship Type="http://schemas.openxmlformats.org/officeDocument/2006/relationships/notesSlide" Target="/ppt/notesSlides/notesSlide5.xml" Id="R11992cc5d73e4f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84b62d688d4c12" /><Relationship Type="http://schemas.openxmlformats.org/officeDocument/2006/relationships/notesSlide" Target="/ppt/notesSlides/notesSlide6.xml" Id="Ra66cd651f85b45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fabcdee60eb4bcf" /><Relationship Type="http://schemas.openxmlformats.org/officeDocument/2006/relationships/notesSlide" Target="/ppt/notesSlides/notesSlide7.xml" Id="R4baef70bf18f4b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37d17279244fb1" /><Relationship Type="http://schemas.openxmlformats.org/officeDocument/2006/relationships/notesSlide" Target="/ppt/notesSlides/notesSlide8.xml" Id="R41fc3a4991074f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ade44f134d4380" /><Relationship Type="http://schemas.openxmlformats.org/officeDocument/2006/relationships/notesSlide" Target="/ppt/notesSlides/notesSlide9.xml" Id="R162a5bac8c5c47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3d03ee99874fa4" /><Relationship Type="http://schemas.openxmlformats.org/officeDocument/2006/relationships/notesSlide" Target="/ppt/notesSlides/notesSlide10.xml" Id="Reb905ed6815b43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0d6973dd9241fa" /><Relationship Type="http://schemas.openxmlformats.org/officeDocument/2006/relationships/notesSlide" Target="/ppt/notesSlides/notesSlide11.xml" Id="Rfcc54ee416bf45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1c8eb1a3cb0465e" /><Relationship Type="http://schemas.openxmlformats.org/officeDocument/2006/relationships/notesSlide" Target="/ppt/notesSlides/notesSlide12.xml" Id="R603ece3949a642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acdda4be88a4e80" /><Relationship Type="http://schemas.openxmlformats.org/officeDocument/2006/relationships/notesSlide" Target="/ppt/notesSlides/notesSlide13.xml" Id="R06c2e841a7e943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dd00316324d37" /><Relationship Type="http://schemas.openxmlformats.org/officeDocument/2006/relationships/image" Target="/ppt/media/image.png" Id="Re880d3f02e2c4845" /><Relationship Type="http://schemas.openxmlformats.org/officeDocument/2006/relationships/image" Target="/ppt/media/image2.png" Id="R0d4f26bae5334386" /><Relationship Type="http://schemas.openxmlformats.org/officeDocument/2006/relationships/notesSlide" Target="/ppt/notesSlides/notesSlide14.xml" Id="R974422a9b7ab4c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3fa874ce04bef" /><Relationship Type="http://schemas.openxmlformats.org/officeDocument/2006/relationships/image" Target="/ppt/media/image3.png" Id="R3c9b3eda65914d84" /><Relationship Type="http://schemas.openxmlformats.org/officeDocument/2006/relationships/image" Target="/ppt/media/image4.png" Id="Ra5c68a9711a64115" /><Relationship Type="http://schemas.openxmlformats.org/officeDocument/2006/relationships/image" Target="/ppt/media/image5.png" Id="R9049b0b256ca46d5" /><Relationship Type="http://schemas.openxmlformats.org/officeDocument/2006/relationships/image" Target="/ppt/media/image6.png" Id="R8137b3f88c9043b6" /><Relationship Type="http://schemas.openxmlformats.org/officeDocument/2006/relationships/notesSlide" Target="/ppt/notesSlides/notesSlide15.xml" Id="Ra7141d72ebcf4b5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748f2cb7ab46ad" /><Relationship Type="http://schemas.openxmlformats.org/officeDocument/2006/relationships/notesSlide" Target="/ppt/notesSlides/notesSlide16.xml" Id="R11db58d118e741d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0f72781d1a41ac" /><Relationship Type="http://schemas.openxmlformats.org/officeDocument/2006/relationships/notesSlide" Target="/ppt/notesSlides/notesSlide17.xml" Id="R083097e23990436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29a010d51243fd" /><Relationship Type="http://schemas.openxmlformats.org/officeDocument/2006/relationships/notesSlide" Target="/ppt/notesSlides/notesSlide18.xml" Id="R0cc4d3d95bd2453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173cbe6b09447b" /><Relationship Type="http://schemas.openxmlformats.org/officeDocument/2006/relationships/notesSlide" Target="/ppt/notesSlides/notesSlide19.xml" Id="R22a4524009494f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D0A92BD-0AE1-441E-88D3-B20BC3C7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D5DE17B-AB4A-4D5C-AD08-BF225280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73152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30CA6CE-2B9F-493A-89F9-E9EBCAC2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2880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基于局部噪声与 PSF 证据链的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48A955F-9B45-425A-BBE4-FCFB4473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46888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天基星图识别与多帧目标分析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42F0C48-9AD9-411F-BB27-FFBB1BFE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3832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B02 仿真技术赛道 · 太空目标识别仿真组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360B5C7-D3A5-4112-A0FE-1730D3F0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31920"/>
            <a:ext cx="2286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4BA7A00-62BC-4B36-B83E-D64CE854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29768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数据来源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F38AB5B-85E4-46B1-9B04-6500BB42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42976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开运一号卫星 · 15帧 4096×4096 · 16bit · 1500ms 曝光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4941401-53DA-4EE8-9664-F527FB25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80060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项目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DE464B3-DEA7-45AE-928B-E0633555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48006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rst19-sol · 纯 Python 可离线复核方案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F90EE0C-556F-4ED3-A460-278AB907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303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赛事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4AA6317-750C-40F9-974B-66920C69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530352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第十九届先进机器人及仿真技术大赛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128138C-14D3-4384-A46C-E5FE2144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371600"/>
            <a:ext cx="1371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🚀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DBB951B-32C6-4685-942D-B4F42380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1/19</a:t>
            </a:r>
          </a:p>
        </p:txBody>
      </p:sp>
    </p:spTree>
    <p:extLst>
      <p:ext uri="{BB962C8B-B14F-4D97-AF65-F5344CB8AC3E}">
        <p14:creationId xmlns:p14="http://schemas.microsoft.com/office/powerpoint/2010/main" val="8574776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80C608-DE67-4E97-AD42-0A3E070C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C9B87E7-ABE9-479F-BDD2-9B3218A7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目录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0787CF9-BBEC-4785-B834-8E9634AA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CONTENTS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64E7584-FB14-4720-BED7-08C17D39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9728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9C614C7-9829-40CF-B0C4-357DCB92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B6F6088-992E-45C6-BC52-E336FB67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3560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83D066E-DF0D-4022-9693-01AB02C1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7160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数据边界与系统架构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07B0A99-AE6E-4066-8471-E56B6612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3736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FITS 格式 · 辅助数据 · 姿态先验 · 四层证据体系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63FE8FF-3D38-4ECD-9C65-B11D4DC3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E5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0CD0E2B-9168-419B-8542-66D1DA2F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3560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49193EB-BB43-462F-94FC-26F15353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37160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星点识别：宽筛—细筛—确认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1EF448F-5DCB-4020-98EE-3DF81ABC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73736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局部背景归一化 · 匹配滤波 · PSF/BIC 细筛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31467D9-BF3E-49DF-84F8-924A755C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7B6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19C54E0-A56E-491F-8D6F-71DD3E48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042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03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126E847-2E89-4F99-8FC4-51A8A695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028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星点识别：近邻去混叠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B70C39E-512E-481F-8E51-5032977A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604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ΔBIC 检验 · 经验 PSF · 截图双源复核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D90ED7E-33D6-403A-97A7-B6C1D8F4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28600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4D86F9A-E23E-4C53-B676-B5EE0B99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30428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04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4E95870-6564-46E0-81BD-187D0602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24028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星点识别：首帧检测结果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DCFBCB8-DD90-4156-8959-D825C055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60604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八类候选分流 · feature_class 统计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151B93C-9951-471B-A82F-A27C5D2D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5468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8977705-34CB-4EDE-B0BC-1C938F22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72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05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44B909A-2C16-4068-8DCE-DB95E8F5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896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星等识别与标定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38FD886-0316-4295-9393-0B671EC3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47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三层星等 · Gaia DR3 · 颜色模型敏感性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9CC3F8AE-A4D3-413F-BD83-3BDC2509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15468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E5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CC00B2B-1C55-4D20-82FF-940D4201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172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06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CCBACCB-BC49-4A2F-B34B-67BDE5C6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10896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运动目标识别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1DBBBCC-3702-440D-8548-06CB750A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747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平移配准 · Hungarian 关联 · 线状候选分层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374E9A6E-CF6A-44C0-BD3F-B4DFE5FB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7B6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68C9EF57-986A-487A-A9E2-D43114E5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416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07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D2EA0175-3810-4F66-98B4-61E715BC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7764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创新分析：多维证据导出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BCF36FFA-C918-479D-87C2-520674AE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可探测性 · 光度 · 持久性 · 遥测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4D7E0914-8896-4638-B535-271CAC58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02336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4928DCE8-8D63-40A3-90AD-64060940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0416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08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7B304C05-0FEE-4A02-A6C1-96144523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97764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创新分析：注入回收实验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3E21C2B8-3E83-4F1F-B87B-D92AC793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34340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四种注入口径 · 合成正负控制 · 关键发现</a:t>
            </a: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039A809A-C6E2-4FDA-BF71-A961846C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6E94BFD1-90DE-4A58-B396-E02BF45C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1032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09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67BD47E2-AF36-4518-87F5-14BD1E63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4632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创新分析：合成大图与工具集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67C60B13-4D8F-4F0D-8A6B-1649A21C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208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注册合成 · 证据导出 · 研究工具集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9487DB38-8594-4847-91E0-881BC1B6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89204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E5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F9DBB3F7-DE65-4437-A8DC-8A9F196B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91032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10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C54CA5A4-D908-4E8B-8A69-1A1C71A8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84632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关键消融实验与核心发现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BE4A974D-9D41-4ED6-9A0D-5B3C0578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21208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提案模式 · min_distance · 跨帧持续性</a:t>
            </a:r>
          </a:p>
        </p:txBody>
      </p:sp>
      <p:sp>
        <p:nvSpPr>
          <p:cNvPr id="46" name="Rounded Rectangle 45">
            <a:extLst xmlns:a="http://schemas.openxmlformats.org/drawingml/2006/main">
              <a:ext uri="{FF2B5EF4-FFF2-40B4-BE49-F238E27FC236}">
                <a16:creationId xmlns:a16="http://schemas.microsoft.com/office/drawing/2014/main" id="{05777774-F459-445F-9827-222BFB88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072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7B6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879DE4DB-2D87-4969-AC62-3A9A5A11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7900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11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47CCC81C-EB78-4BD2-BEB3-27FC0208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工程实现与性能优化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FA8A4A6F-17BF-419E-84A1-81FF49A6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8076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技术栈 · 性能优化 · 缓存与进度系统</a:t>
            </a:r>
          </a:p>
        </p:txBody>
      </p:sp>
      <p:sp>
        <p:nvSpPr>
          <p:cNvPr id="50" name="Rounded Rectangle 49">
            <a:extLst xmlns:a="http://schemas.openxmlformats.org/drawingml/2006/main">
              <a:ext uri="{FF2B5EF4-FFF2-40B4-BE49-F238E27FC236}">
                <a16:creationId xmlns:a16="http://schemas.microsoft.com/office/drawing/2014/main" id="{5398C71B-2763-4964-936B-0F1DEE15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760720"/>
            <a:ext cx="4572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E8EFC0AB-CBE2-4950-8F0E-28E5E409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77900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12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393E887D-AECE-410F-AA82-9EB5060B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71500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总结与核心贡献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BDB28469-1CB4-4D2A-B0FE-176F4F12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608076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六项核心贡献 · 评分对标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3266C456-0532-478A-92C8-C086151F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2/19</a:t>
            </a:r>
          </a:p>
        </p:txBody>
      </p:sp>
    </p:spTree>
    <p:extLst>
      <p:ext uri="{BB962C8B-B14F-4D97-AF65-F5344CB8AC3E}">
        <p14:creationId xmlns:p14="http://schemas.microsoft.com/office/powerpoint/2010/main" val="14492110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9ADF48F-66C8-4268-8E4A-F5779E93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E00CBDC7-435F-4CBB-9528-9EAA8670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5DC03B0-BBE1-4AF0-8E56-18CE92A0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F8795BE-EA89-4645-B4D1-5E435628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数据边界与系统架构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02A558-3299-4855-A70D-CDFE2788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E10A0AF-22BA-4728-9C79-73145273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2560320" cy="1097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1F5BB61-4527-4974-959E-C7469D5C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15帧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6C71AAE-A35F-4D76-8731-91E72099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连续时间序列，间隔~1.5s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CC11001-4A20-400F-854A-FF21151A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371600"/>
            <a:ext cx="2560320" cy="1097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938F5EC-DEC9-4B4F-9D89-664B646F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41732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4096×4096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139439A-A665-4ACA-AA89-2BD72636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965960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像素 · BITPIX=16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D62AFD1-2435-42BB-8956-233A9581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71600"/>
            <a:ext cx="2560320" cy="1097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2886071-3D25-4555-8017-10FEC861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732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1500 ms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0917363-81C8-4CCD-A77D-13EC8678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65960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曝光时间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808C287-3BBD-4D4D-82A3-0C17CA5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371600"/>
            <a:ext cx="2560320" cy="1097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FF9F1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E920AF3-3ABE-41CE-AFDB-DA7114B2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41732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9F1C"/>
                </a:solidFill>
                <a:latin typeface="微软雅黑"/>
                <a:ea typeface="微软雅黑"/>
                <a:cs typeface="微软雅黑"/>
              </a:defRPr>
            </a:pPr>
            <a:r>
              <a:t>≈8.44″/px*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FEEF6A7-9979-4064-BAB4-8728E54A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965960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几何尺度先验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F2A83B6-5ED5-4CD7-8381-A61072C8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四层证据体系（不能相互替代）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0CEC7A25-FB7A-4A59-B862-6AEA657E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0"/>
            <a:ext cx="256032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5D9F687-2037-4C85-88BF-F533BE40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18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逐帧独立检测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DA1281B-A127-4A40-AF4A-314B6575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1880"/>
            <a:ext cx="228600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宽筛候选数（按帧）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4FE1C6C-5CE8-4CA6-A815-0D4C6060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哪里可能有局部响应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B5475381-B4FE-4B72-A116-6B17262F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200400"/>
            <a:ext cx="256032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84D2F47-6ED8-452B-929F-26E5B57F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2918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结果按帧保存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13FD669-7A0A-4DC4-977C-0318075F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11880"/>
            <a:ext cx="228600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质量源数（按帧）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02AA743-9B67-4725-BCCD-D0FB635D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86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是否满足点源质量规则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B7F5412B-62DD-4994-9103-8E3A5196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200400"/>
            <a:ext cx="256032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45EEF52-FD02-4C47-876B-15E794ED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2918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N_temporal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F30F8B1-F251-4DD2-93C5-65559516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61188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稳定/运动候选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90F174D5-A0A8-4CEA-8250-04D29811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886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时间上如何变化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517B40E0-3A8C-41E5-AA57-FBFB0B22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200400"/>
            <a:ext cx="256032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FF9F1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BC4FE336-3B37-4AD5-988A-BA1CF4F5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32918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FF9F1C"/>
                </a:solidFill>
                <a:latin typeface="微软雅黑"/>
                <a:ea typeface="微软雅黑"/>
                <a:cs typeface="微软雅黑"/>
              </a:defRPr>
            </a:pPr>
            <a:r>
              <a:t>N_catalog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60978373-FB33-43D8-A2F1-53696E6E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361188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星表匹配数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E0FC21B-8B99-4209-A242-91CFF9DF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3886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是否有外部天球身份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F47AE0AC-8A04-4376-8F61-9A3E3B88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3776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辅助数据与姿态先验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4CE094B7-FD17-4B4C-9D8C-54DF8CCD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9240"/>
            <a:ext cx="10972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每帧 26 个辅助字段（8 字节 double）：光轴 RA/Dec、四元数、J2000/WGS84 位置速度、姿态角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四元数模长偏差 &lt; 2.3×10⁻¹⁶，推导光轴与辅助 RA/Dec 残差约 1.1×10⁻¹⁰ 角秒 → 字段内部自洽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姿态先验可缩小星表搜索区域，但缺少像元尺度和畸变参数 → 不是完整 WCS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位置差分与辅助速度相对误差约万分之几，支持按 m/s 解读；单位仍待主办方确认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* 由像元尺寸和焦距计算；最终尺度以 Gaia/WCS 拟合为准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C53A6AF8-16B2-46E0-80CD-C94253AD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3/19</a:t>
            </a:r>
          </a:p>
        </p:txBody>
      </p:sp>
    </p:spTree>
    <p:extLst>
      <p:ext uri="{BB962C8B-B14F-4D97-AF65-F5344CB8AC3E}">
        <p14:creationId xmlns:p14="http://schemas.microsoft.com/office/powerpoint/2010/main" val="8503546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4457D61-5767-44E0-93B9-1B17398D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0EE404E-9FF5-464E-A0B2-B4D74A72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技术路线总览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D72F0DA-F1EB-4844-9177-372C70A5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核心方法论：宽筛—细筛—时序确认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6AE0775-67A3-4A64-B48C-324723D9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9728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8D9E2EC-6DED-4257-B7E5-6FC922D1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371600"/>
            <a:ext cx="1737360" cy="1645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E2B1F85-EE2C-4E4C-93DB-FE97D050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41732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①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7A72369-101A-4FD4-8C4C-D491A940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3080"/>
            <a:ext cx="15544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FITS 读取  辅助数据解码  数据校验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7E50D90-5D14-4F55-B8E4-75E766E4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920240"/>
            <a:ext cx="228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→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A7F3821-7218-45A1-95BA-CA912F6A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371600"/>
            <a:ext cx="1737360" cy="1645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0802271-2C24-45CB-B11F-575086B9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41732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②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912CE39-579F-4F2F-AF5D-B2AF731E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1783080"/>
            <a:ext cx="15544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局部背景/RMS  Gaussian + DoG  hybrid 宽筛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18DB466-1269-4D44-828F-413AB9C3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920240"/>
            <a:ext cx="228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→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1A71CB0-8285-44D0-AE51-8B416170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1371600"/>
            <a:ext cx="1737360" cy="1645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1EB05D3-59F9-4884-94AE-4213E2EF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41732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③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1A656AF-D4F0-45D4-8AF2-05AF662B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783080"/>
            <a:ext cx="15544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孔径测光  PSF/BIC 细筛  质量确认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0ED3B4A-D7E4-491E-BAEA-152F78B5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20240"/>
            <a:ext cx="228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→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6F46602-7064-4286-B537-EBFB282A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371600"/>
            <a:ext cx="1737360" cy="1645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FF9F1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EF0142B-3649-4EAB-8F24-18F8063A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1732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FF9F1C"/>
                </a:solidFill>
                <a:latin typeface="微软雅黑"/>
                <a:ea typeface="微软雅黑"/>
                <a:cs typeface="微软雅黑"/>
              </a:defRPr>
            </a:pPr>
            <a:r>
              <a:t>④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E167F54-FDFE-4B93-96BD-3D9ABB8B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83080"/>
            <a:ext cx="15544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平移配准  Hungarian 关联  时序分类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88B1F1D-CEC1-4B9C-B0A5-77C16249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1920240"/>
            <a:ext cx="228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→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70A7A51B-66D1-492D-A430-BC869123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371600"/>
            <a:ext cx="1737360" cy="1645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CE95DF1-D0AE-4F3E-B9F8-D9C27752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⑤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93A98C4-BF2C-4257-9B63-F442C098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783080"/>
            <a:ext cx="15544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星表匹配  WCS 标定  星等计算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B7A371B-07D8-42CA-B1FF-0ADD3CE4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920240"/>
            <a:ext cx="228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→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2B34C345-8BF9-41A5-9B6F-6E9292BA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1371600"/>
            <a:ext cx="1737360" cy="1645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9DF5E2B8-2B17-418B-9842-D9AFACA4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41732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⑥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B0E76199-1BCC-45DC-902F-B592BEB3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783080"/>
            <a:ext cx="15544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创新分析  证据导出  审计报告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72F051C-DF90-4811-86B2-EC4822A6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核心方法论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5CCD2A7-B64F-47EA-B574-FECA6012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D4E6567B-FD10-489A-BEAA-E3373400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0"/>
            <a:ext cx="320040" cy="320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715D22C7-F924-4A23-AE75-5914128D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9624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1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2F61D00E-4833-4AD6-8CC4-D954041E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22192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多尺度候选提案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B691996-EEA3-41AA-8489-431AC300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22192"/>
            <a:ext cx="795527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Gaussian + 双尺度 DoG 并集，覆盖不同空间尺度，候选阈值 4σ 是提案门槛而非恒星概率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9E1D96A7-4060-45A8-AEDA-8CDB43D0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07408"/>
            <a:ext cx="320040" cy="320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E5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2D6CF7F4-51B5-4BDC-8938-06E81E7A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16552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2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1BD3F6C-2BF9-4D5F-94DE-822F5056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38912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回到原图的点源细筛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754CBDFF-BE58-4BEA-A66D-1CC11CDD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89120"/>
            <a:ext cx="795527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三种 SNR（峰值/通量/滤波）分离测量；PSF 支持、形态、掩膜、数据范围多维门控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1D8707F2-10B0-413A-85B8-7D54077C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320040" cy="320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7B6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1060F574-98A5-4004-88EB-A9BF085F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8348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3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860FCB79-B837-4541-9DC7-4CB9DBEB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95604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近邻去混叠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98EA1EB-ACF7-4FD6-9F7E-44225AA8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56048"/>
            <a:ext cx="795527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单/双 PSF 的 ΔBIC 检验，不按距离一刀切；支持 Gaussian 和经验 PSF 两种模板</a:t>
            </a:r>
          </a:p>
        </p:txBody>
      </p:sp>
      <p:sp>
        <p:nvSpPr>
          <p:cNvPr id="43" name="Rounded Rectangle 42">
            <a:extLst xmlns:a="http://schemas.openxmlformats.org/drawingml/2006/main">
              <a:ext uri="{FF2B5EF4-FFF2-40B4-BE49-F238E27FC236}">
                <a16:creationId xmlns:a16="http://schemas.microsoft.com/office/drawing/2014/main" id="{A9542D4F-1595-4627-BFAF-0F7CB7D7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41264"/>
            <a:ext cx="320040" cy="320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0BB40222-758E-4B7F-B976-5B16A4EA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5040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4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43D866D3-B1CA-4F56-9EC3-06314BE5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22976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15帧时序确认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8B8C3320-9718-433E-9BCA-3EA36A5C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2976"/>
            <a:ext cx="795527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高质量静态源平移配准 → Hungarian 全局一对一关联 → 静态/瞬态/运动三层分离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4CEB54EE-08B7-478A-8BBA-8DF39EA0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08192"/>
            <a:ext cx="320040" cy="320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B3A2A20B-A3DE-4149-A8FE-10EC7EDA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17336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5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15EBE933-6FA4-4020-8847-5A2944E2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6089904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星表标定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CAED5FDB-D7B1-41A2-BE08-C10D8103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89904"/>
            <a:ext cx="795527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Gaia DR3 公共星表接入，多参考星零点+颜色项标定，三层星等体系（m_inst / m_cal / M_G）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50C7257F-9A6C-4EFE-8E1C-0FD88DDC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4/19</a:t>
            </a:r>
          </a:p>
        </p:txBody>
      </p:sp>
    </p:spTree>
    <p:extLst>
      <p:ext uri="{BB962C8B-B14F-4D97-AF65-F5344CB8AC3E}">
        <p14:creationId xmlns:p14="http://schemas.microsoft.com/office/powerpoint/2010/main" val="3653995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E104A9-2A60-4412-8768-AF2BB701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7356D928-FD49-4ABE-B1C2-C508743C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2E8AA87-7B77-4A4A-A2F3-A9094461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CD667B4-E577-4EF3-B4D4-9B550A97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星点识别：局部背景与匹配滤波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63EED4F-6BC7-4402-AA79-10529705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772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基础赛项 · 星图识别 · 科学性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C828080-1A7E-4C74-A89F-ABA7E7C0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7DA0A4F-8A08-4B39-9B0D-F470A476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303520" cy="5029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A523429-2F05-48E5-86D3-DFCA360C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63040"/>
            <a:ext cx="4754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候选提案：局部背景归一化 + 匹配滤波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5BBD0F2-2668-4ADB-98BC-7965FE79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74519"/>
            <a:ext cx="475488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50"/>
              </a:spcAft>
              <a:buNone/>
              <a:defRPr sz="10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背景估计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对原图 I(x,y) 在局部网格内用 sigma-clipping 估计背景 B(x,y) 和噪声 RMS（均方根）R(x,y)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D(x,y) = I(x,y) - B(x,y)（背景扣除后的残差图）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>
              <a:spcAft>
                <a:spcPts val="250"/>
              </a:spcAft>
              <a:buNone/>
              <a:defRPr sz="10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匹配滤波响应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S = (Tᵀ C⁻¹ D) / √(Tᵀ C⁻¹ T)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T = Gaussian（高斯点扩散）模板，C = 噪声协方差（局部 RMS 近似）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>
              <a:spcAft>
                <a:spcPts val="250"/>
              </a:spcAft>
              <a:buNone/>
              <a:defRPr sz="10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混合宽筛并集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▸ Gaussian 匹配滤波：寻找标准点源响应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▸ DoG（高斯差分）：覆盖不同空间尺度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▸ à trous / Starlet（小波多尺度分解）：实验对照模式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▸ 并集合并，4σ 只是候选提案门槛，不是恒星概率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文献依据：WAVDETECT 用多尺度小波做候选提案；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匹配滤波只有在信号形状和噪声假设成立时才有最大似然解释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1FA13C7-F10F-47FF-B012-ECE07B7E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71600"/>
            <a:ext cx="5303520" cy="5029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1C2669B-C42F-4ED1-8F8A-3585F779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463040"/>
            <a:ext cx="4754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质量细筛：回到原图的多维门控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2D62FE1-0A29-45B1-8046-18D899E3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74519"/>
            <a:ext cx="475488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50"/>
              </a:spcAft>
              <a:buNone/>
              <a:defRPr sz="10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三种 SNR（信噪比）分离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▸ 峰值 SNR：局部峰值显著性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▸ 通量 SNR：半径 4px 孔径测光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▸ 滤波 SNR：匹配滤波响应值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三者不混为一个“可信度”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>
              <a:spcAft>
                <a:spcPts val="250"/>
              </a:spcAft>
              <a:buNone/>
              <a:defRPr sz="10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孔径通量误差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σ_F² = N_ap·σ_b² + (N_ap²/N_bg)·σ_b² + σ_source² + σ_read²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flux_SNR = F / σ_F（通量信噪比）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>
              <a:spcAft>
                <a:spcPts val="250"/>
              </a:spcAft>
              <a:buNone/>
              <a:defRPr sz="10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质量层门控条件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▸ FWHM（半高全宽）/ 椭圆率 / sharpness（尖锐度）在合理范围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▸ 3×3 核心至少 3 像素超过 max(2σ, 0.1×peak_excess)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▸ 有效孔径比例、边界、数据范围审计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▸ flux_SNR ≥ 5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弱源如果只有单个高像素、没有小型核心支持，</a:t>
            </a:r>
          </a:p>
          <a:p xmlns:a="http://schemas.openxmlformats.org/drawingml/2006/main"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保留为候选但不进入质量层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0AF1866-071C-4A5E-B71D-A4F20CA1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5/19</a:t>
            </a:r>
          </a:p>
        </p:txBody>
      </p:sp>
    </p:spTree>
    <p:extLst>
      <p:ext uri="{BB962C8B-B14F-4D97-AF65-F5344CB8AC3E}">
        <p14:creationId xmlns:p14="http://schemas.microsoft.com/office/powerpoint/2010/main" val="4223095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5B77F46-E301-4DE5-ABA0-BFD6393D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2A05852-ED72-4E6A-B374-27E6B3BA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D65807F-D8FC-453B-BDC8-65FDB0CA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E1624BD-0C9A-423D-8D5E-68064D00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星点识别：近邻去混叠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9E6121A-996B-43BF-9B1F-75FA4D14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772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基础赛项 · 星图识别 · 创新性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934A220-3961-4C06-AAAB-24B959E9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0AA663D-4035-4827-9932-4116D2F6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30352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6A26A8A-B255-45C2-94AE-6D9CD62B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6304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ΔBIC 双源检验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A4BA87E-8943-4FF6-A7C2-D4FEE63B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4754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ΔBIC（贝叶斯信息准则差值）= BIC（单 PSF）− BIC（双 PSF）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通过条件：ΔBIC ≥ 10 且新增分量 SNR（信噪比）≥ 5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min_distance 只抑制候选峰，不等于物理去混叠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不按距离一刀切删除，保留审计证据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支持 Gaussian（高斯）PSF 和经验 PSF 两种模板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11BCCF2-185E-466F-BA01-8DEE7BE1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71600"/>
            <a:ext cx="530352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400BBBE-C0A2-4D09-9686-5C97F4DD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46304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PSF 加权相关与可分性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DB70356-9826-4790-81F0-BEE12300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20240"/>
            <a:ext cx="4754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ρ = (T_pᵀ C⁻¹ T_s) / √((T_pᵀ C⁻¹ T_p)(T_sᵀ C⁻¹ T_s))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|ρ| 越大 → 两源参数越退化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5.4 px 不是脱离 PSF、方向、强弱比的普适分辨率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可分性取决于 PSF 形状和局部噪声条件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Astreaks（拖线源检测方法）：拖尾源可用 PSF 与运动线段的卷积建模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B471ABA-45E1-4959-A21B-FEE64B78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11064240" cy="24688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5F4D114-423B-4127-80ED-3A5F5888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2336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实验验证：截图双源复核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E459630-B26B-4264-B520-0DAC7C5B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10515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3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主响应 ID 70269：(1269,3465)  峰值 30,884 / flux_SNR 82.82  →  质量层保留</a:t>
            </a:r>
          </a:p>
          <a:p xmlns:a="http://schemas.openxmlformats.org/drawingml/2006/main">
            <a:pPr>
              <a:spcAft>
                <a:spcPts val="33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副响应 ID 70320：(1274,3467)  峰值 3,991 / flux_SNR 10.85  →  极端负码污染，标 NEGATIVE_OVERFLOW</a:t>
            </a:r>
          </a:p>
          <a:p xmlns:a="http://schemas.openxmlformats.org/drawingml/2006/main">
            <a:pPr>
              <a:spcAft>
                <a:spcPts val="33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间距 5.39 px，但副响应孔径含 31,586 正码 / −31,642 负码 / 固定 −1 像素块</a:t>
            </a:r>
          </a:p>
          <a:p xmlns:a="http://schemas.openxmlformats.org/drawingml/2006/main">
            <a:pPr>
              <a:spcAft>
                <a:spcPts val="33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原始掩膜下 ΔBIC = −2.59，次分量 SNR = 1.55  →  未达双源线</a:t>
            </a:r>
          </a:p>
          <a:p xmlns:a="http://schemas.openxmlformats.org/drawingml/2006/main">
            <a:pPr>
              <a:spcAft>
                <a:spcPts val="33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经验 PSF 模板：ΔBIC = −3.13，次分量 SNR = 1.36  →  同样未达</a:t>
            </a:r>
          </a:p>
          <a:p xmlns:a="http://schemas.openxmlformats.org/drawingml/2006/main">
            <a:pPr>
              <a:spcAft>
                <a:spcPts val="33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15帧逐帧复核：严格双命中仅 2/15 帧，同时质量通过 0/15 帧</a:t>
            </a:r>
          </a:p>
          <a:p xmlns:a="http://schemas.openxmlformats.org/drawingml/2006/main">
            <a:pPr>
              <a:spcAft>
                <a:spcPts val="33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结论：异常值域污染的非高斯亮斑被拆成两个提案，不报告为第二颗确认恒星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40756D5-089D-4B05-BB32-F3F00023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6/19</a:t>
            </a:r>
          </a:p>
        </p:txBody>
      </p:sp>
    </p:spTree>
    <p:extLst>
      <p:ext uri="{BB962C8B-B14F-4D97-AF65-F5344CB8AC3E}">
        <p14:creationId xmlns:p14="http://schemas.microsoft.com/office/powerpoint/2010/main" val="15336797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AB84A8C-D1DC-45AC-90CD-6BEF95BA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23F290-AD82-43A0-ADAE-2B51B70B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B570972-CCA2-4BCD-837C-85A10774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2149D3F-DD03-4759-9968-2F9DDF26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星点识别：首帧检测结果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1B6D731-803F-460F-86C9-8C00D279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772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基础赛项 · 星图识别 · 科学性 | 检测参数：混合提案；FWHM（半高全宽）=2px；阈值4σ；候选峰最小间距4px；通量信噪比≥5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2272CDB-6CBB-47C6-A4E3-5BE2DF74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9656369-E074-4DBF-9D96-64433081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2560320" cy="1097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30EEF7F-2D49-4B4B-8598-8B6D3A36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2194560" cy="48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逐帧输出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29FEE96-C49A-4C9B-968B-191650A7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每帧宽筛候选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6C3E15C-5A4C-4EB1-BAD4-0B4BB332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371600"/>
            <a:ext cx="2560320" cy="1097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002232-1F58-43DD-A283-13A2BD06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417320"/>
            <a:ext cx="2194560" cy="48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逐帧质量结果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DAF1A3E-6445-40B3-BAC8-E551F57C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92024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质量源（逐帧）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59424FC-EC81-48EE-88D6-0BE3760B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71600"/>
            <a:ext cx="2560320" cy="1097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FF9F1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18274A8-9E28-4004-B09C-D4752632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7320"/>
            <a:ext cx="2194560" cy="48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00" b="1">
                <a:solidFill>
                  <a:srgbClr val="FF9F1C"/>
                </a:solidFill>
                <a:latin typeface="微软雅黑"/>
                <a:ea typeface="微软雅黑"/>
                <a:cs typeface="微软雅黑"/>
              </a:defRPr>
            </a:pPr>
            <a:r>
              <a:t>逐帧审计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91A4DFC-142B-40DC-A97D-0A71EBA5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负码/范围异常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E78BBE0F-EB08-4715-A587-A6D9660A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371600"/>
            <a:ext cx="2560320" cy="1097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8717BC4-A7EB-44EF-9757-59E996FC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417320"/>
            <a:ext cx="2194560" cy="48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不跨帧汇总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41BAF87-D0EF-4CC0-B15D-2C8F973C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92024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质量比例按帧计算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A02D5EE-6F8A-4701-A580-4E3ACDE6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逐帧特征类别分布（互斥分类）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68CDB33-24E2-4A7F-B308-9DBD2E4A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5468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类别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8FD6532-34DD-4B9A-BBE6-DCCE48CD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154680"/>
            <a:ext cx="109728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输出口径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440FFAC-6AA9-4801-88C3-B8AC643C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54680"/>
            <a:ext cx="109728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质量层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4B3F346-BC16-4703-B153-0C88D913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154680"/>
            <a:ext cx="73152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跨帧合计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792A76C-38E1-44AD-A1D8-0B5C20F7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1546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说明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272DA782-28F4-492C-90CA-44BD1363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36C8FFD-0244-4BC8-A402-E39F369A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93008"/>
            <a:ext cx="110642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4030B76-F22F-4ACF-BA97-20A896C2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9584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紧凑质量候选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E1D10D4-7FE3-4234-93FF-4B91E927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529584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4A27C8EC-54C5-4D8B-A950-69D58042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29584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5783266-D9CF-4BC6-8FCC-8930EA9E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529584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—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F916E1B-B658-4D99-83EA-72EC3FF9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529584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当前点源规则通过，不是星表真值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8895FBA6-3302-4633-AAE9-14A651F7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9624"/>
            <a:ext cx="110642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CE98E506-D25B-477E-89AE-B4D830BA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8620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尖峰/PSF支持不足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6489C7A7-0F72-4495-94D7-D81B71C4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886200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B7E7DDC6-146A-4182-8EFD-5A805E1D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86200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7E8F20C9-D0B6-4216-AD80-C08BC798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886200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—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56F0B8B5-0B33-48EA-8D32-8FF67472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886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单像素或核心支持不足的响应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615F6462-2453-4CF6-9101-FC2048E7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0"/>
            <a:ext cx="110642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2B686BDC-0337-401C-8FA5-1DEBB937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42816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弱通量/背景不确定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E3E2A71D-1CF2-4156-B0A1-16674101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242816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CC06B24-F105-4D01-B594-DAC36D38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42816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F9635B57-ED8A-4076-B93C-2229515A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242816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—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1A25EEA9-9D20-4AC8-8464-527FF18D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42816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孔径通量 SNR 不足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48B8411A-ECDB-4F5C-87B9-013454CD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62856"/>
            <a:ext cx="110642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FF717F7-852C-48CD-A707-16471A7A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99432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边缘/掩膜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46C0B1CC-241D-409D-95D1-909DABDE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599432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3A7C1560-7EA1-4000-920C-AF1E7AFA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99432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1F70FF51-B91B-40E0-82E5-AF1FDEC1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59943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—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3A32FE51-C884-492D-84F0-1D0788E0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599432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PARTIAL_MASKED 可按容错通过</a:t>
            </a: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287946E2-EC46-441B-BF88-C2923895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19472"/>
            <a:ext cx="110642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7EE62132-9945-4AEE-9298-826938AB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56048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拥挤/未分辨近邻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3AF3CA77-04DA-423C-ADFE-539211B5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956048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34A735EA-3DEB-47CD-A8D9-AED5828F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56048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383EEA5A-1BD9-42F8-BF0B-34BA0DE3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95604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—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537045EA-1335-48BD-A947-07602B85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95604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双源证据不足，不按距离判假</a:t>
            </a:r>
          </a:p>
        </p:txBody>
      </p:sp>
      <p:sp>
        <p:nvSpPr>
          <p:cNvPr id="57" name="Rectangle 56">
            <a:extLst xmlns:a="http://schemas.openxmlformats.org/drawingml/2006/main">
              <a:ext uri="{FF2B5EF4-FFF2-40B4-BE49-F238E27FC236}">
                <a16:creationId xmlns:a16="http://schemas.microsoft.com/office/drawing/2014/main" id="{1D76E3DF-51B3-4C0A-864D-92FB8248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76088"/>
            <a:ext cx="110642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1001976E-0C74-41D0-BB2B-1A6B76AA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12664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线状/拖影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A435ED9A-316A-4E16-BDE0-848012C9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312664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66A35EAF-5511-4C65-8EC0-9CE15D4C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12664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线状层</a:t>
            </a: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1176ADF1-E156-4A0B-80A2-4FD14DAE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312664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—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CE7FA9B1-1CD3-4BD8-8E0F-2A6AADC3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312664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独立线状候选层</a:t>
            </a:r>
          </a:p>
        </p:txBody>
      </p:sp>
      <p:sp>
        <p:nvSpPr>
          <p:cNvPr id="63" name="Rectangle 62">
            <a:extLst xmlns:a="http://schemas.openxmlformats.org/drawingml/2006/main">
              <a:ext uri="{FF2B5EF4-FFF2-40B4-BE49-F238E27FC236}">
                <a16:creationId xmlns:a16="http://schemas.microsoft.com/office/drawing/2014/main" id="{C52DED05-FE54-4965-B62B-D53A9A3A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32704"/>
            <a:ext cx="110642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758E68CE-015E-429A-AA1B-5ED7E6AB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6928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数据有效性/范围异常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4EEF8698-2459-413B-AFB2-C7773FD1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669280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8DA57AF9-C3E4-4244-B5AB-22E21D74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69280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审计层</a:t>
            </a: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2B556579-1DDF-47DC-9609-8FBDF552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669280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—</a:t>
            </a: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9C5D073A-53D9-4833-BAB1-C42BFEA9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6692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含重复码/极端负码审计</a:t>
            </a:r>
          </a:p>
        </p:txBody>
      </p:sp>
      <p:sp>
        <p:nvSpPr>
          <p:cNvPr id="69" name="Rectangle 68">
            <a:extLst xmlns:a="http://schemas.openxmlformats.org/drawingml/2006/main">
              <a:ext uri="{FF2B5EF4-FFF2-40B4-BE49-F238E27FC236}">
                <a16:creationId xmlns:a16="http://schemas.microsoft.com/office/drawing/2014/main" id="{B837CF37-6CB9-4DE5-888A-7A494833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10642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62486324-F60F-46D7-9990-04975450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025896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形状异常</a:t>
            </a:r>
          </a:p>
        </p:txBody>
      </p:sp>
      <p:sp>
        <p:nvSpPr>
          <p:cNvPr id="71" name="TextBox 70">
            <a:extLst xmlns:a="http://schemas.openxmlformats.org/drawingml/2006/main">
              <a:ext uri="{FF2B5EF4-FFF2-40B4-BE49-F238E27FC236}">
                <a16:creationId xmlns:a16="http://schemas.microsoft.com/office/drawing/2014/main" id="{50B9EBF9-2A3F-4707-B983-F2C2A5A1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6025896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逐帧</a:t>
            </a: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009F5699-8B50-4292-97EA-2EABBA74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025896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审计层</a:t>
            </a:r>
          </a:p>
        </p:txBody>
      </p:sp>
      <p:sp>
        <p:nvSpPr>
          <p:cNvPr id="73" name="TextBox 72">
            <a:extLst xmlns:a="http://schemas.openxmlformats.org/drawingml/2006/main">
              <a:ext uri="{FF2B5EF4-FFF2-40B4-BE49-F238E27FC236}">
                <a16:creationId xmlns:a16="http://schemas.microsoft.com/office/drawing/2014/main" id="{6A4069C4-B906-48C4-9D9D-D2EF9BC3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6025896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—</a:t>
            </a: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A6D9EA91-5278-4B54-B224-E83ED174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6025896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FWHM/椭圆率偏离当前规则</a:t>
            </a: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80AFF87D-F90C-4F95-BA80-ABEB5414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7/19</a:t>
            </a:r>
          </a:p>
        </p:txBody>
      </p:sp>
    </p:spTree>
    <p:extLst>
      <p:ext uri="{BB962C8B-B14F-4D97-AF65-F5344CB8AC3E}">
        <p14:creationId xmlns:p14="http://schemas.microsoft.com/office/powerpoint/2010/main" val="18448633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FA0879-C846-44C7-AEC4-6E757E1F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764AC2A-1A6B-46F3-B387-F2FE05A3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BA32A4E-1168-409F-8422-E5F6DCDE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355775D-2DB7-4E61-A027-8A33A6DF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星等识别与标定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D5488ED-A817-4F1D-B5D8-B6B04EBF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772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基础赛项 · 星图识别 · 科学性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7A056FC-21DF-4E81-8F49-689FF072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2245225-6582-40D5-AA8B-C147BCAF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566160" cy="5029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A3F0DA7-56E2-4066-9DB6-B166A196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三层星等体系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3B6C31E-0F01-43BB-9FCC-7F0A29A5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32004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第一层：m_inst（仪器星等）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由图像通量计算，只能比较同一图像内的亮暗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未消除相机响应、增益和波段差异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第二层：m_cal（标定视星等）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用 Gaia 参考星拟合零点和颜色项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只有匹配、测光和波段条件通过才输出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第三层：M（绝对星等）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还需要距离、消光和同波段转换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  不能由 m_inst 直接得到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Gaia G：Gaia G 波段的视星等，不是绝对星等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M_G：Gaia 模型或星表中的 G 波段绝对星等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当前相机波段转换仍需外部标定证据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D8181B7-424D-4E73-A7CA-B68ECFCA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71600"/>
            <a:ext cx="3566160" cy="5029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834A9F8-873D-4A61-9316-8DF1A3B3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Gaia DR3 星表路线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F9BB153-1429-4140-9919-E9432007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32004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显式 TAP 公共星表接入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rst19-gaia-frame 生成参考子表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GUI 在线获取 Gaia DR3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参考星分层查询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亮星定标层：G ≈ 5–13.5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深星覆盖层：覆盖检测极限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rst19-gaia-merge 按 source_id 去重合并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WCS 标定路径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姿态先验 → 切平面 WCS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先验引导一对一匹配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匹配后局部仿射 WCS 校准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输出像元角尺度/旋转/parity/RMS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68ECEFE-8911-43A5-AEDB-856137D6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371600"/>
            <a:ext cx="3566160" cy="5029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DECF39A-FA66-4B96-A07E-612D90C9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颜色模型敏感性审计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5913CC8-1580-4108-9DE9-9827198B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20240"/>
            <a:ext cx="32004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三种颜色模型对比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零阶：m_cal = m_inst + Z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一次：+ c₁·(BP−RP)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二次：+ c₁·(BP−RP) + c₂·(BP−RP)²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敏感性审计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model_spread_mag 量化模型间差异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最暗源排序一致率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未知相机响应下的创新分析方法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质量审计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rst19-photometric-report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避免仪器星等冒充绝对星等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消光波段/系统/来源完整保留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3F078BF-E034-42CB-AE70-5FCCD20E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8/19</a:t>
            </a:r>
          </a:p>
        </p:txBody>
      </p:sp>
    </p:spTree>
    <p:extLst>
      <p:ext uri="{BB962C8B-B14F-4D97-AF65-F5344CB8AC3E}">
        <p14:creationId xmlns:p14="http://schemas.microsoft.com/office/powerpoint/2010/main" val="6970686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006DDE6-A84E-44E4-A8F3-F96274AE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CCE08A6-9DB4-4987-9C57-A8C7CC76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D7C80BD-2E55-44C1-9562-C7EBDD85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B4CFE26-25C8-4BD0-8AF1-4F14C3E0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运动目标识别：总体方法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B09A8E8-BD03-4CBB-AB78-7E751A90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772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基础赛项 · 星图分析 · 科学性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2E3FEF4-2105-4845-BB37-0FD54037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2546AF3-1B7B-4732-BBDC-17D6ACF8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371600"/>
            <a:ext cx="214884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F20FA54-21FF-4637-AC14-F34AE84C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548640" cy="2743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824B145-B515-48AF-9569-02890596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Step 1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E211D04-C8AB-461D-A995-B91ED013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46304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平移配准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7545F36-78C6-4CB7-960B-4766C93E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192024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用高质量静态源估计</a:t>
            </a:r>
            <a:br/>
            <a:r>
              <a:t>相邻帧全局平移</a:t>
            </a:r>
            <a:br/>
            <a:r>
              <a:t>Δt = median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027453D-F121-4BDF-9CA6-1F822F4B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03120"/>
            <a:ext cx="228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→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A6D8210-28D1-4090-B576-257599B7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1371600"/>
            <a:ext cx="214884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F911E48-1008-49EC-904F-A7F6832A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463040"/>
            <a:ext cx="548640" cy="2743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E5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14E45A6-44B4-4224-AAF4-435432A6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46304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Step 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900D9B5-4A1B-4C8A-85D8-B91B8D53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6304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轨迹关联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75BE5FF-C9B2-43AB-BF77-85BB43EB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920240"/>
            <a:ext cx="192024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扣除累计平移后</a:t>
            </a:r>
            <a:br/>
            <a:r>
              <a:t>Hungarian 全局一对一</a:t>
            </a:r>
            <a:br/>
            <a:r>
              <a:t>禁止跨漏帧重连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1C847A3-1357-440F-AC1F-D4DF9B11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103120"/>
            <a:ext cx="228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→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852C55F5-071F-45CF-ABC3-BD956CA0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371600"/>
            <a:ext cx="214884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CFC99ECD-4599-447D-8B53-5183D2B5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463040"/>
            <a:ext cx="548640" cy="2743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7B6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702C8CC-BD4F-4A84-A893-182686BB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46304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Step 3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53D8555-A05A-4AB4-B82B-DF4D1165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46304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三层分类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D9C363C-31BC-4759-8113-52BA6669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920240"/>
            <a:ext cx="192024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静态星场</a:t>
            </a:r>
            <a:br/>
            <a:r>
              <a:t>瞬态候选</a:t>
            </a:r>
            <a:br/>
            <a:r>
              <a:t>严格 moving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AF36B0B-AFAD-499A-BBFF-6276982E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103120"/>
            <a:ext cx="228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→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E4326C9E-DB4C-46EB-B19A-170A7C7A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371600"/>
            <a:ext cx="214884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FF9F1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E4EE8E8A-322B-40C2-91D6-8C0C4645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463040"/>
            <a:ext cx="548640" cy="2743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8387F142-8400-4DE8-B1BD-72756155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46304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Step 4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A2DEDD87-3A31-46EE-A1A3-4CE2A131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6304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高速点源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D6F1099-2026-45E3-82B9-CE8F7AC8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920240"/>
            <a:ext cx="192024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宽筛候选峰 →</a:t>
            </a:r>
            <a:br/>
            <a:r>
              <a:t>三帧常速度种子 →</a:t>
            </a:r>
            <a:br/>
            <a:r>
              <a:t>15帧关联 → ADU细筛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71C5CA4-F178-498C-BD17-AE9DDDF0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103120"/>
            <a:ext cx="228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→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F90A6A4B-3CED-47C5-89C2-76B28B57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371600"/>
            <a:ext cx="214884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4B6D9476-CDF2-4984-8DEF-6F786103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463040"/>
            <a:ext cx="548640" cy="2743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A6D238E-78E3-41F6-83F3-63C55E52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46304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Step 5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1B8E2CF4-71DD-4714-BA5F-7EC73701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146304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线状检测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3C8723B-2292-4195-B284-E08F2075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20240"/>
            <a:ext cx="192024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原图高残差连通域</a:t>
            </a:r>
            <a:br/>
            <a:r>
              <a:t>PCA 几何筛选</a:t>
            </a:r>
            <a:br/>
            <a:r>
              <a:t>跨帧直线拟合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4D8D5B7-360B-4961-A657-C42FCB93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关键设计决策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9C8E4AEF-ABEE-4C0B-903A-6E74BC0C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9768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D6C76B0-C3E8-44F9-A518-62269744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109728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85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点轨迹：拟合位移 + 禁止跨漏帧重连 → 避免虚假长轨迹</a:t>
            </a:r>
          </a:p>
          <a:p xmlns:a="http://schemas.openxmlformats.org/drawingml/2006/main">
            <a:pPr>
              <a:spcAft>
                <a:spcPts val="385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线状候选：独立于点源层，单帧叫候选，跨帧才进入运动候选层</a:t>
            </a:r>
          </a:p>
          <a:p xmlns:a="http://schemas.openxmlformats.org/drawingml/2006/main">
            <a:pPr>
              <a:spcAft>
                <a:spcPts val="385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运动叠加层：洋红色 moving 线状 + 橙色 candidate 线状 + 严格 moving 点轨迹，分层显示</a:t>
            </a:r>
          </a:p>
          <a:p xmlns:a="http://schemas.openxmlformats.org/drawingml/2006/main">
            <a:pPr>
              <a:spcAft>
                <a:spcPts val="385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图像平面预测：最后两点匀速外推 +5 帧，标为 forecast，不宣称轨道预测</a:t>
            </a:r>
          </a:p>
          <a:p xmlns:a="http://schemas.openxmlformats.org/drawingml/2006/main">
            <a:pPr>
              <a:spcAft>
                <a:spcPts val="385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速度不确定度：三点及以上 OLS 拟合，Student-t 95% 区间，delta method 传播误差</a:t>
            </a:r>
          </a:p>
          <a:p xmlns:a="http://schemas.openxmlformats.org/drawingml/2006/main">
            <a:pPr>
              <a:spcAft>
                <a:spcPts val="385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注册中值差分基线：分块时间中值参考，减少帧间整体位移影响</a:t>
            </a:r>
          </a:p>
          <a:p xmlns:a="http://schemas.openxmlformats.org/drawingml/2006/main">
            <a:pPr>
              <a:spcAft>
                <a:spcPts val="385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配准工作集：每帧前 6000 个 filter_snr 候选，全量 candidate_count 审计保留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C0D96DB3-E710-4E48-8E70-0B9102C5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9/19</a:t>
            </a:r>
          </a:p>
        </p:txBody>
      </p:sp>
    </p:spTree>
    <p:extLst>
      <p:ext uri="{BB962C8B-B14F-4D97-AF65-F5344CB8AC3E}">
        <p14:creationId xmlns:p14="http://schemas.microsoft.com/office/powerpoint/2010/main" val="20646501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E4AC58-021C-47DF-B6ED-C2E9350B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F1ECE54-F4FA-401E-BC39-FEAC168A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33A281C-9731-4F8F-9981-58A6F8FE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1DE6C41-1989-4502-9D8E-E0444580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运动目标：线状候选分层检测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9B76BDF-C671-4226-8547-7A405434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772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基础赛项 · 星图分析 · 创新性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3149CC5-BCFF-4095-8AA2-0EAC9324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A80D715-41BC-4125-BF37-F42961D0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566160" cy="457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07F8F2F-EA00-4A85-AF3A-CB94EB08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单帧长线检测 (rst19-trails)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90768F1-35F8-4398-B5A4-38CA3975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3200400" cy="3840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残差图 → 有效像素掩膜 → 阈值连通域 → PCA 几何筛选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输出：长度、宽度、方向、残差信噪比、触边状态和包围盒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线状候选单独保留，不进入恒星质量源统计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单帧只能说明“具有线状或异常形态”，运动确认放到 15 帧关联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2F3D4C1-95D5-45C8-AE76-101EA57A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71600"/>
            <a:ext cx="3566160" cy="457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F1C7F7D-D0A2-4F63-BFEE-B8978C28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跨帧线状关联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904ABCF-8792-4432-9709-3E1C5CF1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3200400" cy="3840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从原图高残差连通域建立独立线状候选池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面积/PCA 形状 + 连续跨帧关联，排除普通静态点与孤立噪声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注册坐标中拟合直线，RMS 合格标记 moving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轨迹图：洋红色实测线 + 青绿色虚线预测（末帧 +5 帧外推）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56CC6A8-7B94-4120-9ABB-052CF73A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371600"/>
            <a:ext cx="3566160" cy="457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DA228D6-2716-49BD-A706-29C892FD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逐帧线状筛选诊断漏斗 + 运动证据分层输出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362DF65-4911-4C6F-83C9-E62AAF2E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20240"/>
            <a:ext cx="3200400" cy="3840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先做单帧线状候选，再做多帧确认：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线状候选表：记录长度、方向、宽度和质量标记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逐帧点记录：记录每一帧的坐标和亮度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运动轨迹表：给出持续帧数、位移、图像平面方向和速度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这些是图像平面证据，不直接等同于真实轨道或天体身份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E92D843-9AEB-4679-9AFF-A1182828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10/19</a:t>
            </a:r>
          </a:p>
        </p:txBody>
      </p:sp>
    </p:spTree>
    <p:extLst>
      <p:ext uri="{BB962C8B-B14F-4D97-AF65-F5344CB8AC3E}">
        <p14:creationId xmlns:p14="http://schemas.microsoft.com/office/powerpoint/2010/main" val="19818745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4BB5BE0-3EB9-4841-9C60-3C9B5D4E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7307D98C-7B50-419C-9D95-4D6CBB32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2BCF4F2-2179-49BB-8F6F-4C0045BD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ADDD4A2-864B-4FC9-84DE-2C0A6DCF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创新分析：多维证据导出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B0F3B74-BAD5-49D5-AB79-7344DD9F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772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创新赛项 · 创新性 15分 · 实用性 10分 · 科学性 5分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F358192-E24C-4436-9370-9DBFE6AD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F51BFCB-335E-4BCE-A006-A2A55B7D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394960" cy="24688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DC69630-DAD2-4B44-B009-6B4AA306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5029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条件化可探测性剖面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404DB3-0C65-4BF8-A756-9F55BDA9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真实背景分层注入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18E9FAF-A3C9-4998-865E-AD15C0A7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48840"/>
            <a:ext cx="50292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低纹理/高局部噪声/边缘/拥挤/特殊值域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经验 PSF 覆盖 + 2×2 空间分区留出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已知注入分母的召回率 + Wilson 区间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候选回收与质量回收分开报告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明确标注为条件性结果，不宣称完备率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3FAE420-4754-43A3-8730-44D27618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71600"/>
            <a:ext cx="5394960" cy="24688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9609DFA-125D-4C2F-8097-712A3940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63040"/>
            <a:ext cx="5029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15帧相对光度标尺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56C18E2-50C5-4B23-8F82-914FD652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288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跨帧一致性审计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415C0CE-D2B9-4F77-B5BA-E369FA5B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48840"/>
            <a:ext cx="50292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逐源误差与状态报告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星等可观测性/false-valid 质量报告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rst19-photometric-report 工具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避免仪器星等冒充绝对星等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零阶/一次/二次颜色模型敏感性对比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81E0E24-81C1-4D7B-912E-93095B99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5394960" cy="24688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A5C9052-105B-42AA-BC07-77323A21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14800"/>
            <a:ext cx="5029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特征持久性审计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E8D1B7F-F1C7-4F31-9ACB-40C4B52F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8056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15帧时间序列分析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59440CE-9880-47E4-A0BC-084790A8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00600"/>
            <a:ext cx="50292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首帧锚点 12/15 帧出现率统计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类别条件跨帧转移矩阵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提议器来源交叉（Gaussian/DoG/Starlet）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紧凑质量子组 vs 非紧凑特征对照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区分'重复的检测器结构'和'质量层通过的点源'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F2A0EC2D-0CD3-4911-9C60-FC769CA0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023360"/>
            <a:ext cx="5394960" cy="24688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FF9F1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BA25869-428D-47B1-B11E-06B0278A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14800"/>
            <a:ext cx="5029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FF9F1C"/>
                </a:solidFill>
                <a:latin typeface="微软雅黑"/>
                <a:ea typeface="微软雅黑"/>
                <a:cs typeface="微软雅黑"/>
              </a:defRPr>
            </a:pPr>
            <a:r>
              <a:t>辅助遥测分析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DC53BE8-54EE-461C-AB29-8A912516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8056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卫星姿态与轨道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3080554-4F53-4B02-9AB9-364DDCF4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50292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四元数光轴 RA/Dec 推导（亚纳角秒级一致）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J2000/WGS84 位置速度自洽审计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末帧常速度位置外推（+5 中位帧间隔）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m/s? 单位边界标注与待确认状态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图像 px/s 与载体 m/s? 分栏显示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31C865F-2BDB-4787-B1A2-1D997A90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11/19</a:t>
            </a:r>
          </a:p>
        </p:txBody>
      </p:sp>
    </p:spTree>
    <p:extLst>
      <p:ext uri="{BB962C8B-B14F-4D97-AF65-F5344CB8AC3E}">
        <p14:creationId xmlns:p14="http://schemas.microsoft.com/office/powerpoint/2010/main" val="7454103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72A2DC4-B6E3-425D-AD32-3FAF3712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0F7769B7-692D-41B9-84AA-6919B9B7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E6BF3D9-40A3-44C0-AD2F-1F8A8492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83E8784-7302-43C8-A3D0-35C57387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创新分析：分层注入回收实验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A631BCC-8446-4F7A-9C2F-48828372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772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创新赛项 · 科学性 + 实用性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3DD34AD-0192-4312-9A84-C9609924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6A4F139-6105-40B0-A998-438E7916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四种注入口径（递进覆盖）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6D19175-E33D-491E-A04E-1E35B3C0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2560320" cy="9144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4ADA352-765A-460D-ADD2-5D45912E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① 简化 Gaussian 均匀背景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5107794-F429-46B9-9996-A5F8E342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88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理想条件基线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216E373-83DB-41EC-A0F3-2138B728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737360"/>
            <a:ext cx="2560320" cy="9144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9C85562-5BB0-47E4-ADA9-6B015D19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78308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② 真实 FITS 相对空白背景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7A76F7A-D962-4B6C-AD6D-1E6ED733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1488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实测噪声条件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A73B3D4-61DE-44B7-8C2C-7A89E5B8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37360"/>
            <a:ext cx="2560320" cy="9144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48319B9-649F-4170-A534-359E6A78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③ 真实 FITS 分层背景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7DA4C4D-1BA2-4C8B-94C2-9D13593B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1488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低纹理/高噪声/边缘/拥挤/特殊值域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E329BF6-D2CB-4008-BF39-3EC7366F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737360"/>
            <a:ext cx="2560320" cy="9144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FF9F1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4D04444-511F-499E-96ED-3F9A7BCB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178308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FF9F1C"/>
                </a:solidFill>
                <a:latin typeface="微软雅黑"/>
                <a:ea typeface="微软雅黑"/>
                <a:cs typeface="微软雅黑"/>
              </a:defRPr>
            </a:pPr>
            <a:r>
              <a:t>④ 2×2 空间分区留出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0A1FD3D-9068-43FC-94CA-6F36726C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21488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候选回收与质量回收分开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D80BBB4-92D1-43E0-9E05-E651C55B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合成正负控制结果（正样本 = 已知源回收，阴性 = 特征邻域泄漏）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26168C1-8B4F-43C6-AC73-669D1A3C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场景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591F9BD-B834-4929-B6A4-FED17948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29184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候选层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A5236F8-8C77-4D46-A999-58356DD6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9184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质量层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7EE0C50-BD6A-4E1B-8A04-A4D00EC2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29184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说明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6A26ADDA-844A-4988-8207-4DF01CB1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2044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2ACEA1DD-DC72-4138-B5FA-02820B17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110642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93AA68D-6575-4A8C-B6CE-72C90C67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孤立 FWHM=2 源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DC4FD7C-0598-4EB3-8428-FEDB00FC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657600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1/1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86412CD7-22F7-4346-9D7C-AA674AF5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00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1/1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F98FD42D-42A4-4205-817A-13E1B673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657600"/>
            <a:ext cx="594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标准紧凑源可回收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7D5ED20F-46B6-4E17-9DB5-773ED4BB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95928"/>
            <a:ext cx="110642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DBF9E875-6386-4C3E-853C-C1C1867A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4164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弱源（峰值 28 ADU）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F0A84AC4-C938-43EB-8E88-AEBA3CA0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041648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1/1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E07D6A90-87A6-45FF-9877-DB18EF1D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41648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0/1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D18195C7-B7F6-4DC6-A51A-5E895E8F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041648"/>
            <a:ext cx="594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召回与质量门槛发生分离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E102A144-681A-459A-BBE9-1547FD9B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79976"/>
            <a:ext cx="110642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E6648FBF-4341-4536-8403-480722B5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25696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双源 3px / 6px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B1F47A4-F72A-4E19-82FB-619B8708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425696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1/2, 2/2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B2BE4D74-528B-4883-8C03-5CFBCDF1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25696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1/2, 2/2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2AE2AC1C-809C-4850-B17A-136CD66E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425696"/>
            <a:ext cx="594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3px 合并，6px 可分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C192EC87-59A1-4960-B430-7DA480E6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64024"/>
            <a:ext cx="110642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C22FD0F0-5E9A-4493-8192-EC290C7F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9744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单像素尖峰阴性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A7CB6CD6-9A66-4448-8D25-4FDC3646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809744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1 泄漏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E872F8B4-99E8-4074-BC29-ED18F91E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09744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0 泄漏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493667BA-E243-42FC-9B19-13718976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809744"/>
            <a:ext cx="594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进入宽筛但被 PSF 支持拒绝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0CF2CF64-1FAF-4F9F-86EC-589CC6E2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48072"/>
            <a:ext cx="110642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265276B9-4D06-4C1B-81BE-29D2A692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93792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掩膜/边缘/饱和源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17A85014-9033-466A-87BD-35E61DEE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5193792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各 1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94C4FC4A-C96D-488C-9001-3EABCB4B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93792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各 0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0AE8598E-3996-4B62-9775-4069ED68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5193792"/>
            <a:ext cx="594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保留审计候选，不进质量层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8BA00A49-831C-46A7-9BB8-6D7D20B4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110642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B1CD1523-F63E-4FBD-B91A-4FBEC502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7784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长线阴性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11EA2711-EA31-4104-993B-63687533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5577840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16 泄漏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D8CEF910-AA37-4599-A783-378F9CDC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77840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0 泄漏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F5DCD23F-94B7-4094-A748-A7EF9690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5577840"/>
            <a:ext cx="594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线状结构必须独立审计</a:t>
            </a:r>
          </a:p>
        </p:txBody>
      </p:sp>
      <p:sp>
        <p:nvSpPr>
          <p:cNvPr id="57" name="Rounded Rectangle 56">
            <a:extLst xmlns:a="http://schemas.openxmlformats.org/drawingml/2006/main">
              <a:ext uri="{FF2B5EF4-FFF2-40B4-BE49-F238E27FC236}">
                <a16:creationId xmlns:a16="http://schemas.microsoft.com/office/drawing/2014/main" id="{052C48DF-A098-4C70-BE5E-E4A99A71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43600"/>
            <a:ext cx="1106424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A2A1A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61390CD6-49AA-4EF6-BA11-EE49BF6C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3504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💡 关键发现：边缘、拥挤和特殊值域以不同方式损失质量层回收，不能用一个全图阈值概括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A583C56C-DBA6-45BC-9B5B-8098DA64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5508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等强双源控制：3px 间距 56/128 ADU 召回 0.5/0.5；5px、6px 在 128 ADU 下均为 1.0/1.0，三种提案模式结果一致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29289C8A-4759-483C-88DF-DBE83D5A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12/19</a:t>
            </a:r>
          </a:p>
        </p:txBody>
      </p:sp>
    </p:spTree>
    <p:extLst>
      <p:ext uri="{BB962C8B-B14F-4D97-AF65-F5344CB8AC3E}">
        <p14:creationId xmlns:p14="http://schemas.microsoft.com/office/powerpoint/2010/main" val="112168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5E3F60A-7EAC-4412-B979-24BF9E69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385609C-B580-49AF-9258-E4714519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C3CC8A6-3FD3-428A-A3FB-CD399B17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09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7A38A5E-D9F9-4DE9-8492-9C9B6F41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创新分析：合成大图与研究工具集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F00AA08-9107-407A-9CA4-30D33EE6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772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创新赛项 · 创新性 + 科学性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8D12CDF-D8BF-48CB-98E4-587F6205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9E01B3A-9E12-4783-8AC8-C8129B08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30352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88E5C15-CD73-44B4-BB52-18ADE623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6304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15帧注册合成大图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69D7725-5468-43AE-9123-4375BED9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4754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先用稳定星场估计帧间平移，再做统一坐标下的稳健 ADU 融合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输出覆盖范围和离散度，保留真实观测值，不用生成式内容填充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15 张图可分别查看，也可导出 PNG / NPY / JSON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当前是平移注册，用于研究和复核，不宣称完整 WCS 镶嵌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26FFAF9-55D3-4FB2-A7C9-2AD30B83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71600"/>
            <a:ext cx="530352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BD8665F-5417-4D84-A3DC-595EBE87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46304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完整证据导出体系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6EDB7B1-D4AB-48F4-9C8D-A87D8058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20240"/>
            <a:ext cx="4754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15帧关系/轨迹证据导出器 + 线状与点源运动分层证据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逐帧时间关系 CSV + 像素配准稳定性报告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辅助姿态摘要 + 稳健背景统计 + 运动轨迹证据图</a:t>
            </a:r>
          </a:p>
          <a:p xmlns:a="http://schemas.openxmlformats.org/drawingml/2006/main"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遥测轨迹可视化（J2000/WGS84 位置相对首帧投影）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ACE55F2-2796-4880-A484-ADC84410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11064240" cy="24688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CBB21B6-FDBC-4864-A360-D7A39254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2336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研究工具集（可复核审计命令）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B1F6B6F-8B93-46F6-A3A5-D4D2A8F3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10515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rst19-feature-sequence            真实15帧特征持久性审计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rst19-pair-audit                        固定坐标近邻双源审计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rst19-forced-stability                分层强制测光稳定性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rst19-feature-parameter-sensitivity   参数敏感性审计（阈值/SNR扫描）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rst19-feature-hard-negative       高 SNR 落选候选系统化审计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rst19-feature-gate-route            质量门路径逐行审计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rst19-feature-flag-interaction       旗标条件交互审计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rst19-feature-class-context        类别内经验分位审计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rst19-feature-gate-margin          质量门越界余量审计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rst19-temporal-codes                 关注坐标逐帧原始值表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AE6CE00-ACF8-4585-92B4-3EBC8E3E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13/19</a:t>
            </a:r>
          </a:p>
        </p:txBody>
      </p:sp>
    </p:spTree>
    <p:extLst>
      <p:ext uri="{BB962C8B-B14F-4D97-AF65-F5344CB8AC3E}">
        <p14:creationId xmlns:p14="http://schemas.microsoft.com/office/powerpoint/2010/main" val="34013092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C073329-B42B-4003-AF5C-021E50E3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7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740182-8CFF-4C58-B816-B1CA32EB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7D5"/>
          </a:solidFill>
          <a:ln xmlns:a="http://schemas.openxmlformats.org/drawingml/2006/main" w="0">
            <a:noFill/>
          </a:ln>
        </p:spPr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2D186DC0-3728-4557-B025-96BE8CFA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048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08B7D5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06111B4-2F16-46CD-8185-481B26BA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04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710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1018"/>
                </a:solidFill>
                <a:latin typeface="Arial"/>
                <a:ea typeface="Arial"/>
                <a:cs typeface="Arial"/>
              </a:rPr>
              <a:t>09</a:t>
            </a:r>
            <a:endParaRPr sz="1950" b="1">
              <a:solidFill>
                <a:srgbClr val="0710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D6E1EC0-63A4-4AA1-8A4F-023E94E1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2F5F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F5F8"/>
                </a:solidFill>
                <a:latin typeface="Arial"/>
                <a:ea typeface="Arial"/>
                <a:cs typeface="Arial"/>
              </a:rPr>
              <a:t>图例与真实结果：从单图到多帧轨迹</a:t>
            </a:r>
            <a:endParaRPr sz="2550" b="1">
              <a:solidFill>
                <a:srgbClr val="F2F5F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A1DB65-54E0-4542-9A96-53D8F05D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9CA8B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9CA8B8"/>
                </a:solidFill>
                <a:latin typeface="Arial"/>
                <a:ea typeface="Arial"/>
                <a:cs typeface="Arial"/>
              </a:rPr>
              <a:t>先看原始观测，再看候选标记和多帧运动证据</a:t>
            </a:r>
            <a:endParaRPr sz="1350">
              <a:solidFill>
                <a:srgbClr val="9CA8B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87805BE-19FC-4ECA-A80D-D854CDE9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11068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D"/>
          </a:solidFill>
          <a:ln xmlns:a="http://schemas.openxmlformats.org/drawingml/2006/main" w="0">
            <a:noFill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3A5E8B18-A565-4266-B225-56A20F29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638175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151E2F"/>
          </a:solidFill>
          <a:ln xmlns:a="http://schemas.openxmlformats.org/drawingml/2006/main" w="14288">
            <a:solidFill>
              <a:srgbClr val="08B7D5"/>
            </a:solidFill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1A0232E-DF94-42FA-9AA3-6B49E8AA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8C7E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C7E6"/>
                </a:solidFill>
                <a:latin typeface="Arial"/>
                <a:ea typeface="Arial"/>
                <a:cs typeface="Arial"/>
              </a:rPr>
              <a:t>图一：15帧大图（原始观测）</a:t>
            </a:r>
            <a:endParaRPr sz="1650" b="1">
              <a:solidFill>
                <a:srgbClr val="08C7E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0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0d3f02e2c4845"/>
          <a:srcRect xmlns:a="http://schemas.openxmlformats.org/drawingml/2006/main" l="213" t="0" r="2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24025" y="1924050"/>
            <a:ext cx="4038600" cy="4038600"/>
          </a:xfrm>
          <a:prstGeom xmlns:a="http://schemas.openxmlformats.org/drawingml/2006/main" prst="rect">
            <a:avLst/>
          </a:prstGeom>
        </p:spPr>
      </p:pic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3EABAA4E-9E4B-42FD-9F29-D8AEA8F3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381125"/>
            <a:ext cx="44005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51E2F"/>
          </a:solidFill>
          <a:ln xmlns:a="http://schemas.openxmlformats.org/drawingml/2006/main" w="14288">
            <a:solidFill>
              <a:srgbClr val="8B5CF6"/>
            </a:solidFill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55B6894-28D0-4FE7-A26B-6FE1D722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24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B69C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69CFF"/>
                </a:solidFill>
                <a:latin typeface="Arial"/>
                <a:ea typeface="Arial"/>
                <a:cs typeface="Arial"/>
              </a:rPr>
              <a:t>逐帧轨迹证据</a:t>
            </a:r>
            <a:endParaRPr sz="1650" b="1">
              <a:solidFill>
                <a:srgbClr val="B69C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f26bae53343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3725" y="1924050"/>
            <a:ext cx="2413000" cy="1809750"/>
          </a:xfrm>
          <a:prstGeom xmlns:a="http://schemas.openxmlformats.org/drawingml/2006/main" prst="rect">
            <a:avLst/>
          </a:prstGeom>
        </p:spPr>
      </p:pic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2E3628FE-0D0F-42FB-B214-CCF5A5AD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38625"/>
            <a:ext cx="44005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E2F"/>
          </a:solidFill>
          <a:ln xmlns:a="http://schemas.openxmlformats.org/drawingml/2006/main" w="14288">
            <a:solidFill>
              <a:srgbClr val="00D89A"/>
            </a:solidFill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5C38E69-F97A-49DF-85AB-5C1A3E91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815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0D89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D89A"/>
                </a:solidFill>
                <a:latin typeface="Arial"/>
                <a:ea typeface="Arial"/>
                <a:cs typeface="Arial"/>
              </a:rPr>
              <a:t>这页怎么读</a:t>
            </a:r>
            <a:endParaRPr sz="1575" b="1">
              <a:solidFill>
                <a:srgbClr val="00D8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9CAB9B2-9D9B-49E7-8105-494D265B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10125"/>
            <a:ext cx="3943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• 左图：15 帧大图，先观察整体星场和异常亮线的空间分布</a:t>
            </a:r>
            <a:endParaRPr sz="1125">
              <a:solidFill>
                <a:srgbClr val="E7EDF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• 右上：同一目标在不同帧中的位置变化</a:t>
            </a:r>
            <a:endParaRPr sz="1125">
              <a:solidFill>
                <a:srgbClr val="E7EDF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• 运动方向和速度来自多帧关联，不由单帧亮线直接猜测</a:t>
            </a:r>
            <a:endParaRPr sz="1125">
              <a:solidFill>
                <a:srgbClr val="E7EDF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• 合成图用于空间分布和复核，不替代绝对测光或完整 WCS</a:t>
            </a:r>
            <a:endParaRPr sz="1125">
              <a:solidFill>
                <a:srgbClr val="E7EDF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C058FA1-ED3B-4299-A9F6-663E6335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842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738096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738096"/>
                </a:solidFill>
                <a:latin typeface="Arial"/>
                <a:ea typeface="Arial"/>
                <a:cs typeface="Arial"/>
              </a:rPr>
              <a:t>14/19</a:t>
            </a:r>
            <a:endParaRPr sz="1050">
              <a:solidFill>
                <a:srgbClr val="73809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298723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A92D13-8939-44F6-90F5-87FF31E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EB7E5-D5F9-42EF-B8B2-4D969908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7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B9C85-FE23-4172-A53B-097C99AE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048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08B7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20AF6-0622-408E-9B80-054E6558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04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10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101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2C9D5-E52C-4277-93D1-88632FE3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5F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F5F8"/>
                </a:solidFill>
                <a:latin typeface="Arial"/>
                <a:ea typeface="Arial"/>
                <a:cs typeface="Arial"/>
              </a:rPr>
              <a:t>图例：单图识别、单帧动目标与多帧轨迹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7B05C-BE75-43C2-9533-BEC1FE34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CA8B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9CA8B8"/>
                </a:solidFill>
                <a:latin typeface="Arial"/>
                <a:ea typeface="Arial"/>
                <a:cs typeface="Arial"/>
              </a:rPr>
              <a:t>同一套数据输出四类不同证据，不能把它们混成一个“星点数量”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16E90-9236-4851-9983-30CDEF5E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11068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91EFC-637D-4484-8F73-58AEF4A4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5334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51E2F"/>
          </a:solidFill>
          <a:ln xmlns:a="http://schemas.openxmlformats.org/drawingml/2006/main" w="14288">
            <a:solidFill>
              <a:srgbClr val="08B7D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8F16D-2B84-4A7B-BAF1-488921FF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14475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B7D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B7D5"/>
                </a:solidFill>
                <a:latin typeface="Arial"/>
                <a:ea typeface="Arial"/>
                <a:cs typeface="Arial"/>
              </a:rPr>
              <a:t>单图分析：全图叠加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b3eda65914d84"/>
          <a:stretch xmlns:a="http://schemas.openxmlformats.org/drawingml/2006/main"/>
        </p:blipFill>
        <p:spPr>
          <a:xfrm xmlns:a="http://schemas.openxmlformats.org/drawingml/2006/main">
            <a:off x="1118334" y="1895475"/>
            <a:ext cx="1525707" cy="1524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FCF1D-1D42-46EE-AB15-8419C376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62150"/>
            <a:ext cx="2381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青色点：点源候选</a:t>
            </a:r>
          </a:p>
          <a:p xmlns:a="http://schemas.openxmlformats.org/drawingml/2006/main">
            <a:pPr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橙色线/圈：单帧线状候选</a:t>
            </a:r>
          </a:p>
          <a:p xmlns:a="http://schemas.openxmlformats.org/drawingml/2006/main">
            <a:pPr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用途：查看一张图里有哪些可疑结构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A2B66-FDDC-44B0-B121-5B026516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81125"/>
            <a:ext cx="5334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51E2F"/>
          </a:solidFill>
          <a:ln xmlns:a="http://schemas.openxmlformats.org/drawingml/2006/main" w="14288">
            <a:solidFill>
              <a:srgbClr val="B69C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23DEE-4339-4B94-A5F7-0ED9B232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14475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69C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69CFF"/>
                </a:solidFill>
                <a:latin typeface="Arial"/>
                <a:ea typeface="Arial"/>
                <a:cs typeface="Arial"/>
              </a:rPr>
              <a:t>多图运动轨迹：逐帧关联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68a9711a64115"/>
          <a:stretch xmlns:a="http://schemas.openxmlformats.org/drawingml/2006/main"/>
        </p:blipFill>
        <p:spPr>
          <a:xfrm xmlns:a="http://schemas.openxmlformats.org/drawingml/2006/main">
            <a:off x="6847700" y="1895475"/>
            <a:ext cx="1535076" cy="15240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ED47E9-7A16-4BD4-B2BE-71F7888C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62150"/>
            <a:ext cx="2381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粉色：多帧关联轨迹</a:t>
            </a:r>
          </a:p>
          <a:p xmlns:a="http://schemas.openxmlformats.org/drawingml/2006/main">
            <a:pPr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橙色：线状候选</a:t>
            </a:r>
          </a:p>
          <a:p xmlns:a="http://schemas.openxmlformats.org/drawingml/2006/main">
            <a:pPr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用途：比较不同目标在多帧中的位置变化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3EB28-4253-4639-BCE3-51CC4F31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5334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51E2F"/>
          </a:solidFill>
          <a:ln xmlns:a="http://schemas.openxmlformats.org/drawingml/2006/main" w="14288">
            <a:solidFill>
              <a:srgbClr val="F5A62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527D5-F31F-431A-A6A2-C4B85B01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单帧动目标：先报候选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9b0b256ca46d5"/>
          <a:stretch xmlns:a="http://schemas.openxmlformats.org/drawingml/2006/main"/>
        </p:blipFill>
        <p:spPr>
          <a:xfrm xmlns:a="http://schemas.openxmlformats.org/drawingml/2006/main">
            <a:off x="762000" y="4535861"/>
            <a:ext cx="2238375" cy="1053353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033DCD-5C0D-4026-82DC-9DA0919B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38650"/>
            <a:ext cx="23812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橙色标记：单帧线状候选</a:t>
            </a:r>
          </a:p>
          <a:p xmlns:a="http://schemas.openxmlformats.org/drawingml/2006/main">
            <a:pPr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只能说明形态异常，不能单独证明运动方向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418FA3-02A8-4596-99A9-73448F30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5334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51E2F"/>
          </a:solidFill>
          <a:ln xmlns:a="http://schemas.openxmlformats.org/drawingml/2006/main" w="14288">
            <a:solidFill>
              <a:srgbClr val="00D89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1C152-4B02-4965-AC5E-5F443977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90975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D8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D89A"/>
                </a:solidFill>
                <a:latin typeface="Arial"/>
                <a:ea typeface="Arial"/>
                <a:cs typeface="Arial"/>
              </a:rPr>
              <a:t>点状运动：多帧拟合方向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7b3f88c9043b6"/>
          <a:stretch xmlns:a="http://schemas.openxmlformats.org/drawingml/2006/main"/>
        </p:blipFill>
        <p:spPr>
          <a:xfrm xmlns:a="http://schemas.openxmlformats.org/drawingml/2006/main">
            <a:off x="6496050" y="4645083"/>
            <a:ext cx="2238375" cy="834909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57DE01-FE40-455B-8755-8644A815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38650"/>
            <a:ext cx="23812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黄色折线：点状目标的多帧位置拟合</a:t>
            </a:r>
          </a:p>
          <a:p xmlns:a="http://schemas.openxmlformats.org/drawingml/2006/main">
            <a:pPr>
              <a:defRPr sz="1125">
                <a:solidFill>
                  <a:srgbClr val="E7EDF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7EDF5"/>
                </a:solidFill>
                <a:latin typeface="Arial"/>
                <a:ea typeface="Arial"/>
                <a:cs typeface="Arial"/>
              </a:rPr>
              <a:t>输出：位移、图像平面方向和速度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090F52-704F-495E-9F3F-E7F9A929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680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11B2A"/>
          </a:solidFill>
          <a:ln xmlns:a="http://schemas.openxmlformats.org/drawingml/2006/main" w="9525">
            <a:solidFill>
              <a:srgbClr val="26374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A25F12-135C-49F8-AA3D-2C939C02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579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7E1ED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D7E1ED"/>
                </a:solidFill>
                <a:latin typeface="Arial"/>
                <a:ea typeface="Arial"/>
                <a:cs typeface="Arial"/>
              </a:rPr>
              <a:t>图例总规则：青色=点源候选；橙色=单帧线状候选；粉色=多帧关联轨迹；黄色=点状运动拟合。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7FA490-6314-4193-A6D1-83E83F8C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842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38096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738096"/>
                </a:solidFill>
                <a:latin typeface="Arial"/>
                <a:ea typeface="Arial"/>
                <a:cs typeface="Arial"/>
              </a:rPr>
              <a:t>15/19</a:t>
            </a:r>
          </a:p>
        </p:txBody>
      </p:sp>
    </p:spTree>
    <p:extLst>
      <p:ext uri="{BB962C8B-B14F-4D97-AF65-F5344CB8AC3E}">
        <p14:creationId xmlns:p14="http://schemas.microsoft.com/office/powerpoint/2010/main" val="9491509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BE66D1C-BFC4-407E-83C2-F9D51114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15CEE03-B139-4209-84C9-486195DB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267AE54-4E7B-4C9F-8DDB-F853813D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B6B0411-7ED9-4F83-8E3D-5D232AF9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关键消融实验与核心发现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D91B482-B43C-4DB6-BDCE-D53C5EB9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772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基础赛项 · 创新性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3938B6-B708-46A4-BEAD-36E49959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50CA9E1-28E7-46C5-84FC-BD389DB6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566160" cy="25603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47F9268-BE32-4B70-AC86-746E41CE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提案模式消融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D33E7B8-36FB-4E22-A029-7A6DE035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3200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不同提案方式的比较重点不是“谁找得更多”，而是：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宽筛是否保留弱源和异常形态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细筛是否能排除噪声、负值编码和伪峰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近邻源是否需要双源模型复核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结论按每帧独立统计，不能把 15 帧星点数量简单相加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能被发现 ≠ 已确认是独立恒星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73053C6-8A31-45B3-A415-64BA7801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71600"/>
            <a:ext cx="3566160" cy="25603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C982121-A80C-49BD-B2C7-B7CEABC9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min_distance 消融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1A85228-9A9F-4421-856B-73B7A5BF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3200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4px: 主+副峰均保留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5px: 仍均保留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6px: 才只剩主峰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8px: 更强抑制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→ NMS 参数不是物理分辨率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→ 调大只改变候选账本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CC5B481-BA09-410E-9D99-A3F524C3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371600"/>
            <a:ext cx="3566160" cy="25603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2098F55-6F1E-4DDB-874C-1EB3FE8C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跨帧持续性分析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0F5B877-0679-4311-90D3-994FD573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20240"/>
            <a:ext cx="3200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多帧结果可以直接讨论运动证据：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是否连续出现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是否相对稳定星场发生位移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是否能拟合图像平面方向和速度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但“持续出现”仍不等于恒星身份；身份确认需要星表、WCS 或轨道数据支持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E707FCF-64E9-4EF4-A849-E7C9A86F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核心发现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847E179-AD83-4AEB-A536-14FAFD5B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DD2AE23-EC1C-485D-9939-7D3F37E6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09160"/>
            <a:ext cx="274320" cy="228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E1B89B8-7E47-429C-BFEE-6B09C4CC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09160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1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F022A00-F2F7-4BDD-B656-45BC7A77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709160"/>
            <a:ext cx="10607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源级 SNR 只表示当前噪声模型下的显著性，不能替代 PSF / 数据范围 / 跨帧 / 星表证据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D998D83-E59B-4120-B8C5-4B85B7B8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83480"/>
            <a:ext cx="274320" cy="228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E5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8A37F3D-0833-48D3-879C-AA92EFAD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83480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2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CDA0535-9C7D-417F-A428-B60D22E7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83480"/>
            <a:ext cx="10607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固定异常像素应进入序列级审计，不能盲目屏蔽所有负值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0268CB1B-F3AF-42A1-B9C9-E43DD81A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274320" cy="228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7B6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DFC1022-73EA-4044-B71E-E5601E16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3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DE0BB864-C681-4990-B459-C6FE97A0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257800"/>
            <a:ext cx="10607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真实背景分层注入显示：边缘、拥挤和特殊值域以不同方式损失质量层回收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C6ED14AC-F3B8-493C-9228-BEB64767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274320" cy="228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F206391-9339-437A-8634-ECD0B771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4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EE352464-9AF4-4DE9-9FCA-906C7FE2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532120"/>
            <a:ext cx="10607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"亮"、"重复出现"、"符合二维点扩散函数" 是三条不同证据，不能相互替代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72CD84BD-6286-4910-894B-4CB43E01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274320" cy="228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E90CD462-D3CB-4D09-AB65-C633714A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5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CB1C28E-8A5E-4A0F-B450-96893969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806440"/>
            <a:ext cx="10607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高 SNR 不能替代线状结构审计；持续出现不能替代点源形状和值域证据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9B2536EF-43F0-441A-93BA-9C50D450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80760"/>
            <a:ext cx="274320" cy="228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E5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1389701D-469A-472F-9137-E3DEA47D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80760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6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C81956A6-414E-4E8A-91FB-2BD7BFB0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080760"/>
            <a:ext cx="10607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局部模板可得率和留出残差比 '相关度变好' 更能揭示当前限制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F66C3EFB-4AB6-4471-B66E-964D8096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274320" cy="228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7B6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FB49F124-C80B-4678-9D0C-F62E74F4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7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28FBE6C8-5DAF-4000-A941-02580FA7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355080"/>
            <a:ext cx="10607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拥挤源的主要瓶颈是混合/去混叠，不是简单的距离阈值问题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8FCBE446-29C9-4D75-9CD3-2CFA63A2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16/19</a:t>
            </a:r>
          </a:p>
        </p:txBody>
      </p:sp>
    </p:spTree>
    <p:extLst>
      <p:ext uri="{BB962C8B-B14F-4D97-AF65-F5344CB8AC3E}">
        <p14:creationId xmlns:p14="http://schemas.microsoft.com/office/powerpoint/2010/main" val="13431678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393C6D-6C81-40F3-B679-2CED7C52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72CCF66-B612-4BCF-8D0F-F93695A8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15FD92C-CA03-4886-88F9-B631D7DD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11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EBE956A-F72B-457C-81B6-5A01D986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工程实现与性能优化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A11E088-2410-4108-8206-B74FD6C0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772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创新赛项 · 实用性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C4E3719-1988-474B-93AA-AF078622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43CC501-CA97-4437-8C59-9D535A3C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566160" cy="5029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B66FC52-0191-4644-9121-E6E4B004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技术栈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8BBE51C-E6A5-4286-9D70-3A16F431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32004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不同提案方式的比较重点不是“谁找得更多”，而是：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• 宽筛是否保留弱源和异常形态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• 细筛是否能排除噪声、负值编码和伪峰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• 近邻源是否需要双源模型复核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• 结论按每帧独立统计，不能把 15 帧星点数量简单相加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能被发现 ≠ 已确认是独立恒星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AD651BA-0D32-4D6B-937F-110E0E93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71600"/>
            <a:ext cx="3566160" cy="5029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F5AD99-B81A-4AD2-90C5-83D8ABD5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性能优化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24BFC53-1C0A-4B6A-B16F-59350566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32004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序列快速路径：float32 中间阵列，减少内存带宽压力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15 帧可并行处理，worker 数量可调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当前本机同一组 15 帧测试：108s → 67s → 57s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上述时间用于比较优化前后，不代表精度指标；机器、缓存和参数需保持一致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配准使用有限工作集提速，但逐帧结果仍单独保存并审计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E8D42EC-06B2-44D0-8292-2926440F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371600"/>
            <a:ext cx="3566160" cy="5029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5A58879-E3CE-48A8-9E44-177770E2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4630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缓存、进度与质量保证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5D65D0A-AC2A-4FB8-A1D4-70B76D7A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20240"/>
            <a:ext cx="32004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代际标记 + 写入锁：任务运行中清理也不会由旧任务重新生成已清除缓存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单图/序列缓存版本递增，旧结果不会冒充新口径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确定性进度条：底部状态栏 + 参数区进度条 + 右侧证据卡，三处同步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帧令牌校验：切帧后丢弃旧任务事件，避免覆盖当前状态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所有后台进度通过 Tk 主线程队列回填，避免线程安全问题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预检机制：长线预检先于全量星点精测，明显长轨迹立即可见</a:t>
            </a:r>
          </a:p>
          <a:p xmlns:a="http://schemas.openxmlformats.org/drawingml/2006/main"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▸ 缓存清理使用代际标记，不会误删正在使用的数据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FA37111-B03A-425D-BB2C-4EEA14EE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17/19</a:t>
            </a:r>
          </a:p>
        </p:txBody>
      </p:sp>
    </p:spTree>
    <p:extLst>
      <p:ext uri="{BB962C8B-B14F-4D97-AF65-F5344CB8AC3E}">
        <p14:creationId xmlns:p14="http://schemas.microsoft.com/office/powerpoint/2010/main" val="18192588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87EDFE5-8BA7-410A-B23F-3DF1B487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EFE7F961-08BD-4552-83DE-1D8A1A9B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0292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DDFDC5C-2AF9-489C-AE0A-B7992273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D1117"/>
                </a:solidFill>
                <a:latin typeface="微软雅黑"/>
                <a:ea typeface="微软雅黑"/>
                <a:cs typeface="微软雅黑"/>
              </a:defRPr>
            </a:pPr>
            <a:r>
              <a:t>12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C1B3EE5-E795-4D6F-867C-E0D3C6FD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747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总结与核心贡献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080FABE-46F9-4A74-8590-538F8F82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F63B421-D097-4BCF-8554-95B4C6BB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566160" cy="21031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60B65F-7D96-4AA2-AD23-C5D80E58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🏗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8E48460-2DB1-4C45-9825-90321C43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554480"/>
            <a:ext cx="2651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完整的三阶段流水线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94A2524-9A02-48C3-AB2A-E5EE3C56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3200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宽筛—细筛—时序确认</a:t>
            </a:r>
            <a:br/>
            <a:r>
              <a:t>每层独立证据，不相互替代</a:t>
            </a:r>
            <a:br/>
            <a:r>
              <a:t>候选 ≠ 真值，分层输出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D8B413C-703C-4808-8D16-ACCF10E0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71600"/>
            <a:ext cx="3566160" cy="21031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C0EF36B-B32D-462D-A00F-C00D952C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508760"/>
            <a:ext cx="457200" cy="9531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latin typeface="方正仿宋_GBK"/>
                <a:ea typeface="方正仿宋_GBK"/>
                <a:cs typeface="方正仿宋_GBK"/>
              </a:rPr>
              <a:t>🔍</a:t>
            </a:r>
            <a:endParaRPr>
              <a:latin typeface="方正仿宋_GBK"/>
              <a:ea typeface="方正仿宋_GBK"/>
              <a:cs typeface="方正仿宋_GBK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88B144C-7305-460E-911E-64048F75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554480"/>
            <a:ext cx="2651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多尺度候选提案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56F70CA-2505-48FA-8990-3D9A2E6B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11680"/>
            <a:ext cx="3200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Gaussian + DoG hybrid 并集</a:t>
            </a:r>
            <a:br/>
            <a:r>
              <a:t>覆盖不同空间尺度</a:t>
            </a:r>
            <a:br/>
            <a:r>
              <a:t>文献支撑的稳健方法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F078C31-0A46-43DA-8D92-5984575A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371600"/>
            <a:ext cx="3566160" cy="21031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7B6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91D9CC2-2DCE-4C0D-933B-50EA1C81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508760"/>
            <a:ext cx="457200" cy="6922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代际标记 + 写入锁：运行中清理不会被旧任务重新生成</a:t>
            </a:r>
          </a:p>
          <a:p xmlns:a="http://schemas.openxmlformats.org/drawingml/2006/main">
            <a:pPr algn="ctr">
              <a:buNone/>
              <a:defRPr sz="28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单图/序列缓存版本递增，旧结果不会冒充新口径</a:t>
            </a:r>
          </a:p>
          <a:p xmlns:a="http://schemas.openxmlformats.org/drawingml/2006/main">
            <a:pPr algn="ctr">
              <a:buNone/>
              <a:defRPr sz="28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确定性进度条：状态栏、参数区和证据卡三处同步</a:t>
            </a:r>
          </a:p>
          <a:p xmlns:a="http://schemas.openxmlformats.org/drawingml/2006/main">
            <a:pPr algn="ctr">
              <a:buNone/>
              <a:defRPr sz="28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帧令牌校验：切帧后丢弃旧任务事件，避免覆盖当前状态</a:t>
            </a:r>
          </a:p>
          <a:p xmlns:a="http://schemas.openxmlformats.org/drawingml/2006/main">
            <a:pPr algn="ctr">
              <a:buNone/>
              <a:defRPr sz="28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后台进度统一回到 Tk 主线程，避免线程安全问题</a:t>
            </a:r>
          </a:p>
          <a:p xmlns:a="http://schemas.openxmlformats.org/drawingml/2006/main">
            <a:pPr algn="ctr">
              <a:buNone/>
              <a:defRPr sz="28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长线预检先于全量星点精测，明显长轨迹可以提前看到</a:t>
            </a:r>
          </a:p>
          <a:p xmlns:a="http://schemas.openxmlformats.org/drawingml/2006/main">
            <a:pPr algn="ctr">
              <a:buNone/>
              <a:defRPr sz="28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缓存清理使用代际标记，不误删正在使用的数据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FC2F276-2303-46F7-ACF8-F093564C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554480"/>
            <a:ext cx="2651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B61FF"/>
                </a:solidFill>
                <a:latin typeface="微软雅黑"/>
                <a:ea typeface="微软雅黑"/>
                <a:cs typeface="微软雅黑"/>
              </a:defRPr>
            </a:pPr>
            <a:r>
              <a:t>严格的点源质量体系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9CF2EB3-FCA0-4C18-88DD-A53FF832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011680"/>
            <a:ext cx="3200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三种 SNR 分离测量</a:t>
            </a:r>
            <a:br/>
            <a:r>
              <a:t>PSF/BIC 近邻去混叠</a:t>
            </a:r>
            <a:br/>
            <a:r>
              <a:t>多维门控 + 数据有效性审计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F7FC918-56BC-49F8-BAA2-BD6905DF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49040"/>
            <a:ext cx="3566160" cy="21031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FF9F1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4A5F43A-723C-408A-8A2C-392C820A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86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⏱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8BF115B-C02F-435A-AE94-499A60B5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931920"/>
            <a:ext cx="2651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9F1C"/>
                </a:solidFill>
                <a:latin typeface="微软雅黑"/>
                <a:ea typeface="微软雅黑"/>
                <a:cs typeface="微软雅黑"/>
              </a:defRPr>
            </a:pPr>
            <a:r>
              <a:t>15帧时序确认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A31A18C-E926-44BB-A9B0-44944C27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89120"/>
            <a:ext cx="3200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Hungarian 全局一对一关联</a:t>
            </a:r>
            <a:br/>
            <a:r>
              <a:t>静态/瞬态/运动三层分离</a:t>
            </a:r>
            <a:br/>
            <a:r>
              <a:t>速度不确定度量化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237F8DD1-5AC2-4636-9AD9-E2838674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49040"/>
            <a:ext cx="3566160" cy="21031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413732F-25F8-4059-B109-3370A8D2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886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📊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7BBFE54-61DB-476B-86F9-3661BC83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931920"/>
            <a:ext cx="2651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多维创新分析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6F72F8A-ACBD-4130-BE22-02F4EF44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389120"/>
            <a:ext cx="3200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4个以上创新有效分析数据</a:t>
            </a:r>
            <a:br/>
            <a:r>
              <a:t>可探测性/光度/持久性/遥测</a:t>
            </a:r>
            <a:br/>
            <a:r>
              <a:t>全部标注条件性边界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6C8CF3E0-C040-4192-B9C5-2A4B7708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49040"/>
            <a:ext cx="3566160" cy="21031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19050">
            <a:solidFill>
              <a:srgbClr val="00E5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8003B875-6BD8-42E2-A8DC-D03E3B35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886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00" b="0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🔬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05BFBD6-EAF9-481C-8934-329F7F21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931920"/>
            <a:ext cx="2651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E5A0"/>
                </a:solidFill>
                <a:latin typeface="微软雅黑"/>
                <a:ea typeface="微软雅黑"/>
                <a:cs typeface="微软雅黑"/>
              </a:defRPr>
            </a:pPr>
            <a:r>
              <a:t>可复核的证据链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7A5F75C-2D79-4D91-92E4-2FBE01D4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89120"/>
            <a:ext cx="3200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纯 Python 可离线运行</a:t>
            </a:r>
            <a:br/>
            <a:r>
              <a:t>每一步都有审计轨迹</a:t>
            </a:r>
            <a:br/>
            <a:r>
              <a:t>10+ 研究工具命令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11045DAE-8D6A-4FFA-AC9C-C57ED889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26480"/>
            <a:ext cx="11064240" cy="5029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A2A1A"/>
          </a:solidFill>
          <a:ln xmlns:a="http://schemas.openxmlformats.org/drawingml/2006/main" w="19050">
            <a:solidFill>
              <a:srgbClr val="00B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786E7BAF-F488-4D15-AED1-390183AD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199632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评分对标：基础 60 分全覆盖 + 创新 30 分 4 项以上 + PPT 5 分架构清晰 + 答辩 5 分充分准备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98C226BF-720B-46CC-8F7F-48DB4A5E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18/19</a:t>
            </a:r>
          </a:p>
        </p:txBody>
      </p:sp>
    </p:spTree>
    <p:extLst>
      <p:ext uri="{BB962C8B-B14F-4D97-AF65-F5344CB8AC3E}">
        <p14:creationId xmlns:p14="http://schemas.microsoft.com/office/powerpoint/2010/main" val="17592331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C60BD0-7BA6-4CEA-AF1F-D651F406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185E9BA-D6FE-4EDE-A3BB-A54ECB9E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86000"/>
            <a:ext cx="21031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51CCA17-5BEF-48DA-8112-3F200F0F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0"/>
            <a:ext cx="12191695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400" b="1">
                <a:solidFill>
                  <a:srgbClr val="E8ECF1"/>
                </a:solidFill>
                <a:latin typeface="微软雅黑"/>
                <a:ea typeface="微软雅黑"/>
                <a:cs typeface="微软雅黑"/>
              </a:defRPr>
            </a:pPr>
            <a:r>
              <a:t>感谢评审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3C51E36-B77B-4582-A718-8FE054D5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8328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0">
                <a:solidFill>
                  <a:srgbClr val="8B95A5"/>
                </a:solidFill>
                <a:latin typeface="微软雅黑"/>
                <a:ea typeface="微软雅黑"/>
                <a:cs typeface="微软雅黑"/>
              </a:defRPr>
            </a:pPr>
            <a:r>
              <a:t>基于局部噪声与 PSF 证据链的天基星图识别与多帧目标分析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FCD0854-7E55-41CA-8974-9F133C4C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23360"/>
            <a:ext cx="301752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522BAB0-1714-48D4-B1BA-D6CCD316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97680"/>
            <a:ext cx="121916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项目仓库：rst19-sol (GitHub)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A523CDA-A3C8-4EE9-B8DE-C15017BE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3440"/>
            <a:ext cx="121916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数据来源：开运一号卫星 · 15帧 4096×4096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3418FF3-5619-43F6-999E-E34E345F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16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纯 Python · 可离线复核 · 完整证据链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B48FE98-A69B-483E-AE0E-5BCCA443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16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00" b="1">
                <a:solidFill>
                  <a:srgbClr val="00B4D8"/>
                </a:solidFill>
                <a:latin typeface="微软雅黑"/>
                <a:ea typeface="微软雅黑"/>
                <a:cs typeface="微软雅黑"/>
              </a:defRPr>
            </a:pPr>
            <a:r>
              <a:t>Q &amp; 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E56CFE4-0F6C-4A24-A44A-E317051C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465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5A6372"/>
                </a:solidFill>
                <a:latin typeface="微软雅黑"/>
                <a:ea typeface="微软雅黑"/>
                <a:cs typeface="微软雅黑"/>
              </a:defRPr>
            </a:pPr>
            <a:r>
              <a:t>19/19</a:t>
            </a:r>
          </a:p>
        </p:txBody>
      </p:sp>
    </p:spTree>
    <p:extLst>
      <p:ext uri="{BB962C8B-B14F-4D97-AF65-F5344CB8AC3E}">
        <p14:creationId xmlns:p14="http://schemas.microsoft.com/office/powerpoint/2010/main" val="141254032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2026-09-16T19:08:37.4590000Z</dcterms:created>
  <dcterms:modified xsi:type="dcterms:W3CDTF">2026-09-16T19:08:37.4590000Z</dcterms:modified>
</coreProperties>
</file>